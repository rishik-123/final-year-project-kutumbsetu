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9" r:id="rId5"/>
    <p:sldId id="259" r:id="rId6"/>
    <p:sldId id="260" r:id="rId7"/>
    <p:sldId id="261" r:id="rId8"/>
    <p:sldId id="262" r:id="rId9"/>
    <p:sldId id="263" r:id="rId10"/>
    <p:sldId id="264" r:id="rId11"/>
    <p:sldId id="270" r:id="rId12"/>
    <p:sldId id="265" r:id="rId13"/>
    <p:sldId id="266" r:id="rId14"/>
    <p:sldId id="267" r:id="rId15"/>
    <p:sldId id="268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E4111EE1-3C30-0A8A-52B7-CB019483E196}">
          <p14:sldIdLst>
            <p14:sldId id="256"/>
            <p14:sldId id="257"/>
          </p14:sldIdLst>
        </p14:section>
        <p14:section name="Problem &amp; Solution" id="{1C4C6767-0936-6262-31A1-CB6178F9BD8F}">
          <p14:sldIdLst>
            <p14:sldId id="258"/>
            <p14:sldId id="269"/>
            <p14:sldId id="259"/>
            <p14:sldId id="260"/>
          </p14:sldIdLst>
        </p14:section>
        <p14:section name="Build" id="{D2B04F4F-AB24-334C-A429-DADE3828EF91}">
          <p14:sldIdLst>
            <p14:sldId id="261"/>
            <p14:sldId id="262"/>
            <p14:sldId id="263"/>
            <p14:sldId id="264"/>
            <p14:sldId id="270"/>
          </p14:sldIdLst>
        </p14:section>
        <p14:section name="Wrap-up" id="{BFFDE966-1D3B-7D81-4EEB-88D5EC123A37}">
          <p14:sldIdLst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8604" autoAdjust="0"/>
  </p:normalViewPr>
  <p:slideViewPr>
    <p:cSldViewPr snapToGrid="0" snapToObjects="1">
      <p:cViewPr varScale="1">
        <p:scale>
          <a:sx n="56" d="100"/>
          <a:sy n="56" d="100"/>
        </p:scale>
        <p:origin x="10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789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project, team, guide and college. KutumbSetu means 'family bridge'.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KutumbSetu  |  Final Year Project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3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chemeClr val="accent1"/>
                </a:solidFill>
              </a:rPr>
              <a:t>FINAL YEAR PROJECT</a:t>
            </a:r>
            <a:endParaRPr lang="en-US" sz="140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10972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KutumbSetu</a:t>
            </a:r>
            <a:endParaRPr lang="en-US" sz="6000" dirty="0"/>
          </a:p>
        </p:txBody>
      </p:sp>
      <p:sp>
        <p:nvSpPr>
          <p:cNvPr id="4" name="Title Devanagari"/>
          <p:cNvSpPr txBox="1"/>
          <p:nvPr/>
        </p:nvSpPr>
        <p:spPr>
          <a:xfrm>
            <a:off x="640080" y="20116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chemeClr val="accent1"/>
                </a:solidFill>
              </a:rPr>
              <a:t>(कुटुम्बसेतु)</a:t>
            </a:r>
            <a:endParaRPr lang="en-US" sz="2800" dirty="0"/>
          </a:p>
        </p:txBody>
      </p:sp>
      <p:sp>
        <p:nvSpPr>
          <p:cNvPr id="5" name="Subtitle"/>
          <p:cNvSpPr txBox="1"/>
          <p:nvPr/>
        </p:nvSpPr>
        <p:spPr>
          <a:xfrm>
            <a:off x="640080" y="2606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A Smart Community Management System</a:t>
            </a:r>
            <a:endParaRPr lang="en-US" sz="2400" dirty="0"/>
          </a:p>
        </p:txBody>
      </p:sp>
      <p:sp>
        <p:nvSpPr>
          <p:cNvPr id="6" name="Info label"/>
          <p:cNvSpPr txBox="1"/>
          <p:nvPr/>
        </p:nvSpPr>
        <p:spPr>
          <a:xfrm>
            <a:off x="640080" y="3611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TEAM  (GROUP 10)</a:t>
            </a:r>
            <a:endParaRPr lang="en-US" sz="1100" dirty="0"/>
          </a:p>
        </p:txBody>
      </p:sp>
      <p:sp>
        <p:nvSpPr>
          <p:cNvPr id="7" name="Info value"/>
          <p:cNvSpPr txBox="1"/>
          <p:nvPr/>
        </p:nvSpPr>
        <p:spPr>
          <a:xfrm>
            <a:off x="640080" y="38404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Rishik Jariwala  |  Nirmay Patel  |  Rishi Soni</a:t>
            </a:r>
            <a:endParaRPr lang="en-US" sz="1600" dirty="0"/>
          </a:p>
        </p:txBody>
      </p:sp>
      <p:sp>
        <p:nvSpPr>
          <p:cNvPr id="8" name="Info label"/>
          <p:cNvSpPr txBox="1"/>
          <p:nvPr/>
        </p:nvSpPr>
        <p:spPr>
          <a:xfrm>
            <a:off x="640080" y="4251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PROJECT GUIDE</a:t>
            </a:r>
            <a:endParaRPr lang="en-US" sz="1100" dirty="0"/>
          </a:p>
        </p:txBody>
      </p:sp>
      <p:sp>
        <p:nvSpPr>
          <p:cNvPr id="9" name="Info value"/>
          <p:cNvSpPr txBox="1"/>
          <p:nvPr/>
        </p:nvSpPr>
        <p:spPr>
          <a:xfrm>
            <a:off x="640080" y="44805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Mr. Pankaj D. Rathod</a:t>
            </a:r>
            <a:endParaRPr lang="en-US" sz="1600" dirty="0"/>
          </a:p>
        </p:txBody>
      </p:sp>
      <p:sp>
        <p:nvSpPr>
          <p:cNvPr id="10" name="Info label"/>
          <p:cNvSpPr txBox="1"/>
          <p:nvPr/>
        </p:nvSpPr>
        <p:spPr>
          <a:xfrm>
            <a:off x="640080" y="4892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COLLEGE</a:t>
            </a:r>
            <a:endParaRPr lang="en-US" sz="1100" dirty="0"/>
          </a:p>
        </p:txBody>
      </p:sp>
      <p:sp>
        <p:nvSpPr>
          <p:cNvPr id="11" name="Info value"/>
          <p:cNvSpPr txBox="1"/>
          <p:nvPr/>
        </p:nvSpPr>
        <p:spPr>
          <a:xfrm>
            <a:off x="640080" y="5120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SVKM's Shri Bhagubhai Mafatlal Polytechnic</a:t>
            </a:r>
            <a:endParaRPr lang="en-US" sz="1600" dirty="0"/>
          </a:p>
        </p:txBody>
      </p:sp>
      <p:sp>
        <p:nvSpPr>
          <p:cNvPr id="12" name="Info label"/>
          <p:cNvSpPr txBox="1"/>
          <p:nvPr/>
        </p:nvSpPr>
        <p:spPr>
          <a:xfrm>
            <a:off x="640080" y="55321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ACADEMIC YEAR</a:t>
            </a:r>
            <a:endParaRPr lang="en-US" sz="1100" dirty="0"/>
          </a:p>
        </p:txBody>
      </p:sp>
      <p:sp>
        <p:nvSpPr>
          <p:cNvPr id="13" name="Info value"/>
          <p:cNvSpPr txBox="1"/>
          <p:nvPr/>
        </p:nvSpPr>
        <p:spPr>
          <a:xfrm>
            <a:off x="640080" y="5760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2026 – 27</a:t>
            </a:r>
            <a:endParaRPr lang="en-US" sz="1600" dirty="0"/>
          </a:p>
        </p:txBody>
      </p:sp>
      <p:pic>
        <p:nvPicPr>
          <p:cNvPr id="14" name="Project logo" descr="KutumbSetu project logo: a heart formed by a fami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005840"/>
            <a:ext cx="4297680" cy="4297680"/>
          </a:xfrm>
          <a:prstGeom prst="rect">
            <a:avLst/>
          </a:prstGeom>
        </p:spPr>
      </p:pic>
      <p:sp>
        <p:nvSpPr>
          <p:cNvPr id="15" name="Logo caption"/>
          <p:cNvSpPr txBox="1"/>
          <p:nvPr/>
        </p:nvSpPr>
        <p:spPr>
          <a:xfrm>
            <a:off x="7406640" y="55321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સમસ્ત દરજી સમાજ બાબરિયાવાડ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02  |  OUTLINE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Flow of the Presentation</a:t>
            </a:r>
            <a:endParaRPr lang="en-US" sz="3400" dirty="0"/>
          </a:p>
        </p:txBody>
      </p:sp>
      <p:sp>
        <p:nvSpPr>
          <p:cNvPr id="4" name="Agenda card 1"/>
          <p:cNvSpPr/>
          <p:nvPr/>
        </p:nvSpPr>
        <p:spPr>
          <a:xfrm>
            <a:off x="548640" y="1645920"/>
            <a:ext cx="352044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Agenda number 1"/>
          <p:cNvSpPr txBox="1"/>
          <p:nvPr/>
        </p:nvSpPr>
        <p:spPr>
          <a:xfrm>
            <a:off x="777240" y="1645920"/>
            <a:ext cx="822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Agenda label 1"/>
          <p:cNvSpPr txBox="1"/>
          <p:nvPr/>
        </p:nvSpPr>
        <p:spPr>
          <a:xfrm>
            <a:off x="1600200" y="164592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Existing System &amp; </a:t>
            </a:r>
            <a:r>
              <a:rPr lang="en-US" sz="1800" b="1" dirty="0" err="1">
                <a:solidFill>
                  <a:schemeClr val="tx2"/>
                </a:solidFill>
              </a:rPr>
              <a:t>Motivation&amp;Reviews</a:t>
            </a:r>
            <a:r>
              <a:rPr lang="en-US" sz="1800" b="1" dirty="0">
                <a:solidFill>
                  <a:schemeClr val="tx2"/>
                </a:solidFill>
              </a:rPr>
              <a:t> of </a:t>
            </a:r>
            <a:r>
              <a:rPr lang="en-US" sz="1800" b="1" dirty="0" err="1">
                <a:solidFill>
                  <a:schemeClr val="tx2"/>
                </a:solidFill>
              </a:rPr>
              <a:t>Commutree</a:t>
            </a:r>
            <a:endParaRPr lang="en-US" sz="1800" dirty="0"/>
          </a:p>
        </p:txBody>
      </p:sp>
      <p:sp>
        <p:nvSpPr>
          <p:cNvPr id="7" name="Agenda card 2"/>
          <p:cNvSpPr/>
          <p:nvPr/>
        </p:nvSpPr>
        <p:spPr>
          <a:xfrm>
            <a:off x="4334256" y="1645920"/>
            <a:ext cx="352044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Agenda number 2"/>
          <p:cNvSpPr txBox="1"/>
          <p:nvPr/>
        </p:nvSpPr>
        <p:spPr>
          <a:xfrm>
            <a:off x="4562856" y="1645920"/>
            <a:ext cx="822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200" dirty="0"/>
          </a:p>
        </p:txBody>
      </p:sp>
      <p:sp>
        <p:nvSpPr>
          <p:cNvPr id="9" name="Agenda label 2"/>
          <p:cNvSpPr txBox="1"/>
          <p:nvPr/>
        </p:nvSpPr>
        <p:spPr>
          <a:xfrm>
            <a:off x="5385816" y="164592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Proposed System</a:t>
            </a:r>
            <a:endParaRPr lang="en-US" sz="1800" dirty="0"/>
          </a:p>
        </p:txBody>
      </p:sp>
      <p:sp>
        <p:nvSpPr>
          <p:cNvPr id="10" name="Agenda card 3"/>
          <p:cNvSpPr/>
          <p:nvPr/>
        </p:nvSpPr>
        <p:spPr>
          <a:xfrm>
            <a:off x="8119872" y="1645920"/>
            <a:ext cx="352044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Agenda number 3"/>
          <p:cNvSpPr txBox="1"/>
          <p:nvPr/>
        </p:nvSpPr>
        <p:spPr>
          <a:xfrm>
            <a:off x="8348472" y="1645920"/>
            <a:ext cx="822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200" dirty="0"/>
          </a:p>
        </p:txBody>
      </p:sp>
      <p:sp>
        <p:nvSpPr>
          <p:cNvPr id="12" name="Agenda label 3"/>
          <p:cNvSpPr txBox="1"/>
          <p:nvPr/>
        </p:nvSpPr>
        <p:spPr>
          <a:xfrm>
            <a:off x="9171432" y="164592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System Architecture</a:t>
            </a:r>
            <a:endParaRPr lang="en-US" sz="1800" dirty="0"/>
          </a:p>
        </p:txBody>
      </p:sp>
      <p:sp>
        <p:nvSpPr>
          <p:cNvPr id="13" name="Agenda card 4"/>
          <p:cNvSpPr/>
          <p:nvPr/>
        </p:nvSpPr>
        <p:spPr>
          <a:xfrm>
            <a:off x="548640" y="3154680"/>
            <a:ext cx="352044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Agenda number 4"/>
          <p:cNvSpPr txBox="1"/>
          <p:nvPr/>
        </p:nvSpPr>
        <p:spPr>
          <a:xfrm>
            <a:off x="777240" y="3154680"/>
            <a:ext cx="822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200" dirty="0"/>
          </a:p>
        </p:txBody>
      </p:sp>
      <p:sp>
        <p:nvSpPr>
          <p:cNvPr id="15" name="Agenda label 4"/>
          <p:cNvSpPr txBox="1"/>
          <p:nvPr/>
        </p:nvSpPr>
        <p:spPr>
          <a:xfrm>
            <a:off x="1600200" y="315468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Tech Stack</a:t>
            </a:r>
            <a:endParaRPr lang="en-US" sz="1800" dirty="0"/>
          </a:p>
        </p:txBody>
      </p:sp>
      <p:sp>
        <p:nvSpPr>
          <p:cNvPr id="16" name="Agenda card 5"/>
          <p:cNvSpPr/>
          <p:nvPr/>
        </p:nvSpPr>
        <p:spPr>
          <a:xfrm>
            <a:off x="4334256" y="3154680"/>
            <a:ext cx="352044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Agenda number 5"/>
          <p:cNvSpPr txBox="1"/>
          <p:nvPr/>
        </p:nvSpPr>
        <p:spPr>
          <a:xfrm>
            <a:off x="4562856" y="3154680"/>
            <a:ext cx="822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200" dirty="0"/>
          </a:p>
        </p:txBody>
      </p:sp>
      <p:sp>
        <p:nvSpPr>
          <p:cNvPr id="18" name="Agenda label 5"/>
          <p:cNvSpPr txBox="1"/>
          <p:nvPr/>
        </p:nvSpPr>
        <p:spPr>
          <a:xfrm>
            <a:off x="5385816" y="315468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Implementation Snapshots</a:t>
            </a:r>
            <a:endParaRPr lang="en-US" sz="1800" dirty="0"/>
          </a:p>
        </p:txBody>
      </p:sp>
      <p:sp>
        <p:nvSpPr>
          <p:cNvPr id="19" name="Agenda card 6"/>
          <p:cNvSpPr/>
          <p:nvPr/>
        </p:nvSpPr>
        <p:spPr>
          <a:xfrm>
            <a:off x="8119872" y="3154680"/>
            <a:ext cx="352044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Agenda number 6"/>
          <p:cNvSpPr txBox="1"/>
          <p:nvPr/>
        </p:nvSpPr>
        <p:spPr>
          <a:xfrm>
            <a:off x="8348472" y="3154680"/>
            <a:ext cx="822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200" dirty="0"/>
          </a:p>
        </p:txBody>
      </p:sp>
      <p:sp>
        <p:nvSpPr>
          <p:cNvPr id="21" name="Agenda label 6"/>
          <p:cNvSpPr txBox="1"/>
          <p:nvPr/>
        </p:nvSpPr>
        <p:spPr>
          <a:xfrm>
            <a:off x="9171432" y="315468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Sample Video demonstration along with user flow.</a:t>
            </a:r>
            <a:endParaRPr lang="en-US" sz="1800" dirty="0"/>
          </a:p>
        </p:txBody>
      </p:sp>
      <p:sp>
        <p:nvSpPr>
          <p:cNvPr id="22" name="Agenda card 7"/>
          <p:cNvSpPr/>
          <p:nvPr/>
        </p:nvSpPr>
        <p:spPr>
          <a:xfrm>
            <a:off x="548640" y="4663440"/>
            <a:ext cx="352044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Agenda number 7"/>
          <p:cNvSpPr txBox="1"/>
          <p:nvPr/>
        </p:nvSpPr>
        <p:spPr>
          <a:xfrm>
            <a:off x="777240" y="4663440"/>
            <a:ext cx="822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3200" dirty="0"/>
          </a:p>
        </p:txBody>
      </p:sp>
      <p:sp>
        <p:nvSpPr>
          <p:cNvPr id="24" name="Agenda label 7"/>
          <p:cNvSpPr txBox="1"/>
          <p:nvPr/>
        </p:nvSpPr>
        <p:spPr>
          <a:xfrm>
            <a:off x="1600200" y="466344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Future Scope</a:t>
            </a:r>
            <a:endParaRPr lang="en-US" sz="1800" dirty="0"/>
          </a:p>
        </p:txBody>
      </p:sp>
      <p:sp>
        <p:nvSpPr>
          <p:cNvPr id="25" name="Agenda card 8"/>
          <p:cNvSpPr/>
          <p:nvPr/>
        </p:nvSpPr>
        <p:spPr>
          <a:xfrm>
            <a:off x="4334256" y="4663440"/>
            <a:ext cx="352044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Agenda number 8"/>
          <p:cNvSpPr txBox="1"/>
          <p:nvPr/>
        </p:nvSpPr>
        <p:spPr>
          <a:xfrm>
            <a:off x="4562856" y="4663440"/>
            <a:ext cx="822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3200" dirty="0"/>
          </a:p>
        </p:txBody>
      </p:sp>
      <p:sp>
        <p:nvSpPr>
          <p:cNvPr id="27" name="Agenda label 8"/>
          <p:cNvSpPr txBox="1"/>
          <p:nvPr/>
        </p:nvSpPr>
        <p:spPr>
          <a:xfrm>
            <a:off x="5385816" y="466344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Conclusion</a:t>
            </a:r>
            <a:endParaRPr lang="en-US" sz="1800" dirty="0"/>
          </a:p>
        </p:txBody>
      </p:sp>
      <p:sp>
        <p:nvSpPr>
          <p:cNvPr id="28" name="Agenda card 9"/>
          <p:cNvSpPr/>
          <p:nvPr/>
        </p:nvSpPr>
        <p:spPr>
          <a:xfrm>
            <a:off x="8119872" y="4663440"/>
            <a:ext cx="352044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Agenda number 9"/>
          <p:cNvSpPr txBox="1"/>
          <p:nvPr/>
        </p:nvSpPr>
        <p:spPr>
          <a:xfrm>
            <a:off x="8348472" y="4663440"/>
            <a:ext cx="822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3200" dirty="0"/>
          </a:p>
        </p:txBody>
      </p:sp>
      <p:sp>
        <p:nvSpPr>
          <p:cNvPr id="30" name="Agenda label 9"/>
          <p:cNvSpPr txBox="1"/>
          <p:nvPr/>
        </p:nvSpPr>
        <p:spPr>
          <a:xfrm>
            <a:off x="9171432" y="466344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References and Q&amp;A</a:t>
            </a:r>
            <a:endParaRPr lang="en-US" sz="18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03  |  EXISTING SYSTEM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Existing Solution: CommuTree</a:t>
            </a:r>
            <a:endParaRPr lang="en-US" sz="3400" dirty="0"/>
          </a:p>
        </p:txBody>
      </p:sp>
      <p:sp>
        <p:nvSpPr>
          <p:cNvPr id="4" name="CommuTree card"/>
          <p:cNvSpPr/>
          <p:nvPr/>
        </p:nvSpPr>
        <p:spPr>
          <a:xfrm>
            <a:off x="0" y="1645920"/>
            <a:ext cx="5191760" cy="4160520"/>
          </a:xfrm>
          <a:prstGeom prst="roundRect">
            <a:avLst>
              <a:gd name="adj" fmla="val 26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Icon FaTree" descr="Fa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782" y="2047342"/>
            <a:ext cx="294437" cy="294437"/>
          </a:xfrm>
          <a:prstGeom prst="rect">
            <a:avLst/>
          </a:prstGeom>
        </p:spPr>
      </p:pic>
      <p:sp>
        <p:nvSpPr>
          <p:cNvPr id="7" name="Offers title"/>
          <p:cNvSpPr txBox="1"/>
          <p:nvPr/>
        </p:nvSpPr>
        <p:spPr>
          <a:xfrm>
            <a:off x="1691640" y="18745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What it offers</a:t>
            </a:r>
            <a:endParaRPr lang="en-US" sz="2200" dirty="0"/>
          </a:p>
        </p:txBody>
      </p:sp>
      <p:sp>
        <p:nvSpPr>
          <p:cNvPr id="8" name="Offers points"/>
          <p:cNvSpPr txBox="1"/>
          <p:nvPr/>
        </p:nvSpPr>
        <p:spPr>
          <a:xfrm>
            <a:off x="763274" y="274320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Community family tree builder</a:t>
            </a:r>
            <a:endParaRPr lang="en-US" sz="20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Community news and announcements</a:t>
            </a:r>
            <a:endParaRPr lang="en-US" sz="20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Community matrimony matching</a:t>
            </a:r>
            <a:endParaRPr lang="en-US" sz="20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Private social network and chat</a:t>
            </a:r>
            <a:endParaRPr lang="en-US" sz="20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Android + iOS, 100k+ downloads</a:t>
            </a:r>
            <a:endParaRPr lang="en-US" sz="20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English, Gujarati, Hindi, Marathi</a:t>
            </a:r>
            <a:endParaRPr lang="en-US" sz="2000" dirty="0"/>
          </a:p>
        </p:txBody>
      </p:sp>
      <p:sp>
        <p:nvSpPr>
          <p:cNvPr id="9" name="Limitations card"/>
          <p:cNvSpPr/>
          <p:nvPr/>
        </p:nvSpPr>
        <p:spPr>
          <a:xfrm>
            <a:off x="5420360" y="1635760"/>
            <a:ext cx="5394960" cy="4160520"/>
          </a:xfrm>
          <a:prstGeom prst="roundRect">
            <a:avLst>
              <a:gd name="adj" fmla="val 26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con circle"/>
          <p:cNvSpPr/>
          <p:nvPr/>
        </p:nvSpPr>
        <p:spPr>
          <a:xfrm>
            <a:off x="6519672" y="187452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1" name="Icon FaExclamationTriangle" descr="FaExclamationTriang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2494" y="2047342"/>
            <a:ext cx="294437" cy="294437"/>
          </a:xfrm>
          <a:prstGeom prst="rect">
            <a:avLst/>
          </a:prstGeom>
        </p:spPr>
      </p:pic>
      <p:sp>
        <p:nvSpPr>
          <p:cNvPr id="12" name="Gaps title"/>
          <p:cNvSpPr txBox="1"/>
          <p:nvPr/>
        </p:nvSpPr>
        <p:spPr>
          <a:xfrm>
            <a:off x="7388352" y="18745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Where it falls short</a:t>
            </a:r>
            <a:endParaRPr lang="en-US" sz="2200" dirty="0"/>
          </a:p>
        </p:txBody>
      </p:sp>
      <p:sp>
        <p:nvSpPr>
          <p:cNvPr id="13" name="Gaps points"/>
          <p:cNvSpPr txBox="1"/>
          <p:nvPr/>
        </p:nvSpPr>
        <p:spPr>
          <a:xfrm>
            <a:off x="5534152" y="273304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just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One generic app for dozens of communities</a:t>
            </a:r>
            <a:endParaRPr lang="en-US" sz="2000" dirty="0"/>
          </a:p>
          <a:p>
            <a:pPr marL="228600" indent="-228600" algn="just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Contains in-app advertising</a:t>
            </a:r>
            <a:endParaRPr lang="en-US" sz="2000" dirty="0"/>
          </a:p>
          <a:p>
            <a:pPr marL="228600" indent="-228600" algn="just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Users report crashes and slow registration approval</a:t>
            </a:r>
          </a:p>
          <a:p>
            <a:pPr marL="228600" indent="-228600" algn="just">
              <a:spcAft>
                <a:spcPts val="800"/>
              </a:spcAft>
              <a:buSzPct val="100000"/>
              <a:buChar char="•"/>
            </a:pPr>
            <a:r>
              <a:rPr lang="en-US" b="1" dirty="0"/>
              <a:t>Not up to the mark reviews and frequent app crashes review.</a:t>
            </a:r>
            <a:endParaRPr lang="en-US" sz="2000" dirty="0"/>
          </a:p>
        </p:txBody>
      </p:sp>
      <p:sp>
        <p:nvSpPr>
          <p:cNvPr id="14" name="Source strip"/>
          <p:cNvSpPr/>
          <p:nvPr/>
        </p:nvSpPr>
        <p:spPr>
          <a:xfrm>
            <a:off x="548640" y="5943600"/>
            <a:ext cx="11091672" cy="411480"/>
          </a:xfrm>
          <a:prstGeom prst="roundRect">
            <a:avLst>
              <a:gd name="adj" fmla="val 26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5" name="Source note"/>
          <p:cNvSpPr txBox="1"/>
          <p:nvPr/>
        </p:nvSpPr>
        <p:spPr>
          <a:xfrm>
            <a:off x="548640" y="594360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tx1"/>
                </a:solidFill>
              </a:rPr>
              <a:t>Source: CommuTree App Store and Google Play listings [1]. Gaps are from the listing and user reviews.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253C9-37E8-DE8E-B8A1-E5D1C70248A6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en-US" dirty="0"/>
              <a:t>Reviews and opinions about </a:t>
            </a:r>
            <a:r>
              <a:rPr lang="en-US" dirty="0" err="1"/>
              <a:t>Commutree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B16AFB-CC59-3A2A-2B32-C42DFD142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4949"/>
            <a:ext cx="12179926" cy="5264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668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03  |  PROBLEM AND MOTIVATION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Problem Statement and Motivation</a:t>
            </a:r>
            <a:endParaRPr lang="en-US" sz="3400" dirty="0"/>
          </a:p>
        </p:txBody>
      </p:sp>
      <p:sp>
        <p:nvSpPr>
          <p:cNvPr id="4" name="PM card 1"/>
          <p:cNvSpPr/>
          <p:nvPr/>
        </p:nvSpPr>
        <p:spPr>
          <a:xfrm>
            <a:off x="548640" y="1645920"/>
            <a:ext cx="539496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822960" y="1920240"/>
            <a:ext cx="685800" cy="6858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6" name="Icon FaBullseye" descr="FaBullsey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126" y="2105406"/>
            <a:ext cx="315468" cy="315468"/>
          </a:xfrm>
          <a:prstGeom prst="rect">
            <a:avLst/>
          </a:prstGeom>
        </p:spPr>
      </p:pic>
      <p:sp>
        <p:nvSpPr>
          <p:cNvPr id="7" name="PM title 1"/>
          <p:cNvSpPr txBox="1"/>
          <p:nvPr/>
        </p:nvSpPr>
        <p:spPr>
          <a:xfrm>
            <a:off x="1645920" y="192024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Problem Statement</a:t>
            </a:r>
            <a:endParaRPr lang="en-US" sz="2400" dirty="0"/>
          </a:p>
        </p:txBody>
      </p:sp>
      <p:sp>
        <p:nvSpPr>
          <p:cNvPr id="8" name="PM points 1"/>
          <p:cNvSpPr txBox="1"/>
          <p:nvPr/>
        </p:nvSpPr>
        <p:spPr>
          <a:xfrm>
            <a:off x="868680" y="301752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Updates lost in group-chat noise</a:t>
            </a:r>
            <a:endParaRPr lang="en-US" sz="2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Manual, error-prone event registration</a:t>
            </a:r>
            <a:endParaRPr lang="en-US" sz="2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Outdated member and family records</a:t>
            </a:r>
            <a:endParaRPr lang="en-US" sz="2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No single place for community services</a:t>
            </a:r>
            <a:endParaRPr lang="en-US" sz="2400" dirty="0"/>
          </a:p>
        </p:txBody>
      </p:sp>
      <p:sp>
        <p:nvSpPr>
          <p:cNvPr id="9" name="PM card 2"/>
          <p:cNvSpPr/>
          <p:nvPr/>
        </p:nvSpPr>
        <p:spPr>
          <a:xfrm>
            <a:off x="6245352" y="1645920"/>
            <a:ext cx="539496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con circle"/>
          <p:cNvSpPr/>
          <p:nvPr/>
        </p:nvSpPr>
        <p:spPr>
          <a:xfrm>
            <a:off x="6519672" y="192024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Icon FaHeart" descr="FaHea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4838" y="2105406"/>
            <a:ext cx="315468" cy="315468"/>
          </a:xfrm>
          <a:prstGeom prst="rect">
            <a:avLst/>
          </a:prstGeom>
        </p:spPr>
      </p:pic>
      <p:sp>
        <p:nvSpPr>
          <p:cNvPr id="12" name="PM title 2"/>
          <p:cNvSpPr txBox="1"/>
          <p:nvPr/>
        </p:nvSpPr>
        <p:spPr>
          <a:xfrm>
            <a:off x="7342632" y="192024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Motivation</a:t>
            </a:r>
            <a:endParaRPr lang="en-US" sz="2400" dirty="0"/>
          </a:p>
        </p:txBody>
      </p:sp>
      <p:sp>
        <p:nvSpPr>
          <p:cNvPr id="13" name="PM points 2"/>
          <p:cNvSpPr txBox="1"/>
          <p:nvPr/>
        </p:nvSpPr>
        <p:spPr>
          <a:xfrm>
            <a:off x="6565392" y="301752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Serve 250+ families across villages and cities</a:t>
            </a:r>
            <a:endParaRPr lang="en-US" sz="2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One trusted source of community data</a:t>
            </a:r>
            <a:endParaRPr lang="en-US" sz="2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Secure, simple access on mobile</a:t>
            </a:r>
            <a:endParaRPr lang="en-US" sz="2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A community-owned app with its own admin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04  |  PROPOSED SYSTEM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KutumbSetu: One App for the Community</a:t>
            </a:r>
            <a:endParaRPr lang="en-US" sz="3400" dirty="0"/>
          </a:p>
        </p:txBody>
      </p:sp>
      <p:sp>
        <p:nvSpPr>
          <p:cNvPr id="4" name="Icon circle"/>
          <p:cNvSpPr/>
          <p:nvPr/>
        </p:nvSpPr>
        <p:spPr>
          <a:xfrm>
            <a:off x="548640" y="16916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 FaMobileAlt" descr="FaMobileAl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117" y="1852117"/>
            <a:ext cx="273406" cy="273406"/>
          </a:xfrm>
          <a:prstGeom prst="rect">
            <a:avLst/>
          </a:prstGeom>
        </p:spPr>
      </p:pic>
      <p:sp>
        <p:nvSpPr>
          <p:cNvPr id="6" name="Solution item 1"/>
          <p:cNvSpPr txBox="1"/>
          <p:nvPr/>
        </p:nvSpPr>
        <p:spPr>
          <a:xfrm>
            <a:off x="1371600" y="164592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Unified mobile app</a:t>
            </a:r>
            <a:endParaRPr lang="en-US" sz="19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Tree, directory, events, news</a:t>
            </a:r>
            <a:endParaRPr lang="en-US" sz="1900" dirty="0"/>
          </a:p>
        </p:txBody>
      </p:sp>
      <p:sp>
        <p:nvSpPr>
          <p:cNvPr id="7" name="Icon circle"/>
          <p:cNvSpPr/>
          <p:nvPr/>
        </p:nvSpPr>
        <p:spPr>
          <a:xfrm>
            <a:off x="548640" y="26060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con FaUserShield" descr="FaUserShiel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117" y="2766517"/>
            <a:ext cx="273406" cy="273406"/>
          </a:xfrm>
          <a:prstGeom prst="rect">
            <a:avLst/>
          </a:prstGeom>
        </p:spPr>
      </p:pic>
      <p:sp>
        <p:nvSpPr>
          <p:cNvPr id="9" name="Solution item 2"/>
          <p:cNvSpPr txBox="1"/>
          <p:nvPr/>
        </p:nvSpPr>
        <p:spPr>
          <a:xfrm>
            <a:off x="1371600" y="256032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Secure login</a:t>
            </a:r>
            <a:endParaRPr lang="en-US" sz="19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Email OTP for users and admin</a:t>
            </a:r>
            <a:endParaRPr lang="en-US" sz="1900" dirty="0"/>
          </a:p>
        </p:txBody>
      </p:sp>
      <p:sp>
        <p:nvSpPr>
          <p:cNvPr id="10" name="Icon circle"/>
          <p:cNvSpPr/>
          <p:nvPr/>
        </p:nvSpPr>
        <p:spPr>
          <a:xfrm>
            <a:off x="548640" y="35204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on FaUserEdit" descr="FaUserEdi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117" y="3680917"/>
            <a:ext cx="273406" cy="273406"/>
          </a:xfrm>
          <a:prstGeom prst="rect">
            <a:avLst/>
          </a:prstGeom>
        </p:spPr>
      </p:pic>
      <p:sp>
        <p:nvSpPr>
          <p:cNvPr id="12" name="Solution item 3"/>
          <p:cNvSpPr txBox="1"/>
          <p:nvPr/>
        </p:nvSpPr>
        <p:spPr>
          <a:xfrm>
            <a:off x="1371600" y="347472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Profile management</a:t>
            </a:r>
            <a:endParaRPr lang="en-US" sz="19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Register and edit your details</a:t>
            </a:r>
            <a:endParaRPr lang="en-US" sz="1900" dirty="0"/>
          </a:p>
        </p:txBody>
      </p:sp>
      <p:sp>
        <p:nvSpPr>
          <p:cNvPr id="13" name="Icon circle"/>
          <p:cNvSpPr/>
          <p:nvPr/>
        </p:nvSpPr>
        <p:spPr>
          <a:xfrm>
            <a:off x="548640" y="44348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con FaCalendarCheck" descr="FaCalendarCheck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117" y="4595317"/>
            <a:ext cx="273406" cy="273406"/>
          </a:xfrm>
          <a:prstGeom prst="rect">
            <a:avLst/>
          </a:prstGeom>
        </p:spPr>
      </p:pic>
      <p:sp>
        <p:nvSpPr>
          <p:cNvPr id="15" name="Solution item 4"/>
          <p:cNvSpPr txBox="1"/>
          <p:nvPr/>
        </p:nvSpPr>
        <p:spPr>
          <a:xfrm>
            <a:off x="1371600" y="438912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Event registration</a:t>
            </a:r>
            <a:endParaRPr lang="en-US" sz="19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Join campaigns, get a unique ID</a:t>
            </a:r>
            <a:endParaRPr lang="en-US" sz="1900" dirty="0"/>
          </a:p>
        </p:txBody>
      </p:sp>
      <p:sp>
        <p:nvSpPr>
          <p:cNvPr id="16" name="Icon circle"/>
          <p:cNvSpPr/>
          <p:nvPr/>
        </p:nvSpPr>
        <p:spPr>
          <a:xfrm>
            <a:off x="548640" y="53492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con FaUserCog" descr="FaUserCo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9117" y="5509717"/>
            <a:ext cx="273406" cy="273406"/>
          </a:xfrm>
          <a:prstGeom prst="rect">
            <a:avLst/>
          </a:prstGeom>
        </p:spPr>
      </p:pic>
      <p:sp>
        <p:nvSpPr>
          <p:cNvPr id="18" name="Solution item 5"/>
          <p:cNvSpPr txBox="1"/>
          <p:nvPr/>
        </p:nvSpPr>
        <p:spPr>
          <a:xfrm>
            <a:off x="1371600" y="530352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Admin console</a:t>
            </a:r>
            <a:endParaRPr lang="en-US" sz="19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Review and update registrations</a:t>
            </a:r>
            <a:endParaRPr lang="en-US" sz="1900" dirty="0"/>
          </a:p>
        </p:txBody>
      </p:sp>
      <p:sp>
        <p:nvSpPr>
          <p:cNvPr id="19" name="Phone panel"/>
          <p:cNvSpPr/>
          <p:nvPr/>
        </p:nvSpPr>
        <p:spPr>
          <a:xfrm>
            <a:off x="7406640" y="1554480"/>
            <a:ext cx="4233672" cy="4754880"/>
          </a:xfrm>
          <a:prstGeom prst="roundRect">
            <a:avLst>
              <a:gd name="adj" fmla="val 25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0" name="Phone login" descr="App screenshot: logi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07808" y="1737360"/>
            <a:ext cx="1914861" cy="4069080"/>
          </a:xfrm>
          <a:prstGeom prst="rect">
            <a:avLst/>
          </a:prstGeom>
        </p:spPr>
      </p:pic>
      <p:pic>
        <p:nvPicPr>
          <p:cNvPr id="21" name="Phone home" descr="App screenshot: hom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38360" y="1737360"/>
            <a:ext cx="1914861" cy="4069080"/>
          </a:xfrm>
          <a:prstGeom prst="rect">
            <a:avLst/>
          </a:prstGeom>
        </p:spPr>
      </p:pic>
      <p:sp>
        <p:nvSpPr>
          <p:cNvPr id="22" name="Caption"/>
          <p:cNvSpPr txBox="1"/>
          <p:nvPr/>
        </p:nvSpPr>
        <p:spPr>
          <a:xfrm>
            <a:off x="7607808" y="5870448"/>
            <a:ext cx="1911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Email OTP sign-in</a:t>
            </a:r>
            <a:endParaRPr lang="en-US" sz="1200" dirty="0"/>
          </a:p>
        </p:txBody>
      </p:sp>
      <p:sp>
        <p:nvSpPr>
          <p:cNvPr id="23" name="Caption"/>
          <p:cNvSpPr txBox="1"/>
          <p:nvPr/>
        </p:nvSpPr>
        <p:spPr>
          <a:xfrm>
            <a:off x="9738360" y="5870448"/>
            <a:ext cx="1911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Home dashboard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05  |  SYSTEM ARCHITECTURE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How KutumbSetu Works</a:t>
            </a:r>
            <a:endParaRPr lang="en-US" sz="3400" dirty="0"/>
          </a:p>
        </p:txBody>
      </p:sp>
      <p:sp>
        <p:nvSpPr>
          <p:cNvPr id="4" name="Arch box 1"/>
          <p:cNvSpPr/>
          <p:nvPr/>
        </p:nvSpPr>
        <p:spPr>
          <a:xfrm>
            <a:off x="548640" y="1600200"/>
            <a:ext cx="3017520" cy="1005840"/>
          </a:xfrm>
          <a:prstGeom prst="roundRect">
            <a:avLst>
              <a:gd name="adj" fmla="val 10909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Arch icon 1" descr="FaMobileAl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74520"/>
            <a:ext cx="457200" cy="457200"/>
          </a:xfrm>
          <a:prstGeom prst="rect">
            <a:avLst/>
          </a:prstGeom>
        </p:spPr>
      </p:pic>
      <p:sp>
        <p:nvSpPr>
          <p:cNvPr id="6" name="Arch title 1"/>
          <p:cNvSpPr txBox="1"/>
          <p:nvPr/>
        </p:nvSpPr>
        <p:spPr>
          <a:xfrm>
            <a:off x="1463040" y="16002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Flutter App</a:t>
            </a:r>
            <a:endParaRPr lang="en-US" sz="2000" dirty="0"/>
          </a:p>
        </p:txBody>
      </p:sp>
      <p:sp>
        <p:nvSpPr>
          <p:cNvPr id="7" name="Arch points card 1"/>
          <p:cNvSpPr/>
          <p:nvPr/>
        </p:nvSpPr>
        <p:spPr>
          <a:xfrm>
            <a:off x="548640" y="2788920"/>
            <a:ext cx="301752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Arch points 1"/>
          <p:cNvSpPr txBox="1"/>
          <p:nvPr/>
        </p:nvSpPr>
        <p:spPr>
          <a:xfrm>
            <a:off x="777240" y="2880360"/>
            <a:ext cx="2560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Dart mobile interface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User and admin screens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Dark mode, multilingual</a:t>
            </a:r>
            <a:endParaRPr lang="en-US" sz="1500" dirty="0"/>
          </a:p>
        </p:txBody>
      </p:sp>
      <p:sp>
        <p:nvSpPr>
          <p:cNvPr id="9" name="Arch box 2"/>
          <p:cNvSpPr/>
          <p:nvPr/>
        </p:nvSpPr>
        <p:spPr>
          <a:xfrm>
            <a:off x="4585716" y="1600200"/>
            <a:ext cx="3017520" cy="1005840"/>
          </a:xfrm>
          <a:prstGeom prst="roundRect">
            <a:avLst>
              <a:gd name="adj" fmla="val 1090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Arch icon 2" descr="FaServ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0036" y="1874520"/>
            <a:ext cx="457200" cy="457200"/>
          </a:xfrm>
          <a:prstGeom prst="rect">
            <a:avLst/>
          </a:prstGeom>
        </p:spPr>
      </p:pic>
      <p:sp>
        <p:nvSpPr>
          <p:cNvPr id="11" name="Arch title 2"/>
          <p:cNvSpPr txBox="1"/>
          <p:nvPr/>
        </p:nvSpPr>
        <p:spPr>
          <a:xfrm>
            <a:off x="5500116" y="16002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Node.js / Express</a:t>
            </a:r>
            <a:endParaRPr lang="en-US" sz="2000" dirty="0"/>
          </a:p>
        </p:txBody>
      </p:sp>
      <p:sp>
        <p:nvSpPr>
          <p:cNvPr id="12" name="Arch points card 2"/>
          <p:cNvSpPr/>
          <p:nvPr/>
        </p:nvSpPr>
        <p:spPr>
          <a:xfrm>
            <a:off x="4585716" y="2788920"/>
            <a:ext cx="301752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Arch points 2"/>
          <p:cNvSpPr txBox="1"/>
          <p:nvPr/>
        </p:nvSpPr>
        <p:spPr>
          <a:xfrm>
            <a:off x="4814316" y="2880360"/>
            <a:ext cx="2560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REST API layer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OTP and auth logic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Event and profile endpoints</a:t>
            </a:r>
            <a:endParaRPr lang="en-US" sz="1500" dirty="0"/>
          </a:p>
        </p:txBody>
      </p:sp>
      <p:sp>
        <p:nvSpPr>
          <p:cNvPr id="14" name="Arch box 3"/>
          <p:cNvSpPr/>
          <p:nvPr/>
        </p:nvSpPr>
        <p:spPr>
          <a:xfrm>
            <a:off x="8622792" y="1600200"/>
            <a:ext cx="3017520" cy="1005840"/>
          </a:xfrm>
          <a:prstGeom prst="roundRect">
            <a:avLst>
              <a:gd name="adj" fmla="val 1090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Arch icon 3" descr="FaDatabas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7112" y="1874520"/>
            <a:ext cx="457200" cy="457200"/>
          </a:xfrm>
          <a:prstGeom prst="rect">
            <a:avLst/>
          </a:prstGeom>
        </p:spPr>
      </p:pic>
      <p:sp>
        <p:nvSpPr>
          <p:cNvPr id="16" name="Arch title 3"/>
          <p:cNvSpPr txBox="1"/>
          <p:nvPr/>
        </p:nvSpPr>
        <p:spPr>
          <a:xfrm>
            <a:off x="9537192" y="16002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MongoDB</a:t>
            </a:r>
            <a:endParaRPr lang="en-US" sz="2000" dirty="0"/>
          </a:p>
        </p:txBody>
      </p:sp>
      <p:sp>
        <p:nvSpPr>
          <p:cNvPr id="17" name="Arch points card 3"/>
          <p:cNvSpPr/>
          <p:nvPr/>
        </p:nvSpPr>
        <p:spPr>
          <a:xfrm>
            <a:off x="8622792" y="2788920"/>
            <a:ext cx="301752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Arch points 3"/>
          <p:cNvSpPr txBox="1"/>
          <p:nvPr/>
        </p:nvSpPr>
        <p:spPr>
          <a:xfrm>
            <a:off x="8851392" y="2880360"/>
            <a:ext cx="2560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Users and family data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Events and campaigns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Registration records</a:t>
            </a:r>
            <a:endParaRPr lang="en-US" sz="1500" dirty="0"/>
          </a:p>
        </p:txBody>
      </p:sp>
      <p:sp>
        <p:nvSpPr>
          <p:cNvPr id="19" name="Arch arrow 1"/>
          <p:cNvSpPr/>
          <p:nvPr/>
        </p:nvSpPr>
        <p:spPr>
          <a:xfrm>
            <a:off x="3675888" y="2103120"/>
            <a:ext cx="80010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20" name="Arrow label 1"/>
          <p:cNvSpPr txBox="1"/>
          <p:nvPr/>
        </p:nvSpPr>
        <p:spPr>
          <a:xfrm>
            <a:off x="3474720" y="1645920"/>
            <a:ext cx="1202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HTTPS / REST</a:t>
            </a:r>
            <a:endParaRPr lang="en-US" sz="1200" dirty="0"/>
          </a:p>
        </p:txBody>
      </p:sp>
      <p:sp>
        <p:nvSpPr>
          <p:cNvPr id="21" name="Arch arrow 2"/>
          <p:cNvSpPr/>
          <p:nvPr/>
        </p:nvSpPr>
        <p:spPr>
          <a:xfrm>
            <a:off x="7712964" y="2103120"/>
            <a:ext cx="80010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22" name="Arrow label 2"/>
          <p:cNvSpPr txBox="1"/>
          <p:nvPr/>
        </p:nvSpPr>
        <p:spPr>
          <a:xfrm>
            <a:off x="7511796" y="1645920"/>
            <a:ext cx="1202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Queries</a:t>
            </a:r>
            <a:endParaRPr lang="en-US" sz="1200" dirty="0"/>
          </a:p>
        </p:txBody>
      </p:sp>
      <p:sp>
        <p:nvSpPr>
          <p:cNvPr id="23" name="OTP heading"/>
          <p:cNvSpPr txBox="1"/>
          <p:nvPr/>
        </p:nvSpPr>
        <p:spPr>
          <a:xfrm>
            <a:off x="54864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Email OTP verification workflow</a:t>
            </a:r>
            <a:endParaRPr lang="en-US" sz="1800" dirty="0"/>
          </a:p>
        </p:txBody>
      </p:sp>
      <p:sp>
        <p:nvSpPr>
          <p:cNvPr id="24" name="Step circle 1"/>
          <p:cNvSpPr/>
          <p:nvPr/>
        </p:nvSpPr>
        <p:spPr>
          <a:xfrm>
            <a:off x="548640" y="53492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Step number 1"/>
          <p:cNvSpPr txBox="1"/>
          <p:nvPr/>
        </p:nvSpPr>
        <p:spPr>
          <a:xfrm>
            <a:off x="548640" y="5349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26" name="Step text 1"/>
          <p:cNvSpPr txBox="1"/>
          <p:nvPr/>
        </p:nvSpPr>
        <p:spPr>
          <a:xfrm>
            <a:off x="1143000" y="53035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Enter email</a:t>
            </a:r>
            <a:endParaRPr lang="en-US" sz="1500" dirty="0"/>
          </a:p>
        </p:txBody>
      </p:sp>
      <p:sp>
        <p:nvSpPr>
          <p:cNvPr id="27" name="Step arrow 1"/>
          <p:cNvSpPr/>
          <p:nvPr/>
        </p:nvSpPr>
        <p:spPr>
          <a:xfrm>
            <a:off x="2633472" y="5596128"/>
            <a:ext cx="11201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8" name="Step circle 2"/>
          <p:cNvSpPr/>
          <p:nvPr/>
        </p:nvSpPr>
        <p:spPr>
          <a:xfrm>
            <a:off x="2818638" y="53492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Step number 2"/>
          <p:cNvSpPr txBox="1"/>
          <p:nvPr/>
        </p:nvSpPr>
        <p:spPr>
          <a:xfrm>
            <a:off x="2818638" y="5349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30" name="Step text 2"/>
          <p:cNvSpPr txBox="1"/>
          <p:nvPr/>
        </p:nvSpPr>
        <p:spPr>
          <a:xfrm>
            <a:off x="3412998" y="53035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API emails OTP</a:t>
            </a:r>
            <a:endParaRPr lang="en-US" sz="1500" dirty="0"/>
          </a:p>
        </p:txBody>
      </p:sp>
      <p:sp>
        <p:nvSpPr>
          <p:cNvPr id="31" name="Step arrow 2"/>
          <p:cNvSpPr/>
          <p:nvPr/>
        </p:nvSpPr>
        <p:spPr>
          <a:xfrm>
            <a:off x="4903470" y="5596128"/>
            <a:ext cx="11201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2" name="Step circle 3"/>
          <p:cNvSpPr/>
          <p:nvPr/>
        </p:nvSpPr>
        <p:spPr>
          <a:xfrm>
            <a:off x="5088636" y="53492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Step number 3"/>
          <p:cNvSpPr txBox="1"/>
          <p:nvPr/>
        </p:nvSpPr>
        <p:spPr>
          <a:xfrm>
            <a:off x="5088636" y="5349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34" name="Step text 3"/>
          <p:cNvSpPr txBox="1"/>
          <p:nvPr/>
        </p:nvSpPr>
        <p:spPr>
          <a:xfrm>
            <a:off x="5682996" y="53035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Enter code in app</a:t>
            </a:r>
            <a:endParaRPr lang="en-US" sz="1500" dirty="0"/>
          </a:p>
        </p:txBody>
      </p:sp>
      <p:sp>
        <p:nvSpPr>
          <p:cNvPr id="35" name="Step arrow 3"/>
          <p:cNvSpPr/>
          <p:nvPr/>
        </p:nvSpPr>
        <p:spPr>
          <a:xfrm>
            <a:off x="7173468" y="5596128"/>
            <a:ext cx="11201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6" name="Step circle 4"/>
          <p:cNvSpPr/>
          <p:nvPr/>
        </p:nvSpPr>
        <p:spPr>
          <a:xfrm>
            <a:off x="7358634" y="53492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7" name="Step number 4"/>
          <p:cNvSpPr txBox="1"/>
          <p:nvPr/>
        </p:nvSpPr>
        <p:spPr>
          <a:xfrm>
            <a:off x="7358634" y="5349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38" name="Step text 4"/>
          <p:cNvSpPr txBox="1"/>
          <p:nvPr/>
        </p:nvSpPr>
        <p:spPr>
          <a:xfrm>
            <a:off x="7952994" y="53035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API verifies code</a:t>
            </a:r>
            <a:endParaRPr lang="en-US" sz="1500" dirty="0"/>
          </a:p>
        </p:txBody>
      </p:sp>
      <p:sp>
        <p:nvSpPr>
          <p:cNvPr id="39" name="Step arrow 4"/>
          <p:cNvSpPr/>
          <p:nvPr/>
        </p:nvSpPr>
        <p:spPr>
          <a:xfrm>
            <a:off x="9443466" y="5596128"/>
            <a:ext cx="11201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40" name="Step circle 5"/>
          <p:cNvSpPr/>
          <p:nvPr/>
        </p:nvSpPr>
        <p:spPr>
          <a:xfrm>
            <a:off x="9628632" y="53492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1" name="Step number 5"/>
          <p:cNvSpPr txBox="1"/>
          <p:nvPr/>
        </p:nvSpPr>
        <p:spPr>
          <a:xfrm>
            <a:off x="9628632" y="5349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42" name="Step text 5"/>
          <p:cNvSpPr txBox="1"/>
          <p:nvPr/>
        </p:nvSpPr>
        <p:spPr>
          <a:xfrm>
            <a:off x="10222992" y="53035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Session starts</a:t>
            </a:r>
            <a:endParaRPr lang="en-US" sz="15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06  |  TECH STACK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Technologies and Tools Used</a:t>
            </a:r>
            <a:endParaRPr lang="en-US" sz="3400" dirty="0"/>
          </a:p>
        </p:txBody>
      </p:sp>
      <p:sp>
        <p:nvSpPr>
          <p:cNvPr id="4" name="Stack row 1"/>
          <p:cNvSpPr/>
          <p:nvPr/>
        </p:nvSpPr>
        <p:spPr>
          <a:xfrm>
            <a:off x="548640" y="1600200"/>
            <a:ext cx="11091672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731520" y="1728216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Icon FaMobileAlt" descr="FaMobileAl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653" y="1876349"/>
            <a:ext cx="252374" cy="252374"/>
          </a:xfrm>
          <a:prstGeom prst="rect">
            <a:avLst/>
          </a:prstGeom>
        </p:spPr>
      </p:pic>
      <p:sp>
        <p:nvSpPr>
          <p:cNvPr id="7" name="Stack label 1"/>
          <p:cNvSpPr txBox="1"/>
          <p:nvPr/>
        </p:nvSpPr>
        <p:spPr>
          <a:xfrm>
            <a:off x="1463040" y="1645920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Frontend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Mobile UI</a:t>
            </a:r>
            <a:endParaRPr lang="en-US" sz="1800" dirty="0"/>
          </a:p>
        </p:txBody>
      </p:sp>
      <p:sp>
        <p:nvSpPr>
          <p:cNvPr id="8" name="Chip Flutter"/>
          <p:cNvSpPr/>
          <p:nvPr/>
        </p:nvSpPr>
        <p:spPr>
          <a:xfrm>
            <a:off x="4297680" y="1783080"/>
            <a:ext cx="1097280" cy="4389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9" name="Chip text Flutter"/>
          <p:cNvSpPr txBox="1"/>
          <p:nvPr/>
        </p:nvSpPr>
        <p:spPr>
          <a:xfrm>
            <a:off x="4297680" y="178308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Flutter</a:t>
            </a:r>
            <a:endParaRPr lang="en-US" sz="1400" dirty="0"/>
          </a:p>
        </p:txBody>
      </p:sp>
      <p:sp>
        <p:nvSpPr>
          <p:cNvPr id="10" name="Chip Dart"/>
          <p:cNvSpPr/>
          <p:nvPr/>
        </p:nvSpPr>
        <p:spPr>
          <a:xfrm>
            <a:off x="5559552" y="1783080"/>
            <a:ext cx="822960" cy="4389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11" name="Chip text Dart"/>
          <p:cNvSpPr txBox="1"/>
          <p:nvPr/>
        </p:nvSpPr>
        <p:spPr>
          <a:xfrm>
            <a:off x="5559552" y="1783080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Dart</a:t>
            </a:r>
            <a:endParaRPr lang="en-US" sz="1400" dirty="0"/>
          </a:p>
        </p:txBody>
      </p:sp>
      <p:sp>
        <p:nvSpPr>
          <p:cNvPr id="12" name="Stack row 2"/>
          <p:cNvSpPr/>
          <p:nvPr/>
        </p:nvSpPr>
        <p:spPr>
          <a:xfrm>
            <a:off x="548640" y="2514600"/>
            <a:ext cx="11091672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Icon circle"/>
          <p:cNvSpPr/>
          <p:nvPr/>
        </p:nvSpPr>
        <p:spPr>
          <a:xfrm>
            <a:off x="731520" y="2642616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Icon FaServer" descr="FaServ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653" y="2790749"/>
            <a:ext cx="252374" cy="252374"/>
          </a:xfrm>
          <a:prstGeom prst="rect">
            <a:avLst/>
          </a:prstGeom>
        </p:spPr>
      </p:pic>
      <p:sp>
        <p:nvSpPr>
          <p:cNvPr id="15" name="Stack label 2"/>
          <p:cNvSpPr txBox="1"/>
          <p:nvPr/>
        </p:nvSpPr>
        <p:spPr>
          <a:xfrm>
            <a:off x="1463040" y="2560320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Backend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API and logic</a:t>
            </a:r>
            <a:endParaRPr lang="en-US" sz="1800" dirty="0"/>
          </a:p>
        </p:txBody>
      </p:sp>
      <p:sp>
        <p:nvSpPr>
          <p:cNvPr id="16" name="Chip Node.js"/>
          <p:cNvSpPr/>
          <p:nvPr/>
        </p:nvSpPr>
        <p:spPr>
          <a:xfrm>
            <a:off x="4297680" y="2697480"/>
            <a:ext cx="1097280" cy="4389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7" name="Chip text Node.js"/>
          <p:cNvSpPr txBox="1"/>
          <p:nvPr/>
        </p:nvSpPr>
        <p:spPr>
          <a:xfrm>
            <a:off x="4297680" y="269748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Node.js</a:t>
            </a:r>
            <a:endParaRPr lang="en-US" sz="1400" dirty="0"/>
          </a:p>
        </p:txBody>
      </p:sp>
      <p:sp>
        <p:nvSpPr>
          <p:cNvPr id="18" name="Chip Express.js"/>
          <p:cNvSpPr/>
          <p:nvPr/>
        </p:nvSpPr>
        <p:spPr>
          <a:xfrm>
            <a:off x="5559552" y="2697480"/>
            <a:ext cx="1371600" cy="4389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9" name="Chip text Express.js"/>
          <p:cNvSpPr txBox="1"/>
          <p:nvPr/>
        </p:nvSpPr>
        <p:spPr>
          <a:xfrm>
            <a:off x="5559552" y="269748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Express.js</a:t>
            </a:r>
            <a:endParaRPr lang="en-US" sz="1400" dirty="0"/>
          </a:p>
        </p:txBody>
      </p:sp>
      <p:sp>
        <p:nvSpPr>
          <p:cNvPr id="20" name="Chip REST API"/>
          <p:cNvSpPr/>
          <p:nvPr/>
        </p:nvSpPr>
        <p:spPr>
          <a:xfrm>
            <a:off x="7095744" y="2697480"/>
            <a:ext cx="1188720" cy="4389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1" name="Chip text REST API"/>
          <p:cNvSpPr txBox="1"/>
          <p:nvPr/>
        </p:nvSpPr>
        <p:spPr>
          <a:xfrm>
            <a:off x="7095744" y="269748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REST API</a:t>
            </a:r>
            <a:endParaRPr lang="en-US" sz="1400" dirty="0"/>
          </a:p>
        </p:txBody>
      </p:sp>
      <p:sp>
        <p:nvSpPr>
          <p:cNvPr id="22" name="Stack row 3"/>
          <p:cNvSpPr/>
          <p:nvPr/>
        </p:nvSpPr>
        <p:spPr>
          <a:xfrm>
            <a:off x="548640" y="3429000"/>
            <a:ext cx="11091672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Icon circle"/>
          <p:cNvSpPr/>
          <p:nvPr/>
        </p:nvSpPr>
        <p:spPr>
          <a:xfrm>
            <a:off x="731520" y="3557016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4" name="Icon FaDatabase" descr="FaDatabas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653" y="3705149"/>
            <a:ext cx="252374" cy="252374"/>
          </a:xfrm>
          <a:prstGeom prst="rect">
            <a:avLst/>
          </a:prstGeom>
        </p:spPr>
      </p:pic>
      <p:sp>
        <p:nvSpPr>
          <p:cNvPr id="25" name="Stack label 3"/>
          <p:cNvSpPr txBox="1"/>
          <p:nvPr/>
        </p:nvSpPr>
        <p:spPr>
          <a:xfrm>
            <a:off x="1463040" y="3474720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Database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Data storage</a:t>
            </a:r>
            <a:endParaRPr lang="en-US" sz="1800" dirty="0"/>
          </a:p>
        </p:txBody>
      </p:sp>
      <p:sp>
        <p:nvSpPr>
          <p:cNvPr id="26" name="Chip MongoDB"/>
          <p:cNvSpPr/>
          <p:nvPr/>
        </p:nvSpPr>
        <p:spPr>
          <a:xfrm>
            <a:off x="4297680" y="3611880"/>
            <a:ext cx="1097280" cy="4389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27" name="Chip text MongoDB"/>
          <p:cNvSpPr txBox="1"/>
          <p:nvPr/>
        </p:nvSpPr>
        <p:spPr>
          <a:xfrm>
            <a:off x="4297680" y="361188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MongoDB</a:t>
            </a:r>
            <a:endParaRPr lang="en-US" sz="1400" dirty="0"/>
          </a:p>
        </p:txBody>
      </p:sp>
      <p:sp>
        <p:nvSpPr>
          <p:cNvPr id="28" name="Stack row 4"/>
          <p:cNvSpPr/>
          <p:nvPr/>
        </p:nvSpPr>
        <p:spPr>
          <a:xfrm>
            <a:off x="548640" y="4343400"/>
            <a:ext cx="11091672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Icon circle"/>
          <p:cNvSpPr/>
          <p:nvPr/>
        </p:nvSpPr>
        <p:spPr>
          <a:xfrm>
            <a:off x="731520" y="4471416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30" name="Icon FaVial" descr="FaVial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9653" y="4619549"/>
            <a:ext cx="252374" cy="252374"/>
          </a:xfrm>
          <a:prstGeom prst="rect">
            <a:avLst/>
          </a:prstGeom>
        </p:spPr>
      </p:pic>
      <p:sp>
        <p:nvSpPr>
          <p:cNvPr id="31" name="Stack label 4"/>
          <p:cNvSpPr txBox="1"/>
          <p:nvPr/>
        </p:nvSpPr>
        <p:spPr>
          <a:xfrm>
            <a:off x="1463040" y="4389120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Testing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UI and API checks</a:t>
            </a:r>
            <a:endParaRPr lang="en-US" sz="1800" dirty="0"/>
          </a:p>
        </p:txBody>
      </p:sp>
      <p:sp>
        <p:nvSpPr>
          <p:cNvPr id="32" name="Chip Appium"/>
          <p:cNvSpPr/>
          <p:nvPr/>
        </p:nvSpPr>
        <p:spPr>
          <a:xfrm>
            <a:off x="4297680" y="4526280"/>
            <a:ext cx="1005840" cy="4389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33" name="Chip text Appium"/>
          <p:cNvSpPr txBox="1"/>
          <p:nvPr/>
        </p:nvSpPr>
        <p:spPr>
          <a:xfrm>
            <a:off x="4297680" y="452628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Appium</a:t>
            </a:r>
            <a:endParaRPr lang="en-US" sz="1400" dirty="0"/>
          </a:p>
        </p:txBody>
      </p:sp>
      <p:sp>
        <p:nvSpPr>
          <p:cNvPr id="34" name="Chip API testing tools"/>
          <p:cNvSpPr/>
          <p:nvPr/>
        </p:nvSpPr>
        <p:spPr>
          <a:xfrm>
            <a:off x="5468112" y="4526280"/>
            <a:ext cx="2011680" cy="4389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35" name="Chip text API testing tools"/>
          <p:cNvSpPr txBox="1"/>
          <p:nvPr/>
        </p:nvSpPr>
        <p:spPr>
          <a:xfrm>
            <a:off x="5468112" y="452628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API testing tools</a:t>
            </a:r>
            <a:endParaRPr lang="en-US" sz="1400" dirty="0"/>
          </a:p>
        </p:txBody>
      </p:sp>
      <p:sp>
        <p:nvSpPr>
          <p:cNvPr id="36" name="Stack row 5"/>
          <p:cNvSpPr/>
          <p:nvPr/>
        </p:nvSpPr>
        <p:spPr>
          <a:xfrm>
            <a:off x="548640" y="5257800"/>
            <a:ext cx="11091672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7" name="Icon circle"/>
          <p:cNvSpPr/>
          <p:nvPr/>
        </p:nvSpPr>
        <p:spPr>
          <a:xfrm>
            <a:off x="731520" y="5385816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8" name="Icon FaCodeBranch" descr="FaCodeBranch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9653" y="5533949"/>
            <a:ext cx="252374" cy="252374"/>
          </a:xfrm>
          <a:prstGeom prst="rect">
            <a:avLst/>
          </a:prstGeom>
        </p:spPr>
      </p:pic>
      <p:sp>
        <p:nvSpPr>
          <p:cNvPr id="39" name="Stack label 5"/>
          <p:cNvSpPr txBox="1"/>
          <p:nvPr/>
        </p:nvSpPr>
        <p:spPr>
          <a:xfrm>
            <a:off x="1463040" y="5303520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DevOps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Build and deploy</a:t>
            </a:r>
            <a:endParaRPr lang="en-US" sz="1800" dirty="0"/>
          </a:p>
        </p:txBody>
      </p:sp>
      <p:sp>
        <p:nvSpPr>
          <p:cNvPr id="40" name="Chip Git / GitHub"/>
          <p:cNvSpPr/>
          <p:nvPr/>
        </p:nvSpPr>
        <p:spPr>
          <a:xfrm>
            <a:off x="4297680" y="5440680"/>
            <a:ext cx="1554480" cy="4389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1" name="Chip text Git / GitHub"/>
          <p:cNvSpPr txBox="1"/>
          <p:nvPr/>
        </p:nvSpPr>
        <p:spPr>
          <a:xfrm>
            <a:off x="4297680" y="544068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Git / GitHub</a:t>
            </a:r>
            <a:endParaRPr lang="en-US" sz="1400" dirty="0"/>
          </a:p>
        </p:txBody>
      </p:sp>
      <p:sp>
        <p:nvSpPr>
          <p:cNvPr id="42" name="Chip Docker"/>
          <p:cNvSpPr/>
          <p:nvPr/>
        </p:nvSpPr>
        <p:spPr>
          <a:xfrm>
            <a:off x="6016752" y="5440680"/>
            <a:ext cx="1005840" cy="4389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3" name="Chip text Docker"/>
          <p:cNvSpPr txBox="1"/>
          <p:nvPr/>
        </p:nvSpPr>
        <p:spPr>
          <a:xfrm>
            <a:off x="6016752" y="544068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Docker</a:t>
            </a:r>
            <a:endParaRPr lang="en-US" sz="1400" dirty="0"/>
          </a:p>
        </p:txBody>
      </p:sp>
      <p:sp>
        <p:nvSpPr>
          <p:cNvPr id="44" name="Chip Docker Compose"/>
          <p:cNvSpPr/>
          <p:nvPr/>
        </p:nvSpPr>
        <p:spPr>
          <a:xfrm>
            <a:off x="7187184" y="5440680"/>
            <a:ext cx="1737360" cy="4389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5" name="Chip text Docker Compose"/>
          <p:cNvSpPr txBox="1"/>
          <p:nvPr/>
        </p:nvSpPr>
        <p:spPr>
          <a:xfrm>
            <a:off x="7187184" y="544068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Docker Compose</a:t>
            </a:r>
            <a:endParaRPr lang="en-US" sz="1400" dirty="0"/>
          </a:p>
        </p:txBody>
      </p:sp>
      <p:sp>
        <p:nvSpPr>
          <p:cNvPr id="46" name="Chip Ansible"/>
          <p:cNvSpPr/>
          <p:nvPr/>
        </p:nvSpPr>
        <p:spPr>
          <a:xfrm>
            <a:off x="9089136" y="5440680"/>
            <a:ext cx="1097280" cy="4389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7" name="Chip text Ansible"/>
          <p:cNvSpPr txBox="1"/>
          <p:nvPr/>
        </p:nvSpPr>
        <p:spPr>
          <a:xfrm>
            <a:off x="9089136" y="544068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Ansible</a:t>
            </a:r>
            <a:endParaRPr lang="en-US" sz="1400" dirty="0"/>
          </a:p>
        </p:txBody>
      </p:sp>
      <p:sp>
        <p:nvSpPr>
          <p:cNvPr id="48" name="Chip AWS EC2"/>
          <p:cNvSpPr/>
          <p:nvPr/>
        </p:nvSpPr>
        <p:spPr>
          <a:xfrm>
            <a:off x="10351008" y="5440680"/>
            <a:ext cx="1097280" cy="4389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9" name="Chip text AWS EC2"/>
          <p:cNvSpPr txBox="1"/>
          <p:nvPr/>
        </p:nvSpPr>
        <p:spPr>
          <a:xfrm>
            <a:off x="10351008" y="544068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AWS EC2</a:t>
            </a:r>
            <a:endParaRPr lang="en-US" sz="1400" dirty="0"/>
          </a:p>
        </p:txBody>
      </p: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07  |  IMPLEMENTATION SNAPSHOTS (1/2)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Implementation Snapshots: User App</a:t>
            </a:r>
            <a:endParaRPr lang="en-US" sz="3400" dirty="0"/>
          </a:p>
        </p:txBody>
      </p:sp>
      <p:pic>
        <p:nvPicPr>
          <p:cNvPr id="4" name="Phone login" descr="App screenshot: logi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63" y="1554480"/>
            <a:ext cx="1893346" cy="4023360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493803" y="5669280"/>
            <a:ext cx="21676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Email OTP login</a:t>
            </a:r>
            <a:endParaRPr lang="en-US" sz="1200" dirty="0"/>
          </a:p>
        </p:txBody>
      </p:sp>
      <p:pic>
        <p:nvPicPr>
          <p:cNvPr id="6" name="Phone reg1" descr="App screenshot: reg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0069" y="1554480"/>
            <a:ext cx="1893346" cy="4023360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2752909" y="5669280"/>
            <a:ext cx="21676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Registration</a:t>
            </a:r>
            <a:endParaRPr lang="en-US" sz="1200" dirty="0"/>
          </a:p>
        </p:txBody>
      </p:sp>
      <p:pic>
        <p:nvPicPr>
          <p:cNvPr id="8" name="Phone home" descr="App screenshot: hom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9175" y="1554480"/>
            <a:ext cx="1893346" cy="4023360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5012015" y="5669280"/>
            <a:ext cx="21676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Home dashboard</a:t>
            </a:r>
            <a:endParaRPr lang="en-US" sz="1200" dirty="0"/>
          </a:p>
        </p:txBody>
      </p:sp>
      <p:pic>
        <p:nvPicPr>
          <p:cNvPr id="10" name="Phone tree" descr="App screenshot: tre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8281" y="1554480"/>
            <a:ext cx="1893346" cy="4023360"/>
          </a:xfrm>
          <a:prstGeom prst="rect">
            <a:avLst/>
          </a:prstGeom>
        </p:spPr>
      </p:pic>
      <p:sp>
        <p:nvSpPr>
          <p:cNvPr id="11" name="Caption"/>
          <p:cNvSpPr txBox="1"/>
          <p:nvPr/>
        </p:nvSpPr>
        <p:spPr>
          <a:xfrm>
            <a:off x="7271121" y="5669280"/>
            <a:ext cx="21676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Family tree</a:t>
            </a:r>
            <a:endParaRPr lang="en-US" sz="1200" dirty="0"/>
          </a:p>
        </p:txBody>
      </p:sp>
      <p:pic>
        <p:nvPicPr>
          <p:cNvPr id="12" name="Phone directory" descr="App screenshot: directory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67386" y="1554480"/>
            <a:ext cx="1893346" cy="4023360"/>
          </a:xfrm>
          <a:prstGeom prst="rect">
            <a:avLst/>
          </a:prstGeom>
        </p:spPr>
      </p:pic>
      <p:sp>
        <p:nvSpPr>
          <p:cNvPr id="13" name="Caption"/>
          <p:cNvSpPr txBox="1"/>
          <p:nvPr/>
        </p:nvSpPr>
        <p:spPr>
          <a:xfrm>
            <a:off x="9530226" y="5669280"/>
            <a:ext cx="21676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Member directory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07  |  IMPLEMENTATION SNAPSHOTS (2/2)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Implementation Snapshots: Events and Admin</a:t>
            </a:r>
            <a:endParaRPr lang="en-US" sz="3400" dirty="0"/>
          </a:p>
        </p:txBody>
      </p:sp>
      <p:pic>
        <p:nvPicPr>
          <p:cNvPr id="4" name="Phone hub" descr="App screenshot: hu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63" y="1554480"/>
            <a:ext cx="1893346" cy="4023360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493803" y="5669280"/>
            <a:ext cx="21676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Community hub</a:t>
            </a:r>
            <a:endParaRPr lang="en-US" sz="1200" dirty="0"/>
          </a:p>
        </p:txBody>
      </p:sp>
      <p:pic>
        <p:nvPicPr>
          <p:cNvPr id="6" name="Phone eventreg" descr="App screenshot: eventr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0069" y="1554480"/>
            <a:ext cx="1893346" cy="4023360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2752909" y="5669280"/>
            <a:ext cx="21676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Event registration</a:t>
            </a:r>
            <a:endParaRPr lang="en-US" sz="1200" dirty="0"/>
          </a:p>
        </p:txBody>
      </p:sp>
      <p:pic>
        <p:nvPicPr>
          <p:cNvPr id="8" name="Phone success" descr="App screenshot: succes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9175" y="1554480"/>
            <a:ext cx="1893346" cy="4023360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5012015" y="5669280"/>
            <a:ext cx="21676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Registration ID</a:t>
            </a:r>
            <a:endParaRPr lang="en-US" sz="1200" dirty="0"/>
          </a:p>
        </p:txBody>
      </p:sp>
      <p:pic>
        <p:nvPicPr>
          <p:cNvPr id="10" name="Phone adminlogin" descr="App screenshot: adminlogi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8281" y="1554480"/>
            <a:ext cx="1893346" cy="4023360"/>
          </a:xfrm>
          <a:prstGeom prst="rect">
            <a:avLst/>
          </a:prstGeom>
        </p:spPr>
      </p:pic>
      <p:sp>
        <p:nvSpPr>
          <p:cNvPr id="11" name="Caption"/>
          <p:cNvSpPr txBox="1"/>
          <p:nvPr/>
        </p:nvSpPr>
        <p:spPr>
          <a:xfrm>
            <a:off x="7271121" y="5669280"/>
            <a:ext cx="21676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Admin login</a:t>
            </a:r>
            <a:endParaRPr lang="en-US" sz="1200" dirty="0"/>
          </a:p>
        </p:txBody>
      </p:sp>
      <p:pic>
        <p:nvPicPr>
          <p:cNvPr id="12" name="Phone admin" descr="App screenshot: admi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67386" y="1554480"/>
            <a:ext cx="1893346" cy="4023360"/>
          </a:xfrm>
          <a:prstGeom prst="rect">
            <a:avLst/>
          </a:prstGeom>
        </p:spPr>
      </p:pic>
      <p:sp>
        <p:nvSpPr>
          <p:cNvPr id="13" name="Caption"/>
          <p:cNvSpPr txBox="1"/>
          <p:nvPr/>
        </p:nvSpPr>
        <p:spPr>
          <a:xfrm>
            <a:off x="9530226" y="5669280"/>
            <a:ext cx="21676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Admin panel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EDF03-5FBB-C4DF-D362-2B67942F2340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en-US" dirty="0"/>
              <a:t>Sample Video Demo and user flow</a:t>
            </a:r>
          </a:p>
        </p:txBody>
      </p:sp>
      <p:pic>
        <p:nvPicPr>
          <p:cNvPr id="3" name="Screen_recording_20261016_084139">
            <a:hlinkClick r:id="" action="ppaction://media"/>
            <a:extLst>
              <a:ext uri="{FF2B5EF4-FFF2-40B4-BE49-F238E27FC236}">
                <a16:creationId xmlns:a16="http://schemas.microsoft.com/office/drawing/2014/main" id="{35483EAB-D149-20B4-ADEB-569C80A058D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749540" y="0"/>
            <a:ext cx="444246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E65C618-9C47-1347-3D98-BB34163B40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048" y="1341120"/>
            <a:ext cx="7375398" cy="551688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586442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342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08  |  FUTURE SCOPE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What Comes Next</a:t>
            </a:r>
            <a:endParaRPr lang="en-US" sz="3400" dirty="0"/>
          </a:p>
        </p:txBody>
      </p:sp>
      <p:sp>
        <p:nvSpPr>
          <p:cNvPr id="4" name="Future card 1"/>
          <p:cNvSpPr/>
          <p:nvPr/>
        </p:nvSpPr>
        <p:spPr>
          <a:xfrm>
            <a:off x="548640" y="1691640"/>
            <a:ext cx="539496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914400" y="233172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 FaBell" descr="FaBel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255" y="2541575"/>
            <a:ext cx="357530" cy="357530"/>
          </a:xfrm>
          <a:prstGeom prst="rect">
            <a:avLst/>
          </a:prstGeom>
        </p:spPr>
      </p:pic>
      <p:sp>
        <p:nvSpPr>
          <p:cNvPr id="7" name="Future text 1"/>
          <p:cNvSpPr txBox="1"/>
          <p:nvPr/>
        </p:nvSpPr>
        <p:spPr>
          <a:xfrm>
            <a:off x="1965960" y="1874520"/>
            <a:ext cx="3749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Push notifications</a:t>
            </a:r>
            <a:endParaRPr lang="en-US" sz="24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Alerts for events and news</a:t>
            </a:r>
            <a:endParaRPr lang="en-US" sz="2400" dirty="0"/>
          </a:p>
        </p:txBody>
      </p:sp>
      <p:sp>
        <p:nvSpPr>
          <p:cNvPr id="8" name="Future card 2"/>
          <p:cNvSpPr/>
          <p:nvPr/>
        </p:nvSpPr>
        <p:spPr>
          <a:xfrm>
            <a:off x="6245352" y="1691640"/>
            <a:ext cx="539496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 circle"/>
          <p:cNvSpPr/>
          <p:nvPr/>
        </p:nvSpPr>
        <p:spPr>
          <a:xfrm>
            <a:off x="6611112" y="2331720"/>
            <a:ext cx="777240" cy="7772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0" name="Icon FaRupeeSign" descr="FaRupeeSig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0967" y="2541575"/>
            <a:ext cx="357530" cy="357530"/>
          </a:xfrm>
          <a:prstGeom prst="rect">
            <a:avLst/>
          </a:prstGeom>
        </p:spPr>
      </p:pic>
      <p:sp>
        <p:nvSpPr>
          <p:cNvPr id="11" name="Future text 2"/>
          <p:cNvSpPr txBox="1"/>
          <p:nvPr/>
        </p:nvSpPr>
        <p:spPr>
          <a:xfrm>
            <a:off x="7662672" y="1874520"/>
            <a:ext cx="3749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Online payments</a:t>
            </a:r>
            <a:endParaRPr lang="en-US" sz="24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Maintenance dues in-app</a:t>
            </a:r>
            <a:endParaRPr lang="en-US" sz="2400" dirty="0"/>
          </a:p>
        </p:txBody>
      </p:sp>
      <p:sp>
        <p:nvSpPr>
          <p:cNvPr id="12" name="Future card 3"/>
          <p:cNvSpPr/>
          <p:nvPr/>
        </p:nvSpPr>
        <p:spPr>
          <a:xfrm>
            <a:off x="548640" y="4023360"/>
            <a:ext cx="539496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Icon circle"/>
          <p:cNvSpPr/>
          <p:nvPr/>
        </p:nvSpPr>
        <p:spPr>
          <a:xfrm>
            <a:off x="914400" y="4663440"/>
            <a:ext cx="777240" cy="7772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4" name="Icon FaExclamationCircle" descr="FaExclamationCircl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255" y="4873295"/>
            <a:ext cx="357530" cy="357530"/>
          </a:xfrm>
          <a:prstGeom prst="rect">
            <a:avLst/>
          </a:prstGeom>
        </p:spPr>
      </p:pic>
      <p:sp>
        <p:nvSpPr>
          <p:cNvPr id="15" name="Future text 3"/>
          <p:cNvSpPr txBox="1"/>
          <p:nvPr/>
        </p:nvSpPr>
        <p:spPr>
          <a:xfrm>
            <a:off x="1965960" y="4206240"/>
            <a:ext cx="3749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Complaint tracking</a:t>
            </a:r>
            <a:endParaRPr lang="en-US" sz="24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Raise and follow up issues</a:t>
            </a:r>
            <a:endParaRPr lang="en-US" sz="2400" dirty="0"/>
          </a:p>
        </p:txBody>
      </p:sp>
      <p:sp>
        <p:nvSpPr>
          <p:cNvPr id="16" name="Future card 4"/>
          <p:cNvSpPr/>
          <p:nvPr/>
        </p:nvSpPr>
        <p:spPr>
          <a:xfrm>
            <a:off x="6245352" y="4023360"/>
            <a:ext cx="539496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Icon circle"/>
          <p:cNvSpPr/>
          <p:nvPr/>
        </p:nvSpPr>
        <p:spPr>
          <a:xfrm>
            <a:off x="6611112" y="4663440"/>
            <a:ext cx="777240" cy="7772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8" name="Icon FaChartLine" descr="FaChartLin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0967" y="4873295"/>
            <a:ext cx="357530" cy="357530"/>
          </a:xfrm>
          <a:prstGeom prst="rect">
            <a:avLst/>
          </a:prstGeom>
        </p:spPr>
      </p:pic>
      <p:sp>
        <p:nvSpPr>
          <p:cNvPr id="19" name="Future text 4"/>
          <p:cNvSpPr txBox="1"/>
          <p:nvPr/>
        </p:nvSpPr>
        <p:spPr>
          <a:xfrm>
            <a:off x="7662672" y="4206240"/>
            <a:ext cx="3749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Admin analytics</a:t>
            </a:r>
            <a:endParaRPr lang="en-US" sz="24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Dashboards and reports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09  |  CONCLUSION</a:t>
            </a: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Bridging the Community, Digitally</a:t>
            </a:r>
            <a:endParaRPr lang="en-US" sz="3400" dirty="0"/>
          </a:p>
        </p:txBody>
      </p:sp>
      <p:sp>
        <p:nvSpPr>
          <p:cNvPr id="4" name="Stat card 1"/>
          <p:cNvSpPr/>
          <p:nvPr/>
        </p:nvSpPr>
        <p:spPr>
          <a:xfrm>
            <a:off x="548640" y="1645920"/>
            <a:ext cx="352044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Stat value 1"/>
          <p:cNvSpPr txBox="1"/>
          <p:nvPr/>
        </p:nvSpPr>
        <p:spPr>
          <a:xfrm>
            <a:off x="640080" y="173736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100+</a:t>
            </a:r>
            <a:endParaRPr lang="en-US" sz="5400" dirty="0"/>
          </a:p>
        </p:txBody>
      </p:sp>
      <p:sp>
        <p:nvSpPr>
          <p:cNvPr id="6" name="Stat label 1"/>
          <p:cNvSpPr txBox="1"/>
          <p:nvPr/>
        </p:nvSpPr>
        <p:spPr>
          <a:xfrm>
            <a:off x="2286000" y="173736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members in directory</a:t>
            </a:r>
            <a:endParaRPr lang="en-US" sz="1600" dirty="0"/>
          </a:p>
        </p:txBody>
      </p:sp>
      <p:sp>
        <p:nvSpPr>
          <p:cNvPr id="7" name="Stat card 2"/>
          <p:cNvSpPr/>
          <p:nvPr/>
        </p:nvSpPr>
        <p:spPr>
          <a:xfrm>
            <a:off x="4334256" y="1645920"/>
            <a:ext cx="352044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Stat value 2"/>
          <p:cNvSpPr txBox="1"/>
          <p:nvPr/>
        </p:nvSpPr>
        <p:spPr>
          <a:xfrm>
            <a:off x="4608576" y="173736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6</a:t>
            </a:r>
            <a:endParaRPr lang="en-US" sz="5400" dirty="0"/>
          </a:p>
        </p:txBody>
      </p:sp>
      <p:sp>
        <p:nvSpPr>
          <p:cNvPr id="9" name="Stat label 2"/>
          <p:cNvSpPr txBox="1"/>
          <p:nvPr/>
        </p:nvSpPr>
        <p:spPr>
          <a:xfrm>
            <a:off x="6071616" y="173736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core modules</a:t>
            </a:r>
            <a:endParaRPr lang="en-US" sz="1600" dirty="0"/>
          </a:p>
        </p:txBody>
      </p:sp>
      <p:sp>
        <p:nvSpPr>
          <p:cNvPr id="10" name="Stat card 3"/>
          <p:cNvSpPr/>
          <p:nvPr/>
        </p:nvSpPr>
        <p:spPr>
          <a:xfrm>
            <a:off x="8119872" y="1645920"/>
            <a:ext cx="352044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1" name="Stat value 3"/>
          <p:cNvSpPr txBox="1"/>
          <p:nvPr/>
        </p:nvSpPr>
        <p:spPr>
          <a:xfrm>
            <a:off x="8394192" y="173736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2</a:t>
            </a:r>
            <a:endParaRPr lang="en-US" sz="5400" dirty="0"/>
          </a:p>
        </p:txBody>
      </p:sp>
      <p:sp>
        <p:nvSpPr>
          <p:cNvPr id="12" name="Stat label 3"/>
          <p:cNvSpPr txBox="1"/>
          <p:nvPr/>
        </p:nvSpPr>
        <p:spPr>
          <a:xfrm>
            <a:off x="9857232" y="173736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roles: user and admin</a:t>
            </a:r>
            <a:endParaRPr lang="en-US" sz="1600" dirty="0"/>
          </a:p>
        </p:txBody>
      </p:sp>
      <p:sp>
        <p:nvSpPr>
          <p:cNvPr id="13" name="Icon circle"/>
          <p:cNvSpPr/>
          <p:nvPr/>
        </p:nvSpPr>
        <p:spPr>
          <a:xfrm>
            <a:off x="548640" y="384048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4" name="Icon FaCheck" descr="Fa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3" y="3988613"/>
            <a:ext cx="252374" cy="252374"/>
          </a:xfrm>
          <a:prstGeom prst="rect">
            <a:avLst/>
          </a:prstGeom>
        </p:spPr>
      </p:pic>
      <p:sp>
        <p:nvSpPr>
          <p:cNvPr id="15" name="Conclusion point 1"/>
          <p:cNvSpPr txBox="1"/>
          <p:nvPr/>
        </p:nvSpPr>
        <p:spPr>
          <a:xfrm>
            <a:off x="1325880" y="37947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Working mobile app built end to end</a:t>
            </a:r>
            <a:endParaRPr lang="en-US" sz="2200" dirty="0"/>
          </a:p>
        </p:txBody>
      </p:sp>
      <p:sp>
        <p:nvSpPr>
          <p:cNvPr id="16" name="Icon circle"/>
          <p:cNvSpPr/>
          <p:nvPr/>
        </p:nvSpPr>
        <p:spPr>
          <a:xfrm>
            <a:off x="6217920" y="384048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Icon FaCheck" descr="Fa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6053" y="3988613"/>
            <a:ext cx="252374" cy="252374"/>
          </a:xfrm>
          <a:prstGeom prst="rect">
            <a:avLst/>
          </a:prstGeom>
        </p:spPr>
      </p:pic>
      <p:sp>
        <p:nvSpPr>
          <p:cNvPr id="18" name="Conclusion point 2"/>
          <p:cNvSpPr txBox="1"/>
          <p:nvPr/>
        </p:nvSpPr>
        <p:spPr>
          <a:xfrm>
            <a:off x="6995160" y="37947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Secure email OTP login</a:t>
            </a:r>
            <a:endParaRPr lang="en-US" sz="2200" dirty="0"/>
          </a:p>
        </p:txBody>
      </p:sp>
      <p:sp>
        <p:nvSpPr>
          <p:cNvPr id="19" name="Icon circle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Icon FaCheck" descr="Fa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3" y="5177333"/>
            <a:ext cx="252374" cy="252374"/>
          </a:xfrm>
          <a:prstGeom prst="rect">
            <a:avLst/>
          </a:prstGeom>
        </p:spPr>
      </p:pic>
      <p:sp>
        <p:nvSpPr>
          <p:cNvPr id="21" name="Conclusion point 3"/>
          <p:cNvSpPr txBox="1"/>
          <p:nvPr/>
        </p:nvSpPr>
        <p:spPr>
          <a:xfrm>
            <a:off x="1325880" y="49834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Event registration with unique IDs</a:t>
            </a:r>
            <a:endParaRPr lang="en-US" sz="2200" dirty="0"/>
          </a:p>
        </p:txBody>
      </p:sp>
      <p:sp>
        <p:nvSpPr>
          <p:cNvPr id="22" name="Icon circle"/>
          <p:cNvSpPr/>
          <p:nvPr/>
        </p:nvSpPr>
        <p:spPr>
          <a:xfrm>
            <a:off x="6217920" y="502920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3" name="Icon FaCheck" descr="Fa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6053" y="5177333"/>
            <a:ext cx="252374" cy="252374"/>
          </a:xfrm>
          <a:prstGeom prst="rect">
            <a:avLst/>
          </a:prstGeom>
        </p:spPr>
      </p:pic>
      <p:sp>
        <p:nvSpPr>
          <p:cNvPr id="24" name="Conclusion point 4"/>
          <p:cNvSpPr txBox="1"/>
          <p:nvPr/>
        </p:nvSpPr>
        <p:spPr>
          <a:xfrm>
            <a:off x="6995160" y="49834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Admin tools to manage registrations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10  |  REFERENCES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References</a:t>
            </a:r>
            <a:endParaRPr lang="en-US" sz="3400" dirty="0"/>
          </a:p>
        </p:txBody>
      </p:sp>
      <p:sp>
        <p:nvSpPr>
          <p:cNvPr id="4" name="Reference list"/>
          <p:cNvSpPr txBox="1"/>
          <p:nvPr/>
        </p:nvSpPr>
        <p:spPr>
          <a:xfrm>
            <a:off x="548640" y="1645920"/>
            <a:ext cx="1109167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  CommuTree Technologies LLP, "CommuTree: Community family tree, news and matrimony," Apple App Store. [Online]. Available: https://apps.apple.com/us/app/commutree/id885813465. [Accessed: Oct. 18, 2026].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  Google, "Flutter documentation." [Online]. Available: https://docs.flutter.dev. [Accessed: Oct. 18, 2026].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  Google, "Dart documentation." [Online]. Available: https://dart.dev/guides. [Accessed: Oct. 18, 2026].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[4]  OpenJS Foundation, "Node.js documentation." [Online]. Available: https://nodejs.org/en/docs. [Accessed: Oct. 18, 2026].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[5]  OpenJS Foundation, "Express: Fast, unopinionated, minimalist web framework for Node.js." [Online]. Available: https://expressjs.com. [Accessed: Oct. 18, 2026].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[6]  MongoDB, Inc., "MongoDB manual." [Online]. Available: https://www.mongodb.com/docs/manual. [Accessed: Oct. 18, 2026].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[7]  Appium Contributors, "Appium documentation." [Online]. Available: https://appium.io/docs/en/latest. [Accessed: Oct. 18, 2026].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[8]  Docker, Inc., "Docker documentation." [Online]. Available: https://docs.docker.com. [Accessed: Oct. 18, 2026].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[9]  P. A. Grassi et al., "Digital identity guidelines: Authentication and lifecycle management," NIST, Gaithersburg, MD, USA, Tech. Rep. SP 800-63B, Jun. 2017.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[10]  R. T. Fielding, "Architectural styles and the design of network-based software architectures," Ph.D. dissertation, Univ. California, Irvine, CA, USA, 2000.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roject logo" descr="KutumbSetu project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280160"/>
            <a:ext cx="4297680" cy="4297680"/>
          </a:xfrm>
          <a:prstGeom prst="rect">
            <a:avLst/>
          </a:prstGeom>
        </p:spPr>
      </p:pic>
      <p:sp>
        <p:nvSpPr>
          <p:cNvPr id="3" name="Thank you"/>
          <p:cNvSpPr txBox="1"/>
          <p:nvPr/>
        </p:nvSpPr>
        <p:spPr>
          <a:xfrm>
            <a:off x="5852160" y="1645920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4" name="Questions"/>
          <p:cNvSpPr txBox="1"/>
          <p:nvPr/>
        </p:nvSpPr>
        <p:spPr>
          <a:xfrm>
            <a:off x="5852160" y="274320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5" name="Footer line"/>
          <p:cNvSpPr txBox="1"/>
          <p:nvPr/>
        </p:nvSpPr>
        <p:spPr>
          <a:xfrm>
            <a:off x="5852160" y="402336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KutumbSetu (कुटुम्बसेतु)  |  SVKM's Shri Bhagubhai Mafatlal Polytechnic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utumbSetu">
  <a:themeElements>
    <a:clrScheme name="KutumbSetu">
      <a:dk1>
        <a:srgbClr val="1F2A37"/>
      </a:dk1>
      <a:lt1>
        <a:srgbClr val="FFFFFF"/>
      </a:lt1>
      <a:dk2>
        <a:srgbClr val="154360"/>
      </a:dk2>
      <a:lt2>
        <a:srgbClr val="F1F4F7"/>
      </a:lt2>
      <a:accent1>
        <a:srgbClr val="E67E22"/>
      </a:accent1>
      <a:accent2>
        <a:srgbClr val="154360"/>
      </a:accent2>
      <a:accent3>
        <a:srgbClr val="2E8B57"/>
      </a:accent3>
      <a:accent4>
        <a:srgbClr val="C0392B"/>
      </a:accent4>
      <a:accent5>
        <a:srgbClr val="2980B9"/>
      </a:accent5>
      <a:accent6>
        <a:srgbClr val="7D5A7C"/>
      </a:accent6>
      <a:hlink>
        <a:srgbClr val="2980B9"/>
      </a:hlink>
      <a:folHlink>
        <a:srgbClr val="7D5A7C"/>
      </a:folHlink>
    </a:clrScheme>
    <a:fontScheme name="KutumbSetu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995</Words>
  <Application>Microsoft Office PowerPoint</Application>
  <PresentationFormat>Widescreen</PresentationFormat>
  <Paragraphs>204</Paragraphs>
  <Slides>15</Slides>
  <Notes>13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Times New Roman</vt:lpstr>
      <vt:lpstr>KutumbSetu</vt:lpstr>
      <vt:lpstr>PowerPoint Presentation</vt:lpstr>
      <vt:lpstr>Flow of the Presentation</vt:lpstr>
      <vt:lpstr>Existing Solution: CommuTree</vt:lpstr>
      <vt:lpstr>Reviews and opinions about Commutree</vt:lpstr>
      <vt:lpstr>Problem Statement and Motivation</vt:lpstr>
      <vt:lpstr>KutumbSetu: One App for the Community</vt:lpstr>
      <vt:lpstr>How KutumbSetu Works</vt:lpstr>
      <vt:lpstr>Technologies and Tools Used</vt:lpstr>
      <vt:lpstr>Implementation Snapshots: User App</vt:lpstr>
      <vt:lpstr>Implementation Snapshots: Events and Admin</vt:lpstr>
      <vt:lpstr>Sample Video Demo and user flow</vt:lpstr>
      <vt:lpstr>What Comes Next</vt:lpstr>
      <vt:lpstr>Bridging the Community, Digitally</vt:lpstr>
      <vt:lpstr>References</vt:lpstr>
      <vt:lpstr>PowerPoint Presentation</vt:lpstr>
    </vt:vector>
  </TitlesOfParts>
  <Company>SVKM's Shri Bhagubhai Mafatlal Polytechnic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KutumbSetu - A Smart Community Management System</dc:title>
  <dc:subject>PptxGenJS Presentation</dc:subject>
  <dc:creator>KutumbSetu Project Team</dc:creator>
  <cp:lastModifiedBy>Rishik Jariwala</cp:lastModifiedBy>
  <cp:revision>4</cp:revision>
  <dcterms:created xsi:type="dcterms:W3CDTF">2026-10-18T12:00:10Z</dcterms:created>
  <dcterms:modified xsi:type="dcterms:W3CDTF">2026-10-24T11:12:23Z</dcterms:modified>
</cp:coreProperties>
</file>
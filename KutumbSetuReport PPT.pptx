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4" r:id="rId8"/>
    <p:sldId id="262" r:id="rId9"/>
    <p:sldId id="263"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E0E913A-D0D6-5D06-67BB-3AB6A04013EC}">
          <p14:sldIdLst>
            <p14:sldId id="256"/>
          </p14:sldIdLst>
        </p14:section>
        <p14:section name="Problem &amp; Solution" id="{0FE6DDE6-E48D-3B17-C97B-3350C6693F9D}">
          <p14:sldIdLst>
            <p14:sldId id="257"/>
            <p14:sldId id="258"/>
          </p14:sldIdLst>
        </p14:section>
        <p14:section name="Build" id="{139FDC94-8530-9929-497B-84B97CDD762C}">
          <p14:sldIdLst>
            <p14:sldId id="259"/>
            <p14:sldId id="260"/>
            <p14:sldId id="261"/>
            <p14:sldId id="264"/>
            <p14:sldId id="262"/>
          </p14:sldIdLst>
        </p14:section>
        <p14:section name="Wrap-up" id="{84999AE3-D95A-C108-8D7E-E3F5FEF407C7}">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3447" autoAdjust="0"/>
  </p:normalViewPr>
  <p:slideViewPr>
    <p:cSldViewPr snapToGrid="0" snapToObjects="1">
      <p:cViewPr varScale="1">
        <p:scale>
          <a:sx n="59" d="100"/>
          <a:sy n="59" d="100"/>
        </p:scale>
        <p:origin x="940" y="52"/>
      </p:cViewPr>
      <p:guideLst/>
    </p:cSldViewPr>
  </p:slideViewPr>
  <p:notesTextViewPr>
    <p:cViewPr>
      <p:scale>
        <a:sx n="1" d="1"/>
        <a:sy n="1" d="1"/>
      </p:scale>
      <p:origin x="0" y="-92"/>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shik Jariwala" userId="1611da47c418f513" providerId="LiveId" clId="{7B245D8B-B2B6-41E4-9592-2BFA912A7BC0}"/>
    <pc:docChg chg="modSld">
      <pc:chgData name="Rishik Jariwala" userId="1611da47c418f513" providerId="LiveId" clId="{7B245D8B-B2B6-41E4-9592-2BFA912A7BC0}" dt="2026-10-16T02:29:55.751" v="56" actId="20577"/>
      <pc:docMkLst>
        <pc:docMk/>
      </pc:docMkLst>
      <pc:sldChg chg="modSp mod">
        <pc:chgData name="Rishik Jariwala" userId="1611da47c418f513" providerId="LiveId" clId="{7B245D8B-B2B6-41E4-9592-2BFA912A7BC0}" dt="2026-10-16T02:27:59.215" v="37" actId="20577"/>
        <pc:sldMkLst>
          <pc:docMk/>
          <pc:sldMk cId="0" sldId="257"/>
        </pc:sldMkLst>
        <pc:spChg chg="mod">
          <ac:chgData name="Rishik Jariwala" userId="1611da47c418f513" providerId="LiveId" clId="{7B245D8B-B2B6-41E4-9592-2BFA912A7BC0}" dt="2026-10-16T02:27:59.215" v="37" actId="20577"/>
          <ac:spMkLst>
            <pc:docMk/>
            <pc:sldMk cId="0" sldId="257"/>
            <ac:spMk id="6" creationId="{00000000-0000-0000-0000-000000000000}"/>
          </ac:spMkLst>
        </pc:spChg>
      </pc:sldChg>
      <pc:sldChg chg="modSp mod">
        <pc:chgData name="Rishik Jariwala" userId="1611da47c418f513" providerId="LiveId" clId="{7B245D8B-B2B6-41E4-9592-2BFA912A7BC0}" dt="2026-10-16T02:29:55.751" v="56" actId="20577"/>
        <pc:sldMkLst>
          <pc:docMk/>
          <pc:sldMk cId="0" sldId="259"/>
        </pc:sldMkLst>
        <pc:spChg chg="mod">
          <ac:chgData name="Rishik Jariwala" userId="1611da47c418f513" providerId="LiveId" clId="{7B245D8B-B2B6-41E4-9592-2BFA912A7BC0}" dt="2026-10-16T02:29:55.751" v="56" actId="20577"/>
          <ac:spMkLst>
            <pc:docMk/>
            <pc:sldMk cId="0" sldId="259"/>
            <ac:spMk id="15" creationId="{00000000-0000-0000-0000-000000000000}"/>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29:33.826"/>
    </inkml:context>
    <inkml:brush xml:id="br0">
      <inkml:brushProperty name="width" value="0.05" units="cm"/>
      <inkml:brushProperty name="height" value="0.05" units="cm"/>
      <inkml:brushProperty name="color" value="#AE198D"/>
      <inkml:brushProperty name="inkEffects" value="galaxy"/>
      <inkml:brushProperty name="anchorX" value="0"/>
      <inkml:brushProperty name="anchorY" value="0"/>
      <inkml:brushProperty name="scaleFactor" value="0.5"/>
    </inkml:brush>
  </inkml:definitions>
  <inkml:trace contextRef="#ctx0" brushRef="#br0">1 0 24575,'0'0'0,"2"0"0,3 0 0,2 0 0,2 0 0,2 0 0,3 0 0,0 0 0,1 0 0,-1 0 0,-1 0 0,0 0 0,0 0 0,-1 0 0,2 0 0,0 0 0,0 0 0,0 0 0,-1 0 0,0 0 0,-1 0 0,0 0 0,2 0 0,0 0 0,0 0 0,0 0 0,-1 0 0,-1 0 0,1 0 0,1 0 0,0 0 0,0 0 0,0 0 0,-1 0 0,0 0 0,-1 0 0,0 0 0,-3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29:36.884"/>
    </inkml:context>
    <inkml:brush xml:id="br0">
      <inkml:brushProperty name="width" value="0.05" units="cm"/>
      <inkml:brushProperty name="height" value="0.05" units="cm"/>
      <inkml:brushProperty name="color" value="#AE198D"/>
      <inkml:brushProperty name="inkEffects" value="galaxy"/>
      <inkml:brushProperty name="anchorX" value="-869.40649"/>
      <inkml:brushProperty name="anchorY" value="-564.44446"/>
      <inkml:brushProperty name="scaleFactor" value="0.5"/>
    </inkml:brush>
  </inkml:definitions>
  <inkml:trace contextRef="#ctx0" brushRef="#br0">383 35 24575,'0'-35'0,"-383"35"0,766 35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29:40.680"/>
    </inkml:context>
    <inkml:brush xml:id="br0">
      <inkml:brushProperty name="width" value="0.05" units="cm"/>
      <inkml:brushProperty name="height" value="0.05" units="cm"/>
      <inkml:brushProperty name="color" value="#AE198D"/>
      <inkml:brushProperty name="inkEffects" value="galaxy"/>
      <inkml:brushProperty name="anchorX" value="-289.09235"/>
      <inkml:brushProperty name="anchorY" value="47.03704"/>
      <inkml:brushProperty name="scaleFactor" value="0.5"/>
    </inkml:brush>
  </inkml:definitions>
  <inkml:trace contextRef="#ctx0" brushRef="#br0">447 70 24575,'-447'-70'0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29:44.589"/>
    </inkml:context>
    <inkml:brush xml:id="br0">
      <inkml:brushProperty name="width" value="0.05" units="cm"/>
      <inkml:brushProperty name="height" value="0.05" units="cm"/>
      <inkml:brushProperty name="color" value="#AE198D"/>
      <inkml:brushProperty name="inkEffects" value="galaxy"/>
      <inkml:brushProperty name="anchorX" value="546.70441"/>
      <inkml:brushProperty name="anchorY" value="658.64563"/>
      <inkml:brushProperty name="scaleFactor" value="0.5"/>
    </inkml:brush>
  </inkml:definitions>
  <inkml:trace contextRef="#ctx0" brushRef="#br0">134 33 24575,'136'-18'0,"-406"3"0,404 48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30:41.274"/>
    </inkml:context>
    <inkml:brush xml:id="br0">
      <inkml:brushProperty name="width" value="0.035" units="cm"/>
      <inkml:brushProperty name="height" value="0.035" units="cm"/>
      <inkml:brushProperty name="color" value="#FFFFFF"/>
    </inkml:brush>
  </inkml:definitions>
  <inkml:trace contextRef="#ctx0" brushRef="#br0">574 1 24554,'-574'0'0,"574"80"0,574-160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30:47.013"/>
    </inkml:context>
    <inkml:brush xml:id="br0">
      <inkml:brushProperty name="width" value="0.035" units="cm"/>
      <inkml:brushProperty name="height" value="0.035" units="cm"/>
      <inkml:brushProperty name="color" value="#FFFFFF"/>
    </inkml:brush>
  </inkml:definitions>
  <inkml:trace contextRef="#ctx0" brushRef="#br0">591 67 24575,'-11'-1'0,"0"0"0,0 0 0,-15-6 0,-15-1 0,-89-4 0,-140 7 0,216 5 0,51 0 0,0 0 0,1 0 0,-1 0 0,1-1 0,-1 1 0,1-1 0,-1 1 0,1-1 0,-1 0 0,-2-1 0,5 1 0,-1 1 0,1 0 0,0-1 0,-1 1 0,1 0 0,0-1 0,-1 1 0,1 0 0,0-1 0,-1 1 0,1 0 0,0-1 0,0 1 0,0-1 0,-1 1 0,1-1 0,0 1 0,0-1 0,0 1 0,0-1 0,0 1 0,0-1 0,0 0 0,0-1 0,1 1 0,-1 0 0,0 0 0,1 0 0,-1 0 0,1 0 0,0 0 0,-1 0 0,1 0 0,0 0 0,-1 0 0,2-1 0,-1 2 0,-1 1 0,1-1 0,-1 0 0,0 1 0,1-1 0,-1 1 0,0-1 0,1 0 0,-1 1 0,0-1 0,0 1 0,0-1 0,1 1 0,-1-1 0,0 1 0,0-1 0,0 1 0,0-1 0,0 1 0,0-1 0,0 1 0,0 0 0,0-1 0,0 1 0,0-1 0,0 1 0,1 20 0,-1 30 0,0-47 79,2-6-1523</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30:49.612"/>
    </inkml:context>
    <inkml:brush xml:id="br0">
      <inkml:brushProperty name="width" value="0.035" units="cm"/>
      <inkml:brushProperty name="height" value="0.035" units="cm"/>
      <inkml:brushProperty name="color" value="#FFFFFF"/>
    </inkml:brush>
  </inkml:definitions>
  <inkml:trace contextRef="#ctx0" brushRef="#br0">518 1 23515,'-517'23'0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30:52.449"/>
    </inkml:context>
    <inkml:brush xml:id="br0">
      <inkml:brushProperty name="width" value="0.035" units="cm"/>
      <inkml:brushProperty name="height" value="0.035" units="cm"/>
      <inkml:brushProperty name="color" value="#FFFFFF"/>
    </inkml:brush>
  </inkml:definitions>
  <inkml:trace contextRef="#ctx0" brushRef="#br0">309 37 24575,'-43'-3'0,"-79"-13"0,3-1 0,117 17 0,1 0 0,0 0 0,-1 0 0,1 0 0,-1 0 0,1 0 0,-1 0 0,1 0 0,-1 0 0,1 1 0,0-1 0,-1 1 0,1-1 0,0 1 0,-2 0 0,4 5 0,12 3 0,6-1-6,16 10-1353,-27-12-5467</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727849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KutumbSetu means 'family bridge' - a mobile app that connects a community. Mention the team, guide and college. The logo shows a family forming a heart; the Gujarati line reads 'Samast Darji Samaj Babariyawad'.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pain points: scattered communication, manual event handling, hard-to-maintain resident information and no single place for community services. The member count (170+) comes from the directory in the prototype (176 members).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KutumbSetu replaces the patchwork with one app. Users sign in with an email OTP; the home dashboard gives quick access to Family Tree, Directory, Matrimony, Events, News and Community Hub, and also shows today's birthdays.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six core features. Registration captures first, middle and last name, date of birth, gender, mobile, address and email before sending a verification OTP. The Community Hub lists Samaj events with a Register / RSVP button and lets members submit posts or events to the admin.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Flutter app -&gt; Node.js/Express API -&gt; MongoDB. The app never talks to the database directly. Authentication is passwordless: the API emails a one-time code and only starts a session after the code is verified. The admin console is reached through a separate admin login in the same app.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Flutter gives one codebase for the user and admin interfaces. Node.js with Express keeps the backend lightweight, MongoDB suits flexible member and family records. Appium and API testing tools are used for verification; Git/GitHub, Docker, Docker Compose, Ansible and AWS EC2 cover version control, containerisation and deployment.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flow: (1) sign in with an email OTP, (2) register a new profile, (3) browse events in the Community Hub, (4) register for the Youth Sports Meet &amp; Cricket Tournament as a participant with an emergency contact, (5) receive a registration ID, (6) log in as admin and see the same registration with Update Status. Planned (not yet built): push notifications, online payments, complaint tracking and analytics - these are on the next slide. Add Appium / API test result screenshots here if available.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organised information, easier event participation and better record management. Future scope is planned work and not part of the current prototype: push notifications, online maintenance payments, complaint tracking and richer admin analytics. Close with Thank You and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chemeClr val="tx2"/>
                </a:solidFill>
              </a:rPr>
              <a:t>KutumbSetu  |  Final Year Project</a:t>
            </a:r>
            <a:endParaRPr lang="en-US" sz="1000" dirty="0"/>
          </a:p>
        </p:txBody>
      </p:sp>
      <p:sp>
        <p:nvSpPr>
          <p:cNvPr id="3" name="Text 1"/>
          <p:cNvSpPr>
            <a:spLocks noGrp="1"/>
          </p:cNvSpPr>
          <p:nvPr>
            <p:ph type="title" idx="101" hasCustomPrompt="1"/>
          </p:nvPr>
        </p:nvSpPr>
        <p:spPr>
          <a:xfrm>
            <a:off x="548640" y="640080"/>
            <a:ext cx="11091672" cy="77724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640080"/>
            <a:ext cx="11091672" cy="77724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1"/>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12.png"/></Relationships>
</file>

<file path=ppt/slides/_rels/slide4.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8.png"/><Relationship Id="rId4" Type="http://schemas.openxmlformats.org/officeDocument/2006/relationships/image" Target="../media/image21.png"/></Relationships>
</file>

<file path=ppt/slides/_rels/slide7.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30.png"/><Relationship Id="rId18" Type="http://schemas.openxmlformats.org/officeDocument/2006/relationships/customXml" Target="../ink/ink8.xml"/><Relationship Id="rId3" Type="http://schemas.openxmlformats.org/officeDocument/2006/relationships/image" Target="../media/image25.png"/><Relationship Id="rId7" Type="http://schemas.openxmlformats.org/officeDocument/2006/relationships/image" Target="../media/image27.png"/><Relationship Id="rId12" Type="http://schemas.openxmlformats.org/officeDocument/2006/relationships/customXml" Target="../ink/ink5.xml"/><Relationship Id="rId17" Type="http://schemas.openxmlformats.org/officeDocument/2006/relationships/image" Target="../media/image32.png"/><Relationship Id="rId2" Type="http://schemas.openxmlformats.org/officeDocument/2006/relationships/image" Target="../media/image24.png"/><Relationship Id="rId16" Type="http://schemas.openxmlformats.org/officeDocument/2006/relationships/customXml" Target="../ink/ink7.xml"/><Relationship Id="rId1" Type="http://schemas.openxmlformats.org/officeDocument/2006/relationships/slideLayout" Target="../slideLayouts/slideLayout3.xml"/><Relationship Id="rId6" Type="http://schemas.openxmlformats.org/officeDocument/2006/relationships/customXml" Target="../ink/ink2.xml"/><Relationship Id="rId11" Type="http://schemas.openxmlformats.org/officeDocument/2006/relationships/image" Target="../media/image29.png"/><Relationship Id="rId5" Type="http://schemas.openxmlformats.org/officeDocument/2006/relationships/image" Target="../media/image26.png"/><Relationship Id="rId15" Type="http://schemas.openxmlformats.org/officeDocument/2006/relationships/image" Target="../media/image31.png"/><Relationship Id="rId10" Type="http://schemas.openxmlformats.org/officeDocument/2006/relationships/customXml" Target="../ink/ink4.xml"/><Relationship Id="rId19" Type="http://schemas.openxmlformats.org/officeDocument/2006/relationships/image" Target="../media/image33.png"/><Relationship Id="rId4" Type="http://schemas.openxmlformats.org/officeDocument/2006/relationships/customXml" Target="../ink/ink1.xml"/><Relationship Id="rId9" Type="http://schemas.openxmlformats.org/officeDocument/2006/relationships/image" Target="../media/image28.png"/><Relationship Id="rId14" Type="http://schemas.openxmlformats.org/officeDocument/2006/relationships/customXml" Target="../ink/ink6.xml"/></Relationships>
</file>

<file path=ppt/slides/_rels/slide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11.png"/><Relationship Id="rId7" Type="http://schemas.openxmlformats.org/officeDocument/2006/relationships/image" Target="../media/image35.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34.png"/><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39.png"/><Relationship Id="rId10" Type="http://schemas.openxmlformats.org/officeDocument/2006/relationships/image" Target="../media/image44.png"/><Relationship Id="rId4" Type="http://schemas.openxmlformats.org/officeDocument/2006/relationships/image" Target="../media/image38.png"/><Relationship Id="rId9"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640080" y="685800"/>
            <a:ext cx="5486400" cy="274320"/>
          </a:xfrm>
          <a:prstGeom prst="rect">
            <a:avLst/>
          </a:prstGeom>
          <a:noFill/>
          <a:ln/>
        </p:spPr>
        <p:txBody>
          <a:bodyPr wrap="square" lIns="0" tIns="0" rIns="0" bIns="0" rtlCol="0" anchor="ctr"/>
          <a:lstStyle/>
          <a:p>
            <a:pPr marL="0" indent="0">
              <a:buNone/>
            </a:pPr>
            <a:r>
              <a:rPr lang="en-US" sz="1400" b="1" kern="0" spc="300" dirty="0">
                <a:solidFill>
                  <a:schemeClr val="accent1"/>
                </a:solidFill>
              </a:rPr>
              <a:t>FINAL YEAR PROJECT</a:t>
            </a:r>
            <a:endParaRPr lang="en-US" sz="1400" dirty="0"/>
          </a:p>
        </p:txBody>
      </p:sp>
      <p:sp>
        <p:nvSpPr>
          <p:cNvPr id="3" name="Title"/>
          <p:cNvSpPr txBox="1"/>
          <p:nvPr/>
        </p:nvSpPr>
        <p:spPr>
          <a:xfrm>
            <a:off x="640080" y="1097280"/>
            <a:ext cx="6400800" cy="914400"/>
          </a:xfrm>
          <a:prstGeom prst="rect">
            <a:avLst/>
          </a:prstGeom>
          <a:noFill/>
          <a:ln/>
        </p:spPr>
        <p:txBody>
          <a:bodyPr wrap="square" lIns="0" tIns="0" rIns="0" bIns="0" rtlCol="0" anchor="ctr"/>
          <a:lstStyle/>
          <a:p>
            <a:pPr marL="0" indent="0">
              <a:buNone/>
            </a:pPr>
            <a:r>
              <a:rPr lang="en-US" sz="6000" b="1" dirty="0">
                <a:solidFill>
                  <a:schemeClr val="bg1"/>
                </a:solidFill>
                <a:latin typeface="Cambria" pitchFamily="34" charset="0"/>
                <a:ea typeface="Cambria" pitchFamily="34" charset="-122"/>
                <a:cs typeface="Cambria" pitchFamily="34" charset="-120"/>
              </a:rPr>
              <a:t>KutumbSetu</a:t>
            </a:r>
            <a:endParaRPr lang="en-US" sz="6000" dirty="0"/>
          </a:p>
        </p:txBody>
      </p:sp>
      <p:sp>
        <p:nvSpPr>
          <p:cNvPr id="4" name="Title Devanagari"/>
          <p:cNvSpPr txBox="1"/>
          <p:nvPr/>
        </p:nvSpPr>
        <p:spPr>
          <a:xfrm>
            <a:off x="640080" y="2011680"/>
            <a:ext cx="6400800" cy="502920"/>
          </a:xfrm>
          <a:prstGeom prst="rect">
            <a:avLst/>
          </a:prstGeom>
          <a:noFill/>
          <a:ln/>
        </p:spPr>
        <p:txBody>
          <a:bodyPr wrap="square" lIns="0" tIns="0" rIns="0" bIns="0" rtlCol="0" anchor="ctr"/>
          <a:lstStyle/>
          <a:p>
            <a:pPr marL="0" indent="0">
              <a:buNone/>
            </a:pPr>
            <a:r>
              <a:rPr lang="en-US" sz="2800" dirty="0">
                <a:solidFill>
                  <a:schemeClr val="accent1"/>
                </a:solidFill>
              </a:rPr>
              <a:t>(कुटुम्बसेतु)</a:t>
            </a:r>
            <a:endParaRPr lang="en-US" sz="2800" dirty="0"/>
          </a:p>
        </p:txBody>
      </p:sp>
      <p:sp>
        <p:nvSpPr>
          <p:cNvPr id="5" name="Subtitle"/>
          <p:cNvSpPr txBox="1"/>
          <p:nvPr/>
        </p:nvSpPr>
        <p:spPr>
          <a:xfrm>
            <a:off x="640080" y="2606040"/>
            <a:ext cx="6400800" cy="457200"/>
          </a:xfrm>
          <a:prstGeom prst="rect">
            <a:avLst/>
          </a:prstGeom>
          <a:noFill/>
          <a:ln/>
        </p:spPr>
        <p:txBody>
          <a:bodyPr wrap="square" lIns="0" tIns="0" rIns="0" bIns="0" rtlCol="0" anchor="ctr"/>
          <a:lstStyle/>
          <a:p>
            <a:pPr marL="0" indent="0">
              <a:buNone/>
            </a:pPr>
            <a:r>
              <a:rPr lang="en-US" sz="2400" dirty="0">
                <a:solidFill>
                  <a:schemeClr val="bg1"/>
                </a:solidFill>
              </a:rPr>
              <a:t>A Smart Community Management System</a:t>
            </a:r>
            <a:endParaRPr lang="en-US" sz="2400" dirty="0"/>
          </a:p>
        </p:txBody>
      </p:sp>
      <p:sp>
        <p:nvSpPr>
          <p:cNvPr id="6" name="Info label"/>
          <p:cNvSpPr txBox="1"/>
          <p:nvPr/>
        </p:nvSpPr>
        <p:spPr>
          <a:xfrm>
            <a:off x="640080" y="3474720"/>
            <a:ext cx="27432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TEAM</a:t>
            </a:r>
            <a:endParaRPr lang="en-US" sz="1100" dirty="0"/>
          </a:p>
        </p:txBody>
      </p:sp>
      <p:sp>
        <p:nvSpPr>
          <p:cNvPr id="7" name="Info value"/>
          <p:cNvSpPr txBox="1"/>
          <p:nvPr/>
        </p:nvSpPr>
        <p:spPr>
          <a:xfrm>
            <a:off x="640080" y="3703320"/>
            <a:ext cx="6400800" cy="457200"/>
          </a:xfrm>
          <a:prstGeom prst="rect">
            <a:avLst/>
          </a:prstGeom>
          <a:noFill/>
          <a:ln/>
        </p:spPr>
        <p:txBody>
          <a:bodyPr wrap="square" lIns="0" tIns="0" rIns="0" bIns="0" rtlCol="0" anchor="ctr"/>
          <a:lstStyle/>
          <a:p>
            <a:r>
              <a:rPr lang="en-US" sz="1600" dirty="0">
                <a:solidFill>
                  <a:schemeClr val="bg1"/>
                </a:solidFill>
              </a:rPr>
              <a:t>Rishik Jariwala | Nirmay Patel |  Rishi Soni</a:t>
            </a:r>
            <a:br>
              <a:rPr lang="en-US" sz="1600" dirty="0">
                <a:solidFill>
                  <a:schemeClr val="bg1"/>
                </a:solidFill>
              </a:rPr>
            </a:br>
            <a:r>
              <a:rPr lang="en-US" sz="1600" dirty="0">
                <a:solidFill>
                  <a:schemeClr val="bg1"/>
                </a:solidFill>
              </a:rPr>
              <a:t>Group:10</a:t>
            </a:r>
            <a:endParaRPr lang="en-US" sz="1600" dirty="0"/>
          </a:p>
        </p:txBody>
      </p:sp>
      <p:sp>
        <p:nvSpPr>
          <p:cNvPr id="8" name="Info label"/>
          <p:cNvSpPr txBox="1"/>
          <p:nvPr/>
        </p:nvSpPr>
        <p:spPr>
          <a:xfrm>
            <a:off x="640080" y="4251960"/>
            <a:ext cx="27432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PROJECT GUIDE</a:t>
            </a:r>
            <a:endParaRPr lang="en-US" sz="1100" dirty="0"/>
          </a:p>
        </p:txBody>
      </p:sp>
      <p:sp>
        <p:nvSpPr>
          <p:cNvPr id="9" name="Info value"/>
          <p:cNvSpPr txBox="1"/>
          <p:nvPr/>
        </p:nvSpPr>
        <p:spPr>
          <a:xfrm>
            <a:off x="640080" y="4480560"/>
            <a:ext cx="6400800" cy="320040"/>
          </a:xfrm>
          <a:prstGeom prst="rect">
            <a:avLst/>
          </a:prstGeom>
          <a:noFill/>
          <a:ln/>
        </p:spPr>
        <p:txBody>
          <a:bodyPr wrap="square" lIns="0" tIns="0" rIns="0" bIns="0" rtlCol="0" anchor="ctr"/>
          <a:lstStyle/>
          <a:p>
            <a:pPr marL="0" indent="0">
              <a:buNone/>
            </a:pPr>
            <a:r>
              <a:rPr lang="en-US" sz="1600" dirty="0">
                <a:solidFill>
                  <a:schemeClr val="bg1"/>
                </a:solidFill>
              </a:rPr>
              <a:t>Mr. Pankaj D. Rathod</a:t>
            </a:r>
            <a:endParaRPr lang="en-US" sz="1600" dirty="0"/>
          </a:p>
        </p:txBody>
      </p:sp>
      <p:sp>
        <p:nvSpPr>
          <p:cNvPr id="10" name="Info label"/>
          <p:cNvSpPr txBox="1"/>
          <p:nvPr/>
        </p:nvSpPr>
        <p:spPr>
          <a:xfrm>
            <a:off x="640080" y="4892040"/>
            <a:ext cx="27432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COLLEGE</a:t>
            </a:r>
            <a:endParaRPr lang="en-US" sz="1100" dirty="0"/>
          </a:p>
        </p:txBody>
      </p:sp>
      <p:sp>
        <p:nvSpPr>
          <p:cNvPr id="11" name="Info value"/>
          <p:cNvSpPr txBox="1"/>
          <p:nvPr/>
        </p:nvSpPr>
        <p:spPr>
          <a:xfrm>
            <a:off x="640080" y="5120640"/>
            <a:ext cx="6400800" cy="320040"/>
          </a:xfrm>
          <a:prstGeom prst="rect">
            <a:avLst/>
          </a:prstGeom>
          <a:noFill/>
          <a:ln/>
        </p:spPr>
        <p:txBody>
          <a:bodyPr wrap="square" lIns="0" tIns="0" rIns="0" bIns="0" rtlCol="0" anchor="ctr"/>
          <a:lstStyle/>
          <a:p>
            <a:pPr marL="0" indent="0">
              <a:buNone/>
            </a:pPr>
            <a:r>
              <a:rPr lang="en-US" sz="1600" dirty="0">
                <a:solidFill>
                  <a:schemeClr val="bg1"/>
                </a:solidFill>
              </a:rPr>
              <a:t>SVKM's Shri Bhagubhai Mafatlal Polytechnic</a:t>
            </a:r>
            <a:endParaRPr lang="en-US" sz="1600" dirty="0"/>
          </a:p>
        </p:txBody>
      </p:sp>
      <p:sp>
        <p:nvSpPr>
          <p:cNvPr id="12" name="Info label"/>
          <p:cNvSpPr txBox="1"/>
          <p:nvPr/>
        </p:nvSpPr>
        <p:spPr>
          <a:xfrm>
            <a:off x="640080" y="5532120"/>
            <a:ext cx="27432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ACADEMIC YEAR</a:t>
            </a:r>
            <a:endParaRPr lang="en-US" sz="1100" dirty="0"/>
          </a:p>
        </p:txBody>
      </p:sp>
      <p:sp>
        <p:nvSpPr>
          <p:cNvPr id="13" name="Info value"/>
          <p:cNvSpPr txBox="1"/>
          <p:nvPr/>
        </p:nvSpPr>
        <p:spPr>
          <a:xfrm>
            <a:off x="640080" y="5760720"/>
            <a:ext cx="6400800" cy="320040"/>
          </a:xfrm>
          <a:prstGeom prst="rect">
            <a:avLst/>
          </a:prstGeom>
          <a:noFill/>
          <a:ln/>
        </p:spPr>
        <p:txBody>
          <a:bodyPr wrap="square" lIns="0" tIns="0" rIns="0" bIns="0" rtlCol="0" anchor="ctr"/>
          <a:lstStyle/>
          <a:p>
            <a:pPr marL="0" indent="0">
              <a:buNone/>
            </a:pPr>
            <a:r>
              <a:rPr lang="en-US" sz="1600" dirty="0">
                <a:solidFill>
                  <a:schemeClr val="bg1"/>
                </a:solidFill>
              </a:rPr>
              <a:t>2026 – 27</a:t>
            </a:r>
            <a:endParaRPr lang="en-US" sz="1600" dirty="0"/>
          </a:p>
        </p:txBody>
      </p:sp>
      <p:pic>
        <p:nvPicPr>
          <p:cNvPr id="14" name="Project logo" descr="KutumbSetu project logo: a heart formed by a family"/>
          <p:cNvPicPr>
            <a:picLocks noChangeAspect="1"/>
          </p:cNvPicPr>
          <p:nvPr/>
        </p:nvPicPr>
        <p:blipFill>
          <a:blip r:embed="rId3"/>
          <a:stretch>
            <a:fillRect/>
          </a:stretch>
        </p:blipFill>
        <p:spPr>
          <a:xfrm>
            <a:off x="7406640" y="1005840"/>
            <a:ext cx="4297680" cy="4297680"/>
          </a:xfrm>
          <a:prstGeom prst="rect">
            <a:avLst/>
          </a:prstGeom>
        </p:spPr>
      </p:pic>
      <p:sp>
        <p:nvSpPr>
          <p:cNvPr id="15" name="Logo caption"/>
          <p:cNvSpPr txBox="1"/>
          <p:nvPr/>
        </p:nvSpPr>
        <p:spPr>
          <a:xfrm>
            <a:off x="7406640" y="5532120"/>
            <a:ext cx="4297680" cy="365760"/>
          </a:xfrm>
          <a:prstGeom prst="rect">
            <a:avLst/>
          </a:prstGeom>
          <a:noFill/>
          <a:ln/>
        </p:spPr>
        <p:txBody>
          <a:bodyPr wrap="square" lIns="0" tIns="0" rIns="0" bIns="0" rtlCol="0" anchor="ctr"/>
          <a:lstStyle/>
          <a:p>
            <a:pPr algn="ctr"/>
            <a:endParaRPr lang="en-US" sz="1400" b="1" dirty="0">
              <a:solidFill>
                <a:schemeClr val="bg1"/>
              </a:solidFill>
            </a:endParaRPr>
          </a:p>
          <a:p>
            <a:pPr algn="ctr"/>
            <a:endParaRPr lang="en-US" sz="1400" b="1" dirty="0">
              <a:solidFill>
                <a:schemeClr val="bg1"/>
              </a:solidFill>
            </a:endParaRPr>
          </a:p>
          <a:p>
            <a:pPr algn="ctr"/>
            <a:r>
              <a:rPr lang="en-US" sz="1400" b="1" dirty="0" err="1">
                <a:solidFill>
                  <a:schemeClr val="bg1"/>
                </a:solidFill>
              </a:rPr>
              <a:t>સમસ્ત</a:t>
            </a:r>
            <a:r>
              <a:rPr lang="en-US" sz="1400" b="1" dirty="0">
                <a:solidFill>
                  <a:schemeClr val="bg1"/>
                </a:solidFill>
              </a:rPr>
              <a:t> </a:t>
            </a:r>
            <a:r>
              <a:rPr lang="en-US" sz="1400" b="1" dirty="0" err="1">
                <a:solidFill>
                  <a:schemeClr val="bg1"/>
                </a:solidFill>
              </a:rPr>
              <a:t>દરજી</a:t>
            </a:r>
            <a:r>
              <a:rPr lang="en-US" sz="1400" b="1" dirty="0">
                <a:solidFill>
                  <a:schemeClr val="bg1"/>
                </a:solidFill>
              </a:rPr>
              <a:t> </a:t>
            </a:r>
            <a:r>
              <a:rPr lang="en-US" sz="1400" b="1" dirty="0" err="1">
                <a:solidFill>
                  <a:schemeClr val="bg1"/>
                </a:solidFill>
              </a:rPr>
              <a:t>સમાજ</a:t>
            </a:r>
            <a:r>
              <a:rPr lang="en-US" sz="1400" b="1" dirty="0">
                <a:solidFill>
                  <a:schemeClr val="bg1"/>
                </a:solidFill>
              </a:rPr>
              <a:t> </a:t>
            </a:r>
            <a:r>
              <a:rPr lang="en-US" sz="1400" b="1" dirty="0" err="1">
                <a:solidFill>
                  <a:schemeClr val="bg1"/>
                </a:solidFill>
              </a:rPr>
              <a:t>બાબરિયાવાડ</a:t>
            </a:r>
            <a:endParaRPr lang="en-US" sz="1400" dirty="0">
              <a:solidFill>
                <a:schemeClr val="bg1"/>
              </a:solidFill>
            </a:endParaRPr>
          </a:p>
          <a:p>
            <a:pPr algn="ctr"/>
            <a:br>
              <a:rPr lang="en-US" sz="1400" dirty="0">
                <a:solidFill>
                  <a:schemeClr val="bg1"/>
                </a:solidFill>
              </a:rPr>
            </a:br>
            <a:endParaRPr lang="en-US" sz="1400"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47472"/>
            <a:ext cx="8229600" cy="274320"/>
          </a:xfrm>
          <a:prstGeom prst="rect">
            <a:avLst/>
          </a:prstGeom>
          <a:noFill/>
          <a:ln/>
        </p:spPr>
        <p:txBody>
          <a:bodyPr wrap="square" lIns="0" tIns="0" rIns="0" bIns="0" rtlCol="0" anchor="ctr"/>
          <a:lstStyle/>
          <a:p>
            <a:pPr marL="0" indent="0">
              <a:buNone/>
            </a:pPr>
            <a:r>
              <a:rPr lang="en-US" sz="1400" b="1" kern="0" spc="200" dirty="0">
                <a:solidFill>
                  <a:schemeClr val="accent1"/>
                </a:solidFill>
              </a:rPr>
              <a:t>02  |  PROBLEM STATEMENT</a:t>
            </a:r>
            <a:endParaRPr lang="en-US" sz="1400" dirty="0"/>
          </a:p>
        </p:txBody>
      </p:sp>
      <p:sp>
        <p:nvSpPr>
          <p:cNvPr id="3" name="Text 1"/>
          <p:cNvSpPr>
            <a:spLocks noGrp="1"/>
          </p:cNvSpPr>
          <p:nvPr>
            <p:ph type="title" idx="101" hasCustomPrompt="1"/>
          </p:nvPr>
        </p:nvSpPr>
        <p:spPr>
          <a:xfrm>
            <a:off x="548640" y="640080"/>
            <a:ext cx="11091672" cy="777240"/>
          </a:xfrm>
          <a:prstGeom prst="rect">
            <a:avLst/>
          </a:prstGeom>
          <a:noFill/>
          <a:ln/>
        </p:spPr>
        <p:txBody>
          <a:bodyPr wrap="square" lIns="0" tIns="0" rIns="0" bIns="0" rtlCol="0" anchor="ctr"/>
          <a:lstStyle/>
          <a:p>
            <a:pPr marL="0" indent="0" algn="l">
              <a:buNone/>
            </a:pPr>
            <a:r>
              <a:rPr lang="en-US" sz="3400" b="1" dirty="0">
                <a:solidFill>
                  <a:schemeClr val="tx2"/>
                </a:solidFill>
              </a:rPr>
              <a:t>The Challenges of Community Management</a:t>
            </a:r>
            <a:endParaRPr lang="en-US" sz="3400" dirty="0"/>
          </a:p>
        </p:txBody>
      </p:sp>
      <p:sp>
        <p:nvSpPr>
          <p:cNvPr id="4" name="Intro panel"/>
          <p:cNvSpPr/>
          <p:nvPr/>
        </p:nvSpPr>
        <p:spPr>
          <a:xfrm>
            <a:off x="548640" y="1691640"/>
            <a:ext cx="3566160" cy="4526280"/>
          </a:xfrm>
          <a:prstGeom prst="roundRect">
            <a:avLst>
              <a:gd name="adj" fmla="val 3077"/>
            </a:avLst>
          </a:prstGeom>
          <a:solidFill>
            <a:schemeClr val="tx2"/>
          </a:solidFill>
          <a:ln w="12700">
            <a:solidFill>
              <a:schemeClr val="tx2"/>
            </a:solidFill>
            <a:prstDash val="solid"/>
          </a:ln>
        </p:spPr>
      </p:sp>
      <p:sp>
        <p:nvSpPr>
          <p:cNvPr id="5" name="Intro headline"/>
          <p:cNvSpPr txBox="1"/>
          <p:nvPr/>
        </p:nvSpPr>
        <p:spPr>
          <a:xfrm>
            <a:off x="822960" y="1965960"/>
            <a:ext cx="3017520" cy="228600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Communities still run on group chats, paper registers and phone calls.</a:t>
            </a:r>
            <a:endParaRPr lang="en-US" sz="2400" dirty="0"/>
          </a:p>
        </p:txBody>
      </p:sp>
      <p:sp>
        <p:nvSpPr>
          <p:cNvPr id="6" name="Intro body"/>
          <p:cNvSpPr txBox="1"/>
          <p:nvPr/>
        </p:nvSpPr>
        <p:spPr>
          <a:xfrm>
            <a:off x="822960" y="4343400"/>
            <a:ext cx="3017520" cy="1691640"/>
          </a:xfrm>
          <a:prstGeom prst="rect">
            <a:avLst/>
          </a:prstGeom>
          <a:noFill/>
          <a:ln/>
        </p:spPr>
        <p:txBody>
          <a:bodyPr wrap="square" lIns="0" tIns="0" rIns="0" bIns="0" rtlCol="0" anchor="t"/>
          <a:lstStyle/>
          <a:p>
            <a:pPr marL="0" indent="0">
              <a:buNone/>
            </a:pPr>
            <a:r>
              <a:rPr lang="en-US" sz="1400" dirty="0">
                <a:solidFill>
                  <a:schemeClr val="bg1"/>
                </a:solidFill>
              </a:rPr>
              <a:t>For a Community with 170+ families spread across villages and cities, this patchwork means missed announcements, duplicated effort and outdated records.</a:t>
            </a:r>
            <a:endParaRPr lang="en-US" sz="1400" dirty="0"/>
          </a:p>
        </p:txBody>
      </p:sp>
      <p:sp>
        <p:nvSpPr>
          <p:cNvPr id="7" name="Problem card 1"/>
          <p:cNvSpPr/>
          <p:nvPr/>
        </p:nvSpPr>
        <p:spPr>
          <a:xfrm>
            <a:off x="4389120" y="1691640"/>
            <a:ext cx="3474720" cy="2148840"/>
          </a:xfrm>
          <a:prstGeom prst="roundRect">
            <a:avLst>
              <a:gd name="adj" fmla="val 5106"/>
            </a:avLst>
          </a:prstGeom>
          <a:solidFill>
            <a:schemeClr val="bg2"/>
          </a:solidFill>
          <a:ln w="12700">
            <a:solidFill>
              <a:schemeClr val="bg2"/>
            </a:solidFill>
            <a:prstDash val="solid"/>
          </a:ln>
        </p:spPr>
      </p:sp>
      <p:sp>
        <p:nvSpPr>
          <p:cNvPr id="8" name="Icon circle"/>
          <p:cNvSpPr/>
          <p:nvPr/>
        </p:nvSpPr>
        <p:spPr>
          <a:xfrm>
            <a:off x="4663440" y="1947672"/>
            <a:ext cx="566928" cy="566928"/>
          </a:xfrm>
          <a:prstGeom prst="ellipse">
            <a:avLst/>
          </a:prstGeom>
          <a:solidFill>
            <a:schemeClr val="accent1"/>
          </a:solidFill>
          <a:ln w="12700">
            <a:solidFill>
              <a:schemeClr val="accent1"/>
            </a:solidFill>
            <a:prstDash val="solid"/>
          </a:ln>
        </p:spPr>
      </p:sp>
      <p:pic>
        <p:nvPicPr>
          <p:cNvPr id="9" name="Icon FaCommentDots" descr="FaCommentDots"/>
          <p:cNvPicPr>
            <a:picLocks noChangeAspect="1"/>
          </p:cNvPicPr>
          <p:nvPr/>
        </p:nvPicPr>
        <p:blipFill>
          <a:blip r:embed="rId3"/>
          <a:stretch>
            <a:fillRect/>
          </a:stretch>
        </p:blipFill>
        <p:spPr>
          <a:xfrm>
            <a:off x="4816511" y="2100743"/>
            <a:ext cx="260787" cy="260787"/>
          </a:xfrm>
          <a:prstGeom prst="rect">
            <a:avLst/>
          </a:prstGeom>
        </p:spPr>
      </p:pic>
      <p:sp>
        <p:nvSpPr>
          <p:cNvPr id="10" name="Problem title 1"/>
          <p:cNvSpPr txBox="1"/>
          <p:nvPr/>
        </p:nvSpPr>
        <p:spPr>
          <a:xfrm>
            <a:off x="4663440" y="2624328"/>
            <a:ext cx="2926080" cy="320040"/>
          </a:xfrm>
          <a:prstGeom prst="rect">
            <a:avLst/>
          </a:prstGeom>
          <a:noFill/>
          <a:ln/>
        </p:spPr>
        <p:txBody>
          <a:bodyPr wrap="square" lIns="0" tIns="0" rIns="0" bIns="0" rtlCol="0" anchor="ctr"/>
          <a:lstStyle/>
          <a:p>
            <a:pPr marL="0" indent="0">
              <a:buNone/>
            </a:pPr>
            <a:r>
              <a:rPr lang="en-US" sz="1800" b="1" dirty="0">
                <a:solidFill>
                  <a:schemeClr val="tx2"/>
                </a:solidFill>
              </a:rPr>
              <a:t>Scattered communication</a:t>
            </a:r>
            <a:endParaRPr lang="en-US" sz="1800" dirty="0"/>
          </a:p>
        </p:txBody>
      </p:sp>
      <p:sp>
        <p:nvSpPr>
          <p:cNvPr id="11" name="Problem text 1"/>
          <p:cNvSpPr txBox="1"/>
          <p:nvPr/>
        </p:nvSpPr>
        <p:spPr>
          <a:xfrm>
            <a:off x="4663440" y="2971800"/>
            <a:ext cx="2926080" cy="777240"/>
          </a:xfrm>
          <a:prstGeom prst="rect">
            <a:avLst/>
          </a:prstGeom>
          <a:noFill/>
          <a:ln/>
        </p:spPr>
        <p:txBody>
          <a:bodyPr wrap="square" lIns="0" tIns="0" rIns="0" bIns="0" rtlCol="0" anchor="t"/>
          <a:lstStyle/>
          <a:p>
            <a:pPr marL="0" indent="0">
              <a:buNone/>
            </a:pPr>
            <a:r>
              <a:rPr lang="en-US" sz="1400" dirty="0">
                <a:solidFill>
                  <a:schemeClr val="tx1"/>
                </a:solidFill>
              </a:rPr>
              <a:t>Announcements, wishes and notices are spread over many chat groups, so members miss updates.</a:t>
            </a:r>
            <a:endParaRPr lang="en-US" sz="1400" dirty="0"/>
          </a:p>
        </p:txBody>
      </p:sp>
      <p:sp>
        <p:nvSpPr>
          <p:cNvPr id="12" name="Problem card 2"/>
          <p:cNvSpPr/>
          <p:nvPr/>
        </p:nvSpPr>
        <p:spPr>
          <a:xfrm>
            <a:off x="8165592" y="1691640"/>
            <a:ext cx="3474720" cy="2148840"/>
          </a:xfrm>
          <a:prstGeom prst="roundRect">
            <a:avLst>
              <a:gd name="adj" fmla="val 5106"/>
            </a:avLst>
          </a:prstGeom>
          <a:solidFill>
            <a:schemeClr val="bg2"/>
          </a:solidFill>
          <a:ln w="12700">
            <a:solidFill>
              <a:schemeClr val="bg2"/>
            </a:solidFill>
            <a:prstDash val="solid"/>
          </a:ln>
        </p:spPr>
      </p:sp>
      <p:sp>
        <p:nvSpPr>
          <p:cNvPr id="13" name="Icon circle"/>
          <p:cNvSpPr/>
          <p:nvPr/>
        </p:nvSpPr>
        <p:spPr>
          <a:xfrm>
            <a:off x="8439912" y="1947672"/>
            <a:ext cx="566928" cy="566928"/>
          </a:xfrm>
          <a:prstGeom prst="ellipse">
            <a:avLst/>
          </a:prstGeom>
          <a:solidFill>
            <a:schemeClr val="accent1"/>
          </a:solidFill>
          <a:ln w="12700">
            <a:solidFill>
              <a:schemeClr val="accent1"/>
            </a:solidFill>
            <a:prstDash val="solid"/>
          </a:ln>
        </p:spPr>
      </p:sp>
      <p:pic>
        <p:nvPicPr>
          <p:cNvPr id="14" name="Icon FaClipboardList" descr="FaClipboardList"/>
          <p:cNvPicPr>
            <a:picLocks noChangeAspect="1"/>
          </p:cNvPicPr>
          <p:nvPr/>
        </p:nvPicPr>
        <p:blipFill>
          <a:blip r:embed="rId4"/>
          <a:stretch>
            <a:fillRect/>
          </a:stretch>
        </p:blipFill>
        <p:spPr>
          <a:xfrm>
            <a:off x="8592983" y="2100743"/>
            <a:ext cx="260787" cy="260787"/>
          </a:xfrm>
          <a:prstGeom prst="rect">
            <a:avLst/>
          </a:prstGeom>
        </p:spPr>
      </p:pic>
      <p:sp>
        <p:nvSpPr>
          <p:cNvPr id="15" name="Problem title 2"/>
          <p:cNvSpPr txBox="1"/>
          <p:nvPr/>
        </p:nvSpPr>
        <p:spPr>
          <a:xfrm>
            <a:off x="8439912" y="2624328"/>
            <a:ext cx="2926080" cy="320040"/>
          </a:xfrm>
          <a:prstGeom prst="rect">
            <a:avLst/>
          </a:prstGeom>
          <a:noFill/>
          <a:ln/>
        </p:spPr>
        <p:txBody>
          <a:bodyPr wrap="square" lIns="0" tIns="0" rIns="0" bIns="0" rtlCol="0" anchor="ctr"/>
          <a:lstStyle/>
          <a:p>
            <a:pPr marL="0" indent="0">
              <a:buNone/>
            </a:pPr>
            <a:r>
              <a:rPr lang="en-US" sz="1800" b="1" dirty="0">
                <a:solidFill>
                  <a:schemeClr val="tx2"/>
                </a:solidFill>
              </a:rPr>
              <a:t>Manual event management</a:t>
            </a:r>
            <a:endParaRPr lang="en-US" sz="1800" dirty="0"/>
          </a:p>
        </p:txBody>
      </p:sp>
      <p:sp>
        <p:nvSpPr>
          <p:cNvPr id="16" name="Problem text 2"/>
          <p:cNvSpPr txBox="1"/>
          <p:nvPr/>
        </p:nvSpPr>
        <p:spPr>
          <a:xfrm>
            <a:off x="8439912" y="2971800"/>
            <a:ext cx="2926080" cy="777240"/>
          </a:xfrm>
          <a:prstGeom prst="rect">
            <a:avLst/>
          </a:prstGeom>
          <a:noFill/>
          <a:ln/>
        </p:spPr>
        <p:txBody>
          <a:bodyPr wrap="square" lIns="0" tIns="0" rIns="0" bIns="0" rtlCol="0" anchor="t"/>
          <a:lstStyle/>
          <a:p>
            <a:pPr marL="0" indent="0">
              <a:buNone/>
            </a:pPr>
            <a:r>
              <a:rPr lang="en-US" sz="1400" dirty="0">
                <a:solidFill>
                  <a:schemeClr val="tx1"/>
                </a:solidFill>
              </a:rPr>
              <a:t>Events and registrations are handled by hand, with no single list of who is attending.</a:t>
            </a:r>
            <a:endParaRPr lang="en-US" sz="1400" dirty="0"/>
          </a:p>
        </p:txBody>
      </p:sp>
      <p:sp>
        <p:nvSpPr>
          <p:cNvPr id="17" name="Problem card 3"/>
          <p:cNvSpPr/>
          <p:nvPr/>
        </p:nvSpPr>
        <p:spPr>
          <a:xfrm>
            <a:off x="4389120" y="4069080"/>
            <a:ext cx="3474720" cy="2148840"/>
          </a:xfrm>
          <a:prstGeom prst="roundRect">
            <a:avLst>
              <a:gd name="adj" fmla="val 5106"/>
            </a:avLst>
          </a:prstGeom>
          <a:solidFill>
            <a:schemeClr val="bg2"/>
          </a:solidFill>
          <a:ln w="12700">
            <a:solidFill>
              <a:schemeClr val="bg2"/>
            </a:solidFill>
            <a:prstDash val="solid"/>
          </a:ln>
        </p:spPr>
      </p:sp>
      <p:sp>
        <p:nvSpPr>
          <p:cNvPr id="18" name="Icon circle"/>
          <p:cNvSpPr/>
          <p:nvPr/>
        </p:nvSpPr>
        <p:spPr>
          <a:xfrm>
            <a:off x="4663440" y="4325112"/>
            <a:ext cx="566928" cy="566928"/>
          </a:xfrm>
          <a:prstGeom prst="ellipse">
            <a:avLst/>
          </a:prstGeom>
          <a:solidFill>
            <a:schemeClr val="accent1"/>
          </a:solidFill>
          <a:ln w="12700">
            <a:solidFill>
              <a:schemeClr val="accent1"/>
            </a:solidFill>
            <a:prstDash val="solid"/>
          </a:ln>
        </p:spPr>
      </p:sp>
      <p:pic>
        <p:nvPicPr>
          <p:cNvPr id="19" name="Icon FaAddressBook" descr="FaAddressBook"/>
          <p:cNvPicPr>
            <a:picLocks noChangeAspect="1"/>
          </p:cNvPicPr>
          <p:nvPr/>
        </p:nvPicPr>
        <p:blipFill>
          <a:blip r:embed="rId5"/>
          <a:stretch>
            <a:fillRect/>
          </a:stretch>
        </p:blipFill>
        <p:spPr>
          <a:xfrm>
            <a:off x="4816511" y="4478183"/>
            <a:ext cx="260787" cy="260787"/>
          </a:xfrm>
          <a:prstGeom prst="rect">
            <a:avLst/>
          </a:prstGeom>
        </p:spPr>
      </p:pic>
      <p:sp>
        <p:nvSpPr>
          <p:cNvPr id="20" name="Problem title 3"/>
          <p:cNvSpPr txBox="1"/>
          <p:nvPr/>
        </p:nvSpPr>
        <p:spPr>
          <a:xfrm>
            <a:off x="4663440" y="5001768"/>
            <a:ext cx="2926080" cy="320040"/>
          </a:xfrm>
          <a:prstGeom prst="rect">
            <a:avLst/>
          </a:prstGeom>
          <a:noFill/>
          <a:ln/>
        </p:spPr>
        <p:txBody>
          <a:bodyPr wrap="square" lIns="0" tIns="0" rIns="0" bIns="0" rtlCol="0" anchor="ctr"/>
          <a:lstStyle/>
          <a:p>
            <a:pPr marL="0" indent="0">
              <a:buNone/>
            </a:pPr>
            <a:r>
              <a:rPr lang="en-US" sz="1800" b="1" dirty="0">
                <a:solidFill>
                  <a:schemeClr val="tx2"/>
                </a:solidFill>
              </a:rPr>
              <a:t>Unorganised resident data</a:t>
            </a:r>
            <a:endParaRPr lang="en-US" sz="1800" dirty="0"/>
          </a:p>
        </p:txBody>
      </p:sp>
      <p:sp>
        <p:nvSpPr>
          <p:cNvPr id="21" name="Problem text 3"/>
          <p:cNvSpPr txBox="1"/>
          <p:nvPr/>
        </p:nvSpPr>
        <p:spPr>
          <a:xfrm>
            <a:off x="4663440" y="5349240"/>
            <a:ext cx="2926080" cy="777240"/>
          </a:xfrm>
          <a:prstGeom prst="rect">
            <a:avLst/>
          </a:prstGeom>
          <a:noFill/>
          <a:ln/>
        </p:spPr>
        <p:txBody>
          <a:bodyPr wrap="square" lIns="0" tIns="0" rIns="0" bIns="0" rtlCol="0" anchor="t"/>
          <a:lstStyle/>
          <a:p>
            <a:pPr marL="0" indent="0">
              <a:buNone/>
            </a:pPr>
            <a:r>
              <a:rPr lang="en-US" sz="1400" dirty="0">
                <a:solidFill>
                  <a:schemeClr val="tx1"/>
                </a:solidFill>
              </a:rPr>
              <a:t>Member details sit in notebooks and sheets that are hard to search, update or trust.</a:t>
            </a:r>
            <a:endParaRPr lang="en-US" sz="1400" dirty="0"/>
          </a:p>
        </p:txBody>
      </p:sp>
      <p:sp>
        <p:nvSpPr>
          <p:cNvPr id="22" name="Problem card 4"/>
          <p:cNvSpPr/>
          <p:nvPr/>
        </p:nvSpPr>
        <p:spPr>
          <a:xfrm>
            <a:off x="8165592" y="4069080"/>
            <a:ext cx="3474720" cy="2148840"/>
          </a:xfrm>
          <a:prstGeom prst="roundRect">
            <a:avLst>
              <a:gd name="adj" fmla="val 5106"/>
            </a:avLst>
          </a:prstGeom>
          <a:solidFill>
            <a:schemeClr val="bg2"/>
          </a:solidFill>
          <a:ln w="12700">
            <a:solidFill>
              <a:schemeClr val="bg2"/>
            </a:solidFill>
            <a:prstDash val="solid"/>
          </a:ln>
        </p:spPr>
      </p:sp>
      <p:sp>
        <p:nvSpPr>
          <p:cNvPr id="23" name="Icon circle"/>
          <p:cNvSpPr/>
          <p:nvPr/>
        </p:nvSpPr>
        <p:spPr>
          <a:xfrm>
            <a:off x="8439912" y="4325112"/>
            <a:ext cx="566928" cy="566928"/>
          </a:xfrm>
          <a:prstGeom prst="ellipse">
            <a:avLst/>
          </a:prstGeom>
          <a:solidFill>
            <a:schemeClr val="accent1"/>
          </a:solidFill>
          <a:ln w="12700">
            <a:solidFill>
              <a:schemeClr val="accent1"/>
            </a:solidFill>
            <a:prstDash val="solid"/>
          </a:ln>
        </p:spPr>
      </p:sp>
      <p:pic>
        <p:nvPicPr>
          <p:cNvPr id="24" name="Icon FaLayerGroup" descr="FaLayerGroup"/>
          <p:cNvPicPr>
            <a:picLocks noChangeAspect="1"/>
          </p:cNvPicPr>
          <p:nvPr/>
        </p:nvPicPr>
        <p:blipFill>
          <a:blip r:embed="rId6"/>
          <a:stretch>
            <a:fillRect/>
          </a:stretch>
        </p:blipFill>
        <p:spPr>
          <a:xfrm>
            <a:off x="8592983" y="4478183"/>
            <a:ext cx="260787" cy="260787"/>
          </a:xfrm>
          <a:prstGeom prst="rect">
            <a:avLst/>
          </a:prstGeom>
        </p:spPr>
      </p:pic>
      <p:sp>
        <p:nvSpPr>
          <p:cNvPr id="25" name="Problem title 4"/>
          <p:cNvSpPr txBox="1"/>
          <p:nvPr/>
        </p:nvSpPr>
        <p:spPr>
          <a:xfrm>
            <a:off x="8439912" y="5001768"/>
            <a:ext cx="2926080" cy="320040"/>
          </a:xfrm>
          <a:prstGeom prst="rect">
            <a:avLst/>
          </a:prstGeom>
          <a:noFill/>
          <a:ln/>
        </p:spPr>
        <p:txBody>
          <a:bodyPr wrap="square" lIns="0" tIns="0" rIns="0" bIns="0" rtlCol="0" anchor="ctr"/>
          <a:lstStyle/>
          <a:p>
            <a:pPr marL="0" indent="0">
              <a:buNone/>
            </a:pPr>
            <a:r>
              <a:rPr lang="en-US" sz="1800" b="1" dirty="0">
                <a:solidFill>
                  <a:schemeClr val="tx2"/>
                </a:solidFill>
              </a:rPr>
              <a:t>No central access to services</a:t>
            </a:r>
            <a:endParaRPr lang="en-US" sz="1800" dirty="0"/>
          </a:p>
        </p:txBody>
      </p:sp>
      <p:sp>
        <p:nvSpPr>
          <p:cNvPr id="26" name="Problem text 4"/>
          <p:cNvSpPr txBox="1"/>
          <p:nvPr/>
        </p:nvSpPr>
        <p:spPr>
          <a:xfrm>
            <a:off x="8439912" y="5349240"/>
            <a:ext cx="2926080" cy="777240"/>
          </a:xfrm>
          <a:prstGeom prst="rect">
            <a:avLst/>
          </a:prstGeom>
          <a:noFill/>
          <a:ln/>
        </p:spPr>
        <p:txBody>
          <a:bodyPr wrap="square" lIns="0" tIns="0" rIns="0" bIns="0" rtlCol="0" anchor="t"/>
          <a:lstStyle/>
          <a:p>
            <a:pPr marL="0" indent="0">
              <a:buNone/>
            </a:pPr>
            <a:r>
              <a:rPr lang="en-US" sz="1400" dirty="0">
                <a:solidFill>
                  <a:schemeClr val="tx1"/>
                </a:solidFill>
              </a:rPr>
              <a:t>Directory, family records, matrimony and events live in different places.</a:t>
            </a:r>
            <a:endParaRPr lang="en-US" sz="1400" dirty="0"/>
          </a:p>
        </p:txBody>
      </p:sp>
      <p:sp>
        <p:nvSpPr>
          <p:cNvPr id="27"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47472"/>
            <a:ext cx="8229600" cy="274320"/>
          </a:xfrm>
          <a:prstGeom prst="rect">
            <a:avLst/>
          </a:prstGeom>
          <a:noFill/>
          <a:ln/>
        </p:spPr>
        <p:txBody>
          <a:bodyPr wrap="square" lIns="0" tIns="0" rIns="0" bIns="0" rtlCol="0" anchor="ctr"/>
          <a:lstStyle/>
          <a:p>
            <a:pPr marL="0" indent="0">
              <a:buNone/>
            </a:pPr>
            <a:r>
              <a:rPr lang="en-US" sz="1400" b="1" kern="0" spc="200" dirty="0">
                <a:solidFill>
                  <a:schemeClr val="accent1"/>
                </a:solidFill>
              </a:rPr>
              <a:t>03  |  PROPOSED SOLUTION</a:t>
            </a:r>
            <a:endParaRPr lang="en-US" sz="1400" dirty="0"/>
          </a:p>
        </p:txBody>
      </p:sp>
      <p:sp>
        <p:nvSpPr>
          <p:cNvPr id="3" name="Text 1"/>
          <p:cNvSpPr>
            <a:spLocks noGrp="1"/>
          </p:cNvSpPr>
          <p:nvPr>
            <p:ph type="title" idx="101" hasCustomPrompt="1"/>
          </p:nvPr>
        </p:nvSpPr>
        <p:spPr>
          <a:xfrm>
            <a:off x="548640" y="640080"/>
            <a:ext cx="11091672" cy="777240"/>
          </a:xfrm>
          <a:prstGeom prst="rect">
            <a:avLst/>
          </a:prstGeom>
          <a:noFill/>
          <a:ln/>
        </p:spPr>
        <p:txBody>
          <a:bodyPr wrap="square" lIns="0" tIns="0" rIns="0" bIns="0" rtlCol="0" anchor="ctr"/>
          <a:lstStyle/>
          <a:p>
            <a:pPr marL="0" indent="0" algn="l">
              <a:buNone/>
            </a:pPr>
            <a:r>
              <a:rPr lang="en-US" sz="3400" b="1" dirty="0">
                <a:solidFill>
                  <a:schemeClr val="tx2"/>
                </a:solidFill>
              </a:rPr>
              <a:t>Introducing KutumbSetu</a:t>
            </a:r>
            <a:endParaRPr lang="en-US" sz="3400" dirty="0"/>
          </a:p>
        </p:txBody>
      </p:sp>
      <p:sp>
        <p:nvSpPr>
          <p:cNvPr id="4" name="Solution tagline"/>
          <p:cNvSpPr txBox="1"/>
          <p:nvPr/>
        </p:nvSpPr>
        <p:spPr>
          <a:xfrm>
            <a:off x="548640" y="1554480"/>
            <a:ext cx="6583680" cy="685800"/>
          </a:xfrm>
          <a:prstGeom prst="rect">
            <a:avLst/>
          </a:prstGeom>
          <a:noFill/>
          <a:ln/>
        </p:spPr>
        <p:txBody>
          <a:bodyPr wrap="square" lIns="0" tIns="0" rIns="0" bIns="0" rtlCol="0" anchor="t"/>
          <a:lstStyle/>
          <a:p>
            <a:pPr marL="0" indent="0">
              <a:buNone/>
            </a:pPr>
            <a:r>
              <a:rPr lang="en-US" sz="1800" i="1" dirty="0">
                <a:solidFill>
                  <a:schemeClr val="accent1"/>
                </a:solidFill>
              </a:rPr>
              <a:t>One mobile platform that brings the whole community, its events and its records together.</a:t>
            </a:r>
            <a:endParaRPr lang="en-US" sz="1800" dirty="0"/>
          </a:p>
        </p:txBody>
      </p:sp>
      <p:sp>
        <p:nvSpPr>
          <p:cNvPr id="5" name="Icon circle"/>
          <p:cNvSpPr/>
          <p:nvPr/>
        </p:nvSpPr>
        <p:spPr>
          <a:xfrm>
            <a:off x="548640" y="2377440"/>
            <a:ext cx="548640" cy="548640"/>
          </a:xfrm>
          <a:prstGeom prst="ellipse">
            <a:avLst/>
          </a:prstGeom>
          <a:solidFill>
            <a:schemeClr val="accent1"/>
          </a:solidFill>
          <a:ln w="12700">
            <a:solidFill>
              <a:schemeClr val="accent1"/>
            </a:solidFill>
            <a:prstDash val="solid"/>
          </a:ln>
        </p:spPr>
      </p:sp>
      <p:pic>
        <p:nvPicPr>
          <p:cNvPr id="6" name="Icon FaMobileAlt" descr="FaMobileAlt"/>
          <p:cNvPicPr>
            <a:picLocks noChangeAspect="1"/>
          </p:cNvPicPr>
          <p:nvPr/>
        </p:nvPicPr>
        <p:blipFill>
          <a:blip r:embed="rId3"/>
          <a:stretch>
            <a:fillRect/>
          </a:stretch>
        </p:blipFill>
        <p:spPr>
          <a:xfrm>
            <a:off x="696773" y="2525573"/>
            <a:ext cx="252374" cy="252374"/>
          </a:xfrm>
          <a:prstGeom prst="rect">
            <a:avLst/>
          </a:prstGeom>
        </p:spPr>
      </p:pic>
      <p:sp>
        <p:nvSpPr>
          <p:cNvPr id="7" name="Solution item 1"/>
          <p:cNvSpPr txBox="1"/>
          <p:nvPr/>
        </p:nvSpPr>
        <p:spPr>
          <a:xfrm>
            <a:off x="1298448" y="2340864"/>
            <a:ext cx="5852160" cy="640080"/>
          </a:xfrm>
          <a:prstGeom prst="rect">
            <a:avLst/>
          </a:prstGeom>
          <a:noFill/>
          <a:ln/>
        </p:spPr>
        <p:txBody>
          <a:bodyPr wrap="square" lIns="0" tIns="0" rIns="0" bIns="0" rtlCol="0" anchor="ctr"/>
          <a:lstStyle/>
          <a:p>
            <a:pPr marL="0" indent="0">
              <a:buNone/>
            </a:pPr>
            <a:r>
              <a:rPr lang="en-US" sz="1700" b="1" dirty="0">
                <a:solidFill>
                  <a:schemeClr val="tx2"/>
                </a:solidFill>
              </a:rPr>
              <a:t>Unified mobile application</a:t>
            </a:r>
            <a:endParaRPr lang="en-US" sz="1700" dirty="0"/>
          </a:p>
          <a:p>
            <a:pPr marL="0" indent="0">
              <a:buNone/>
            </a:pPr>
            <a:r>
              <a:rPr lang="en-US" sz="1400" dirty="0">
                <a:solidFill>
                  <a:schemeClr val="tx1"/>
                </a:solidFill>
              </a:rPr>
              <a:t>Family tree, directory, events, news and matrimony in one app</a:t>
            </a:r>
            <a:endParaRPr lang="en-US" sz="1700" dirty="0"/>
          </a:p>
        </p:txBody>
      </p:sp>
      <p:sp>
        <p:nvSpPr>
          <p:cNvPr id="8" name="Icon circle"/>
          <p:cNvSpPr/>
          <p:nvPr/>
        </p:nvSpPr>
        <p:spPr>
          <a:xfrm>
            <a:off x="548640" y="3145536"/>
            <a:ext cx="548640" cy="548640"/>
          </a:xfrm>
          <a:prstGeom prst="ellipse">
            <a:avLst/>
          </a:prstGeom>
          <a:solidFill>
            <a:schemeClr val="accent1"/>
          </a:solidFill>
          <a:ln w="12700">
            <a:solidFill>
              <a:schemeClr val="accent1"/>
            </a:solidFill>
            <a:prstDash val="solid"/>
          </a:ln>
        </p:spPr>
      </p:sp>
      <p:pic>
        <p:nvPicPr>
          <p:cNvPr id="9" name="Icon FaUserShield" descr="FaUserShield"/>
          <p:cNvPicPr>
            <a:picLocks noChangeAspect="1"/>
          </p:cNvPicPr>
          <p:nvPr/>
        </p:nvPicPr>
        <p:blipFill>
          <a:blip r:embed="rId4"/>
          <a:stretch>
            <a:fillRect/>
          </a:stretch>
        </p:blipFill>
        <p:spPr>
          <a:xfrm>
            <a:off x="696773" y="3293669"/>
            <a:ext cx="252374" cy="252374"/>
          </a:xfrm>
          <a:prstGeom prst="rect">
            <a:avLst/>
          </a:prstGeom>
        </p:spPr>
      </p:pic>
      <p:sp>
        <p:nvSpPr>
          <p:cNvPr id="10" name="Solution item 2"/>
          <p:cNvSpPr txBox="1"/>
          <p:nvPr/>
        </p:nvSpPr>
        <p:spPr>
          <a:xfrm>
            <a:off x="1298448" y="3108960"/>
            <a:ext cx="5852160" cy="640080"/>
          </a:xfrm>
          <a:prstGeom prst="rect">
            <a:avLst/>
          </a:prstGeom>
          <a:noFill/>
          <a:ln/>
        </p:spPr>
        <p:txBody>
          <a:bodyPr wrap="square" lIns="0" tIns="0" rIns="0" bIns="0" rtlCol="0" anchor="ctr"/>
          <a:lstStyle/>
          <a:p>
            <a:pPr marL="0" indent="0">
              <a:buNone/>
            </a:pPr>
            <a:r>
              <a:rPr lang="en-US" sz="1700" b="1" dirty="0">
                <a:solidFill>
                  <a:schemeClr val="tx2"/>
                </a:solidFill>
              </a:rPr>
              <a:t>Secure user authentication</a:t>
            </a:r>
            <a:endParaRPr lang="en-US" sz="1700" dirty="0"/>
          </a:p>
          <a:p>
            <a:pPr marL="0" indent="0">
              <a:buNone/>
            </a:pPr>
            <a:r>
              <a:rPr lang="en-US" sz="1400" dirty="0">
                <a:solidFill>
                  <a:schemeClr val="tx1"/>
                </a:solidFill>
              </a:rPr>
              <a:t>Email OTP sign-in, plus a separate admin login</a:t>
            </a:r>
            <a:endParaRPr lang="en-US" sz="1700" dirty="0"/>
          </a:p>
        </p:txBody>
      </p:sp>
      <p:sp>
        <p:nvSpPr>
          <p:cNvPr id="11" name="Icon circle"/>
          <p:cNvSpPr/>
          <p:nvPr/>
        </p:nvSpPr>
        <p:spPr>
          <a:xfrm>
            <a:off x="548640" y="3913632"/>
            <a:ext cx="548640" cy="548640"/>
          </a:xfrm>
          <a:prstGeom prst="ellipse">
            <a:avLst/>
          </a:prstGeom>
          <a:solidFill>
            <a:schemeClr val="accent1"/>
          </a:solidFill>
          <a:ln w="12700">
            <a:solidFill>
              <a:schemeClr val="accent1"/>
            </a:solidFill>
            <a:prstDash val="solid"/>
          </a:ln>
        </p:spPr>
      </p:sp>
      <p:pic>
        <p:nvPicPr>
          <p:cNvPr id="12" name="Icon FaDatabase" descr="FaDatabase"/>
          <p:cNvPicPr>
            <a:picLocks noChangeAspect="1"/>
          </p:cNvPicPr>
          <p:nvPr/>
        </p:nvPicPr>
        <p:blipFill>
          <a:blip r:embed="rId5"/>
          <a:stretch>
            <a:fillRect/>
          </a:stretch>
        </p:blipFill>
        <p:spPr>
          <a:xfrm>
            <a:off x="696773" y="4061765"/>
            <a:ext cx="252374" cy="252374"/>
          </a:xfrm>
          <a:prstGeom prst="rect">
            <a:avLst/>
          </a:prstGeom>
        </p:spPr>
      </p:pic>
      <p:sp>
        <p:nvSpPr>
          <p:cNvPr id="13" name="Solution item 3"/>
          <p:cNvSpPr txBox="1"/>
          <p:nvPr/>
        </p:nvSpPr>
        <p:spPr>
          <a:xfrm>
            <a:off x="1298448" y="3877056"/>
            <a:ext cx="5852160" cy="640080"/>
          </a:xfrm>
          <a:prstGeom prst="rect">
            <a:avLst/>
          </a:prstGeom>
          <a:noFill/>
          <a:ln/>
        </p:spPr>
        <p:txBody>
          <a:bodyPr wrap="square" lIns="0" tIns="0" rIns="0" bIns="0" rtlCol="0" anchor="ctr"/>
          <a:lstStyle/>
          <a:p>
            <a:pPr marL="0" indent="0">
              <a:buNone/>
            </a:pPr>
            <a:r>
              <a:rPr lang="en-US" sz="1700" b="1" dirty="0">
                <a:solidFill>
                  <a:schemeClr val="tx2"/>
                </a:solidFill>
              </a:rPr>
              <a:t>Centralised community information</a:t>
            </a:r>
            <a:endParaRPr lang="en-US" sz="1700" dirty="0"/>
          </a:p>
          <a:p>
            <a:pPr marL="0" indent="0">
              <a:buNone/>
            </a:pPr>
            <a:r>
              <a:rPr lang="en-US" sz="1400" dirty="0">
                <a:solidFill>
                  <a:schemeClr val="tx1"/>
                </a:solidFill>
              </a:rPr>
              <a:t>Member profiles and records stored in one database</a:t>
            </a:r>
            <a:endParaRPr lang="en-US" sz="1700" dirty="0"/>
          </a:p>
        </p:txBody>
      </p:sp>
      <p:sp>
        <p:nvSpPr>
          <p:cNvPr id="14" name="Icon circle"/>
          <p:cNvSpPr/>
          <p:nvPr/>
        </p:nvSpPr>
        <p:spPr>
          <a:xfrm>
            <a:off x="548640" y="4681728"/>
            <a:ext cx="548640" cy="548640"/>
          </a:xfrm>
          <a:prstGeom prst="ellipse">
            <a:avLst/>
          </a:prstGeom>
          <a:solidFill>
            <a:schemeClr val="accent1"/>
          </a:solidFill>
          <a:ln w="12700">
            <a:solidFill>
              <a:schemeClr val="accent1"/>
            </a:solidFill>
            <a:prstDash val="solid"/>
          </a:ln>
        </p:spPr>
      </p:sp>
      <p:pic>
        <p:nvPicPr>
          <p:cNvPr id="15" name="Icon FaCalendarCheck" descr="FaCalendarCheck"/>
          <p:cNvPicPr>
            <a:picLocks noChangeAspect="1"/>
          </p:cNvPicPr>
          <p:nvPr/>
        </p:nvPicPr>
        <p:blipFill>
          <a:blip r:embed="rId6"/>
          <a:stretch>
            <a:fillRect/>
          </a:stretch>
        </p:blipFill>
        <p:spPr>
          <a:xfrm>
            <a:off x="696773" y="4829861"/>
            <a:ext cx="252374" cy="252374"/>
          </a:xfrm>
          <a:prstGeom prst="rect">
            <a:avLst/>
          </a:prstGeom>
        </p:spPr>
      </p:pic>
      <p:sp>
        <p:nvSpPr>
          <p:cNvPr id="16" name="Solution item 4"/>
          <p:cNvSpPr txBox="1"/>
          <p:nvPr/>
        </p:nvSpPr>
        <p:spPr>
          <a:xfrm>
            <a:off x="1298448" y="4645152"/>
            <a:ext cx="5852160" cy="640080"/>
          </a:xfrm>
          <a:prstGeom prst="rect">
            <a:avLst/>
          </a:prstGeom>
          <a:noFill/>
          <a:ln/>
        </p:spPr>
        <p:txBody>
          <a:bodyPr wrap="square" lIns="0" tIns="0" rIns="0" bIns="0" rtlCol="0" anchor="ctr"/>
          <a:lstStyle/>
          <a:p>
            <a:pPr marL="0" indent="0">
              <a:buNone/>
            </a:pPr>
            <a:r>
              <a:rPr lang="en-US" sz="1700" b="1" dirty="0">
                <a:solidFill>
                  <a:schemeClr val="tx2"/>
                </a:solidFill>
              </a:rPr>
              <a:t>Organised event participation</a:t>
            </a:r>
            <a:endParaRPr lang="en-US" sz="1700" dirty="0"/>
          </a:p>
          <a:p>
            <a:pPr marL="0" indent="0">
              <a:buNone/>
            </a:pPr>
            <a:r>
              <a:rPr lang="en-US" sz="1400" dirty="0">
                <a:solidFill>
                  <a:schemeClr val="tx1"/>
                </a:solidFill>
              </a:rPr>
              <a:t>Browse campaigns, register and get a unique ID</a:t>
            </a:r>
            <a:endParaRPr lang="en-US" sz="1700" dirty="0"/>
          </a:p>
        </p:txBody>
      </p:sp>
      <p:sp>
        <p:nvSpPr>
          <p:cNvPr id="17" name="Icon circle"/>
          <p:cNvSpPr/>
          <p:nvPr/>
        </p:nvSpPr>
        <p:spPr>
          <a:xfrm>
            <a:off x="548640" y="5449824"/>
            <a:ext cx="548640" cy="548640"/>
          </a:xfrm>
          <a:prstGeom prst="ellipse">
            <a:avLst/>
          </a:prstGeom>
          <a:solidFill>
            <a:schemeClr val="accent1"/>
          </a:solidFill>
          <a:ln w="12700">
            <a:solidFill>
              <a:schemeClr val="accent1"/>
            </a:solidFill>
            <a:prstDash val="solid"/>
          </a:ln>
        </p:spPr>
      </p:sp>
      <p:pic>
        <p:nvPicPr>
          <p:cNvPr id="18" name="Icon FaSmile" descr="FaSmile"/>
          <p:cNvPicPr>
            <a:picLocks noChangeAspect="1"/>
          </p:cNvPicPr>
          <p:nvPr/>
        </p:nvPicPr>
        <p:blipFill>
          <a:blip r:embed="rId7"/>
          <a:stretch>
            <a:fillRect/>
          </a:stretch>
        </p:blipFill>
        <p:spPr>
          <a:xfrm>
            <a:off x="696773" y="5597957"/>
            <a:ext cx="252374" cy="252374"/>
          </a:xfrm>
          <a:prstGeom prst="rect">
            <a:avLst/>
          </a:prstGeom>
        </p:spPr>
      </p:pic>
      <p:sp>
        <p:nvSpPr>
          <p:cNvPr id="19" name="Solution item 5"/>
          <p:cNvSpPr txBox="1"/>
          <p:nvPr/>
        </p:nvSpPr>
        <p:spPr>
          <a:xfrm>
            <a:off x="1298448" y="5413248"/>
            <a:ext cx="5852160" cy="640080"/>
          </a:xfrm>
          <a:prstGeom prst="rect">
            <a:avLst/>
          </a:prstGeom>
          <a:noFill/>
          <a:ln/>
        </p:spPr>
        <p:txBody>
          <a:bodyPr wrap="square" lIns="0" tIns="0" rIns="0" bIns="0" rtlCol="0" anchor="ctr"/>
          <a:lstStyle/>
          <a:p>
            <a:pPr marL="0" indent="0">
              <a:buNone/>
            </a:pPr>
            <a:r>
              <a:rPr lang="en-US" sz="1700" b="1" dirty="0">
                <a:solidFill>
                  <a:schemeClr val="tx2"/>
                </a:solidFill>
              </a:rPr>
              <a:t>A convenient user experience</a:t>
            </a:r>
            <a:endParaRPr lang="en-US" sz="1700" dirty="0"/>
          </a:p>
          <a:p>
            <a:pPr marL="0" indent="0">
              <a:buNone/>
            </a:pPr>
            <a:r>
              <a:rPr lang="en-US" sz="1400" dirty="0">
                <a:solidFill>
                  <a:schemeClr val="tx1"/>
                </a:solidFill>
              </a:rPr>
              <a:t>Simple screens, English/regional language and dark mode</a:t>
            </a:r>
            <a:endParaRPr lang="en-US" sz="1700" dirty="0"/>
          </a:p>
        </p:txBody>
      </p:sp>
      <p:sp>
        <p:nvSpPr>
          <p:cNvPr id="20" name="Phone panel"/>
          <p:cNvSpPr/>
          <p:nvPr/>
        </p:nvSpPr>
        <p:spPr>
          <a:xfrm>
            <a:off x="7406640" y="1554480"/>
            <a:ext cx="4233672" cy="4754880"/>
          </a:xfrm>
          <a:prstGeom prst="roundRect">
            <a:avLst>
              <a:gd name="adj" fmla="val 2592"/>
            </a:avLst>
          </a:prstGeom>
          <a:solidFill>
            <a:schemeClr val="bg2"/>
          </a:solidFill>
          <a:ln w="12700">
            <a:solidFill>
              <a:schemeClr val="bg2"/>
            </a:solidFill>
            <a:prstDash val="solid"/>
          </a:ln>
        </p:spPr>
      </p:sp>
      <p:pic>
        <p:nvPicPr>
          <p:cNvPr id="21" name="Phone login" descr="App screenshot: login"/>
          <p:cNvPicPr>
            <a:picLocks noChangeAspect="1"/>
          </p:cNvPicPr>
          <p:nvPr/>
        </p:nvPicPr>
        <p:blipFill>
          <a:blip r:embed="rId8"/>
          <a:stretch>
            <a:fillRect/>
          </a:stretch>
        </p:blipFill>
        <p:spPr>
          <a:xfrm>
            <a:off x="7607808" y="1737360"/>
            <a:ext cx="1914861" cy="4069080"/>
          </a:xfrm>
          <a:prstGeom prst="rect">
            <a:avLst/>
          </a:prstGeom>
        </p:spPr>
      </p:pic>
      <p:pic>
        <p:nvPicPr>
          <p:cNvPr id="22" name="Phone home" descr="App screenshot: home"/>
          <p:cNvPicPr>
            <a:picLocks noChangeAspect="1"/>
          </p:cNvPicPr>
          <p:nvPr/>
        </p:nvPicPr>
        <p:blipFill>
          <a:blip r:embed="rId9"/>
          <a:stretch>
            <a:fillRect/>
          </a:stretch>
        </p:blipFill>
        <p:spPr>
          <a:xfrm>
            <a:off x="9738360" y="1737360"/>
            <a:ext cx="1914861" cy="4069080"/>
          </a:xfrm>
          <a:prstGeom prst="rect">
            <a:avLst/>
          </a:prstGeom>
        </p:spPr>
      </p:pic>
      <p:sp>
        <p:nvSpPr>
          <p:cNvPr id="23" name="Caption"/>
          <p:cNvSpPr txBox="1"/>
          <p:nvPr/>
        </p:nvSpPr>
        <p:spPr>
          <a:xfrm>
            <a:off x="7607808" y="5870448"/>
            <a:ext cx="1911096" cy="274320"/>
          </a:xfrm>
          <a:prstGeom prst="rect">
            <a:avLst/>
          </a:prstGeom>
          <a:noFill/>
          <a:ln/>
        </p:spPr>
        <p:txBody>
          <a:bodyPr wrap="square" lIns="0" tIns="0" rIns="0" bIns="0" rtlCol="0" anchor="ctr"/>
          <a:lstStyle/>
          <a:p>
            <a:pPr marL="0" indent="0" algn="ctr">
              <a:buNone/>
            </a:pPr>
            <a:r>
              <a:rPr lang="en-US" sz="1200" dirty="0">
                <a:solidFill>
                  <a:schemeClr val="tx1"/>
                </a:solidFill>
              </a:rPr>
              <a:t>Email OTP sign-in</a:t>
            </a:r>
            <a:endParaRPr lang="en-US" sz="1200" dirty="0"/>
          </a:p>
        </p:txBody>
      </p:sp>
      <p:sp>
        <p:nvSpPr>
          <p:cNvPr id="24" name="Caption"/>
          <p:cNvSpPr txBox="1"/>
          <p:nvPr/>
        </p:nvSpPr>
        <p:spPr>
          <a:xfrm>
            <a:off x="9738360" y="5870448"/>
            <a:ext cx="1911096" cy="274320"/>
          </a:xfrm>
          <a:prstGeom prst="rect">
            <a:avLst/>
          </a:prstGeom>
          <a:noFill/>
          <a:ln/>
        </p:spPr>
        <p:txBody>
          <a:bodyPr wrap="square" lIns="0" tIns="0" rIns="0" bIns="0" rtlCol="0" anchor="ctr"/>
          <a:lstStyle/>
          <a:p>
            <a:pPr marL="0" indent="0" algn="ctr">
              <a:buNone/>
            </a:pPr>
            <a:r>
              <a:rPr lang="en-US" sz="1200" dirty="0">
                <a:solidFill>
                  <a:schemeClr val="tx1"/>
                </a:solidFill>
              </a:rPr>
              <a:t>Home dashboard</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47472"/>
            <a:ext cx="8229600" cy="274320"/>
          </a:xfrm>
          <a:prstGeom prst="rect">
            <a:avLst/>
          </a:prstGeom>
          <a:noFill/>
          <a:ln/>
        </p:spPr>
        <p:txBody>
          <a:bodyPr wrap="square" lIns="0" tIns="0" rIns="0" bIns="0" rtlCol="0" anchor="ctr"/>
          <a:lstStyle/>
          <a:p>
            <a:pPr marL="0" indent="0">
              <a:buNone/>
            </a:pPr>
            <a:r>
              <a:rPr lang="en-US" sz="1400" b="1" kern="0" spc="200" dirty="0">
                <a:solidFill>
                  <a:schemeClr val="accent1"/>
                </a:solidFill>
              </a:rPr>
              <a:t>04  |  KEY FEATURES</a:t>
            </a:r>
            <a:endParaRPr lang="en-US" sz="1400" dirty="0"/>
          </a:p>
        </p:txBody>
      </p:sp>
      <p:sp>
        <p:nvSpPr>
          <p:cNvPr id="3" name="Text 1"/>
          <p:cNvSpPr>
            <a:spLocks noGrp="1"/>
          </p:cNvSpPr>
          <p:nvPr>
            <p:ph type="title" idx="101" hasCustomPrompt="1"/>
          </p:nvPr>
        </p:nvSpPr>
        <p:spPr>
          <a:xfrm>
            <a:off x="548640" y="640080"/>
            <a:ext cx="11091672" cy="777240"/>
          </a:xfrm>
          <a:prstGeom prst="rect">
            <a:avLst/>
          </a:prstGeom>
          <a:noFill/>
          <a:ln/>
        </p:spPr>
        <p:txBody>
          <a:bodyPr wrap="square" lIns="0" tIns="0" rIns="0" bIns="0" rtlCol="0" anchor="ctr"/>
          <a:lstStyle/>
          <a:p>
            <a:pPr marL="0" indent="0" algn="l">
              <a:buNone/>
            </a:pPr>
            <a:r>
              <a:rPr lang="en-US" sz="3400" b="1" dirty="0">
                <a:solidFill>
                  <a:schemeClr val="tx2"/>
                </a:solidFill>
              </a:rPr>
              <a:t>Core Features and Functionalities</a:t>
            </a:r>
            <a:endParaRPr lang="en-US" sz="3400" dirty="0"/>
          </a:p>
        </p:txBody>
      </p:sp>
      <p:sp>
        <p:nvSpPr>
          <p:cNvPr id="4" name="Feature card 1"/>
          <p:cNvSpPr/>
          <p:nvPr/>
        </p:nvSpPr>
        <p:spPr>
          <a:xfrm>
            <a:off x="548640" y="1600200"/>
            <a:ext cx="3246120" cy="1143000"/>
          </a:xfrm>
          <a:prstGeom prst="roundRect">
            <a:avLst>
              <a:gd name="adj" fmla="val 9600"/>
            </a:avLst>
          </a:prstGeom>
          <a:solidFill>
            <a:schemeClr val="bg2"/>
          </a:solidFill>
          <a:ln w="12700">
            <a:solidFill>
              <a:schemeClr val="bg2"/>
            </a:solidFill>
            <a:prstDash val="solid"/>
          </a:ln>
        </p:spPr>
      </p:sp>
      <p:sp>
        <p:nvSpPr>
          <p:cNvPr id="5" name="Icon circle"/>
          <p:cNvSpPr/>
          <p:nvPr/>
        </p:nvSpPr>
        <p:spPr>
          <a:xfrm>
            <a:off x="731520" y="1920240"/>
            <a:ext cx="530352" cy="530352"/>
          </a:xfrm>
          <a:prstGeom prst="ellipse">
            <a:avLst/>
          </a:prstGeom>
          <a:solidFill>
            <a:schemeClr val="accent1"/>
          </a:solidFill>
          <a:ln w="12700">
            <a:solidFill>
              <a:schemeClr val="accent1"/>
            </a:solidFill>
            <a:prstDash val="solid"/>
          </a:ln>
        </p:spPr>
      </p:sp>
      <p:pic>
        <p:nvPicPr>
          <p:cNvPr id="6" name="Icon FaEnvelopeOpenText" descr="FaEnvelopeOpenText"/>
          <p:cNvPicPr>
            <a:picLocks noChangeAspect="1"/>
          </p:cNvPicPr>
          <p:nvPr/>
        </p:nvPicPr>
        <p:blipFill>
          <a:blip r:embed="rId3"/>
          <a:stretch>
            <a:fillRect/>
          </a:stretch>
        </p:blipFill>
        <p:spPr>
          <a:xfrm>
            <a:off x="874715" y="2063435"/>
            <a:ext cx="243962" cy="243962"/>
          </a:xfrm>
          <a:prstGeom prst="rect">
            <a:avLst/>
          </a:prstGeom>
        </p:spPr>
      </p:pic>
      <p:sp>
        <p:nvSpPr>
          <p:cNvPr id="7" name="Feature text 1"/>
          <p:cNvSpPr txBox="1"/>
          <p:nvPr/>
        </p:nvSpPr>
        <p:spPr>
          <a:xfrm>
            <a:off x="1389888" y="1673352"/>
            <a:ext cx="2286000" cy="996696"/>
          </a:xfrm>
          <a:prstGeom prst="rect">
            <a:avLst/>
          </a:prstGeom>
          <a:noFill/>
          <a:ln/>
        </p:spPr>
        <p:txBody>
          <a:bodyPr wrap="square" lIns="0" tIns="0" rIns="0" bIns="0" rtlCol="0" anchor="ctr"/>
          <a:lstStyle/>
          <a:p>
            <a:pPr marL="0" indent="0">
              <a:buNone/>
            </a:pPr>
            <a:r>
              <a:rPr lang="en-US" sz="1500" b="1" dirty="0">
                <a:solidFill>
                  <a:schemeClr val="tx2"/>
                </a:solidFill>
              </a:rPr>
              <a:t>Email OTP login</a:t>
            </a:r>
            <a:endParaRPr lang="en-US" sz="1500" dirty="0"/>
          </a:p>
          <a:p>
            <a:pPr marL="0" indent="0">
              <a:buNone/>
            </a:pPr>
            <a:r>
              <a:rPr lang="en-US" sz="1400" dirty="0">
                <a:solidFill>
                  <a:schemeClr val="tx1"/>
                </a:solidFill>
              </a:rPr>
              <a:t>Passwordless sign-in verified by a one-time code</a:t>
            </a:r>
            <a:endParaRPr lang="en-US" sz="1500" dirty="0"/>
          </a:p>
        </p:txBody>
      </p:sp>
      <p:sp>
        <p:nvSpPr>
          <p:cNvPr id="8" name="Feature card 2"/>
          <p:cNvSpPr/>
          <p:nvPr/>
        </p:nvSpPr>
        <p:spPr>
          <a:xfrm>
            <a:off x="4069080" y="1600200"/>
            <a:ext cx="3246120" cy="1143000"/>
          </a:xfrm>
          <a:prstGeom prst="roundRect">
            <a:avLst>
              <a:gd name="adj" fmla="val 9600"/>
            </a:avLst>
          </a:prstGeom>
          <a:solidFill>
            <a:schemeClr val="bg2"/>
          </a:solidFill>
          <a:ln w="12700">
            <a:solidFill>
              <a:schemeClr val="bg2"/>
            </a:solidFill>
            <a:prstDash val="solid"/>
          </a:ln>
        </p:spPr>
      </p:sp>
      <p:sp>
        <p:nvSpPr>
          <p:cNvPr id="9" name="Icon circle"/>
          <p:cNvSpPr/>
          <p:nvPr/>
        </p:nvSpPr>
        <p:spPr>
          <a:xfrm>
            <a:off x="4251960" y="1920240"/>
            <a:ext cx="530352" cy="530352"/>
          </a:xfrm>
          <a:prstGeom prst="ellipse">
            <a:avLst/>
          </a:prstGeom>
          <a:solidFill>
            <a:schemeClr val="accent1"/>
          </a:solidFill>
          <a:ln w="12700">
            <a:solidFill>
              <a:schemeClr val="accent1"/>
            </a:solidFill>
            <a:prstDash val="solid"/>
          </a:ln>
        </p:spPr>
      </p:sp>
      <p:pic>
        <p:nvPicPr>
          <p:cNvPr id="10" name="Icon FaUserEdit" descr="FaUserEdit"/>
          <p:cNvPicPr>
            <a:picLocks noChangeAspect="1"/>
          </p:cNvPicPr>
          <p:nvPr/>
        </p:nvPicPr>
        <p:blipFill>
          <a:blip r:embed="rId4"/>
          <a:stretch>
            <a:fillRect/>
          </a:stretch>
        </p:blipFill>
        <p:spPr>
          <a:xfrm>
            <a:off x="4395155" y="2063435"/>
            <a:ext cx="243962" cy="243962"/>
          </a:xfrm>
          <a:prstGeom prst="rect">
            <a:avLst/>
          </a:prstGeom>
        </p:spPr>
      </p:pic>
      <p:sp>
        <p:nvSpPr>
          <p:cNvPr id="11" name="Feature text 2"/>
          <p:cNvSpPr txBox="1"/>
          <p:nvPr/>
        </p:nvSpPr>
        <p:spPr>
          <a:xfrm>
            <a:off x="4910328" y="1673352"/>
            <a:ext cx="2286000" cy="996696"/>
          </a:xfrm>
          <a:prstGeom prst="rect">
            <a:avLst/>
          </a:prstGeom>
          <a:noFill/>
          <a:ln/>
        </p:spPr>
        <p:txBody>
          <a:bodyPr wrap="square" lIns="0" tIns="0" rIns="0" bIns="0" rtlCol="0" anchor="ctr"/>
          <a:lstStyle/>
          <a:p>
            <a:pPr marL="0" indent="0">
              <a:buNone/>
            </a:pPr>
            <a:r>
              <a:rPr lang="en-US" sz="1500" b="1" dirty="0">
                <a:solidFill>
                  <a:schemeClr val="tx2"/>
                </a:solidFill>
              </a:rPr>
              <a:t>Registration &amp; profile</a:t>
            </a:r>
            <a:endParaRPr lang="en-US" sz="1500" dirty="0"/>
          </a:p>
          <a:p>
            <a:pPr marL="0" indent="0">
              <a:buNone/>
            </a:pPr>
            <a:r>
              <a:rPr lang="en-US" sz="1400" dirty="0">
                <a:solidFill>
                  <a:schemeClr val="tx1"/>
                </a:solidFill>
              </a:rPr>
              <a:t>Photo, personal, demographic and contact details</a:t>
            </a:r>
            <a:endParaRPr lang="en-US" sz="1500" dirty="0"/>
          </a:p>
        </p:txBody>
      </p:sp>
      <p:sp>
        <p:nvSpPr>
          <p:cNvPr id="12" name="Feature card 3"/>
          <p:cNvSpPr/>
          <p:nvPr/>
        </p:nvSpPr>
        <p:spPr>
          <a:xfrm>
            <a:off x="548640" y="2880360"/>
            <a:ext cx="3246120" cy="1143000"/>
          </a:xfrm>
          <a:prstGeom prst="roundRect">
            <a:avLst>
              <a:gd name="adj" fmla="val 9600"/>
            </a:avLst>
          </a:prstGeom>
          <a:solidFill>
            <a:schemeClr val="bg2"/>
          </a:solidFill>
          <a:ln w="12700">
            <a:solidFill>
              <a:schemeClr val="bg2"/>
            </a:solidFill>
            <a:prstDash val="solid"/>
          </a:ln>
        </p:spPr>
      </p:sp>
      <p:sp>
        <p:nvSpPr>
          <p:cNvPr id="13" name="Icon circle"/>
          <p:cNvSpPr/>
          <p:nvPr/>
        </p:nvSpPr>
        <p:spPr>
          <a:xfrm>
            <a:off x="731520" y="3200400"/>
            <a:ext cx="530352" cy="530352"/>
          </a:xfrm>
          <a:prstGeom prst="ellipse">
            <a:avLst/>
          </a:prstGeom>
          <a:solidFill>
            <a:schemeClr val="accent1"/>
          </a:solidFill>
          <a:ln w="12700">
            <a:solidFill>
              <a:schemeClr val="accent1"/>
            </a:solidFill>
            <a:prstDash val="solid"/>
          </a:ln>
        </p:spPr>
      </p:sp>
      <p:pic>
        <p:nvPicPr>
          <p:cNvPr id="14" name="Icon FaCalendarAlt" descr="FaCalendarAlt"/>
          <p:cNvPicPr>
            <a:picLocks noChangeAspect="1"/>
          </p:cNvPicPr>
          <p:nvPr/>
        </p:nvPicPr>
        <p:blipFill>
          <a:blip r:embed="rId5"/>
          <a:stretch>
            <a:fillRect/>
          </a:stretch>
        </p:blipFill>
        <p:spPr>
          <a:xfrm>
            <a:off x="874715" y="3343595"/>
            <a:ext cx="243962" cy="243962"/>
          </a:xfrm>
          <a:prstGeom prst="rect">
            <a:avLst/>
          </a:prstGeom>
        </p:spPr>
      </p:pic>
      <p:sp>
        <p:nvSpPr>
          <p:cNvPr id="15" name="Feature text 3"/>
          <p:cNvSpPr txBox="1"/>
          <p:nvPr/>
        </p:nvSpPr>
        <p:spPr>
          <a:xfrm>
            <a:off x="1389888" y="2953512"/>
            <a:ext cx="2286000" cy="996696"/>
          </a:xfrm>
          <a:prstGeom prst="rect">
            <a:avLst/>
          </a:prstGeom>
          <a:noFill/>
          <a:ln/>
        </p:spPr>
        <p:txBody>
          <a:bodyPr wrap="square" lIns="0" tIns="0" rIns="0" bIns="0" rtlCol="0" anchor="ctr"/>
          <a:lstStyle/>
          <a:p>
            <a:pPr marL="0" indent="0">
              <a:buNone/>
            </a:pPr>
            <a:r>
              <a:rPr lang="en-US" sz="1500" b="1" dirty="0">
                <a:solidFill>
                  <a:schemeClr val="tx2"/>
                </a:solidFill>
              </a:rPr>
              <a:t>Event &amp; campaign listing</a:t>
            </a:r>
            <a:endParaRPr lang="en-US" sz="1500" dirty="0"/>
          </a:p>
          <a:p>
            <a:pPr marL="0" indent="0">
              <a:buNone/>
            </a:pPr>
            <a:r>
              <a:rPr lang="en-US" sz="1400" dirty="0">
                <a:solidFill>
                  <a:schemeClr val="tx1"/>
                </a:solidFill>
              </a:rPr>
              <a:t>Community events with date, venue and RSVP button</a:t>
            </a:r>
            <a:endParaRPr lang="en-US" sz="1500" dirty="0"/>
          </a:p>
        </p:txBody>
      </p:sp>
      <p:sp>
        <p:nvSpPr>
          <p:cNvPr id="16" name="Feature card 4"/>
          <p:cNvSpPr/>
          <p:nvPr/>
        </p:nvSpPr>
        <p:spPr>
          <a:xfrm>
            <a:off x="4069080" y="2880360"/>
            <a:ext cx="3246120" cy="1143000"/>
          </a:xfrm>
          <a:prstGeom prst="roundRect">
            <a:avLst>
              <a:gd name="adj" fmla="val 9600"/>
            </a:avLst>
          </a:prstGeom>
          <a:solidFill>
            <a:schemeClr val="bg2"/>
          </a:solidFill>
          <a:ln w="12700">
            <a:solidFill>
              <a:schemeClr val="bg2"/>
            </a:solidFill>
            <a:prstDash val="solid"/>
          </a:ln>
        </p:spPr>
      </p:sp>
      <p:sp>
        <p:nvSpPr>
          <p:cNvPr id="17" name="Icon circle"/>
          <p:cNvSpPr/>
          <p:nvPr/>
        </p:nvSpPr>
        <p:spPr>
          <a:xfrm>
            <a:off x="4251960" y="3200400"/>
            <a:ext cx="530352" cy="530352"/>
          </a:xfrm>
          <a:prstGeom prst="ellipse">
            <a:avLst/>
          </a:prstGeom>
          <a:solidFill>
            <a:schemeClr val="accent1"/>
          </a:solidFill>
          <a:ln w="12700">
            <a:solidFill>
              <a:schemeClr val="accent1"/>
            </a:solidFill>
            <a:prstDash val="solid"/>
          </a:ln>
        </p:spPr>
      </p:sp>
      <p:pic>
        <p:nvPicPr>
          <p:cNvPr id="18" name="Icon FaUsers" descr="FaUsers"/>
          <p:cNvPicPr>
            <a:picLocks noChangeAspect="1"/>
          </p:cNvPicPr>
          <p:nvPr/>
        </p:nvPicPr>
        <p:blipFill>
          <a:blip r:embed="rId6"/>
          <a:stretch>
            <a:fillRect/>
          </a:stretch>
        </p:blipFill>
        <p:spPr>
          <a:xfrm>
            <a:off x="4395155" y="3343595"/>
            <a:ext cx="243962" cy="243962"/>
          </a:xfrm>
          <a:prstGeom prst="rect">
            <a:avLst/>
          </a:prstGeom>
        </p:spPr>
      </p:pic>
      <p:sp>
        <p:nvSpPr>
          <p:cNvPr id="19" name="Feature text 4"/>
          <p:cNvSpPr txBox="1"/>
          <p:nvPr/>
        </p:nvSpPr>
        <p:spPr>
          <a:xfrm>
            <a:off x="4910328" y="2953512"/>
            <a:ext cx="2286000" cy="996696"/>
          </a:xfrm>
          <a:prstGeom prst="rect">
            <a:avLst/>
          </a:prstGeom>
          <a:noFill/>
          <a:ln/>
        </p:spPr>
        <p:txBody>
          <a:bodyPr wrap="square" lIns="0" tIns="0" rIns="0" bIns="0" rtlCol="0" anchor="ctr"/>
          <a:lstStyle/>
          <a:p>
            <a:pPr marL="0" indent="0">
              <a:buNone/>
            </a:pPr>
            <a:r>
              <a:rPr lang="en-US" sz="1500" b="1" dirty="0">
                <a:solidFill>
                  <a:schemeClr val="tx2"/>
                </a:solidFill>
              </a:rPr>
              <a:t>Participant &amp; volunteer role</a:t>
            </a:r>
            <a:endParaRPr lang="en-US" sz="1500" dirty="0"/>
          </a:p>
          <a:p>
            <a:pPr marL="0" indent="0">
              <a:buNone/>
            </a:pPr>
            <a:r>
              <a:rPr lang="en-US" sz="1400" dirty="0">
                <a:solidFill>
                  <a:schemeClr val="tx1"/>
                </a:solidFill>
              </a:rPr>
              <a:t>Choose how to join and how many people</a:t>
            </a:r>
            <a:endParaRPr lang="en-US" sz="1500" dirty="0"/>
          </a:p>
        </p:txBody>
      </p:sp>
      <p:sp>
        <p:nvSpPr>
          <p:cNvPr id="20" name="Feature card 5"/>
          <p:cNvSpPr/>
          <p:nvPr/>
        </p:nvSpPr>
        <p:spPr>
          <a:xfrm>
            <a:off x="548640" y="4160520"/>
            <a:ext cx="3246120" cy="1143000"/>
          </a:xfrm>
          <a:prstGeom prst="roundRect">
            <a:avLst>
              <a:gd name="adj" fmla="val 9600"/>
            </a:avLst>
          </a:prstGeom>
          <a:solidFill>
            <a:schemeClr val="bg2"/>
          </a:solidFill>
          <a:ln w="12700">
            <a:solidFill>
              <a:schemeClr val="bg2"/>
            </a:solidFill>
            <a:prstDash val="solid"/>
          </a:ln>
        </p:spPr>
      </p:sp>
      <p:sp>
        <p:nvSpPr>
          <p:cNvPr id="21" name="Icon circle"/>
          <p:cNvSpPr/>
          <p:nvPr/>
        </p:nvSpPr>
        <p:spPr>
          <a:xfrm>
            <a:off x="731520" y="4480560"/>
            <a:ext cx="530352" cy="530352"/>
          </a:xfrm>
          <a:prstGeom prst="ellipse">
            <a:avLst/>
          </a:prstGeom>
          <a:solidFill>
            <a:schemeClr val="accent1"/>
          </a:solidFill>
          <a:ln w="12700">
            <a:solidFill>
              <a:schemeClr val="accent1"/>
            </a:solidFill>
            <a:prstDash val="solid"/>
          </a:ln>
        </p:spPr>
      </p:sp>
      <p:pic>
        <p:nvPicPr>
          <p:cNvPr id="22" name="Icon FaPhoneAlt" descr="FaPhoneAlt"/>
          <p:cNvPicPr>
            <a:picLocks noChangeAspect="1"/>
          </p:cNvPicPr>
          <p:nvPr/>
        </p:nvPicPr>
        <p:blipFill>
          <a:blip r:embed="rId7"/>
          <a:stretch>
            <a:fillRect/>
          </a:stretch>
        </p:blipFill>
        <p:spPr>
          <a:xfrm>
            <a:off x="874715" y="4623755"/>
            <a:ext cx="243962" cy="243962"/>
          </a:xfrm>
          <a:prstGeom prst="rect">
            <a:avLst/>
          </a:prstGeom>
        </p:spPr>
      </p:pic>
      <p:sp>
        <p:nvSpPr>
          <p:cNvPr id="23" name="Feature text 5"/>
          <p:cNvSpPr txBox="1"/>
          <p:nvPr/>
        </p:nvSpPr>
        <p:spPr>
          <a:xfrm>
            <a:off x="1389888" y="4233672"/>
            <a:ext cx="2286000" cy="996696"/>
          </a:xfrm>
          <a:prstGeom prst="rect">
            <a:avLst/>
          </a:prstGeom>
          <a:noFill/>
          <a:ln/>
        </p:spPr>
        <p:txBody>
          <a:bodyPr wrap="square" lIns="0" tIns="0" rIns="0" bIns="0" rtlCol="0" anchor="ctr"/>
          <a:lstStyle/>
          <a:p>
            <a:pPr marL="0" indent="0">
              <a:buNone/>
            </a:pPr>
            <a:r>
              <a:rPr lang="en-US" sz="1500" b="1" dirty="0">
                <a:solidFill>
                  <a:schemeClr val="tx2"/>
                </a:solidFill>
              </a:rPr>
              <a:t>Emergency contact</a:t>
            </a:r>
            <a:endParaRPr lang="en-US" sz="1500" dirty="0"/>
          </a:p>
          <a:p>
            <a:pPr marL="0" indent="0">
              <a:buNone/>
            </a:pPr>
            <a:r>
              <a:rPr lang="en-US" sz="1400" dirty="0">
                <a:solidFill>
                  <a:schemeClr val="tx1"/>
                </a:solidFill>
              </a:rPr>
              <a:t>Emergency person and special requests captured</a:t>
            </a:r>
            <a:endParaRPr lang="en-US" sz="1500" dirty="0"/>
          </a:p>
        </p:txBody>
      </p:sp>
      <p:sp>
        <p:nvSpPr>
          <p:cNvPr id="24" name="Feature card 6"/>
          <p:cNvSpPr/>
          <p:nvPr/>
        </p:nvSpPr>
        <p:spPr>
          <a:xfrm>
            <a:off x="4069080" y="4160520"/>
            <a:ext cx="3246120" cy="1143000"/>
          </a:xfrm>
          <a:prstGeom prst="roundRect">
            <a:avLst>
              <a:gd name="adj" fmla="val 9600"/>
            </a:avLst>
          </a:prstGeom>
          <a:solidFill>
            <a:schemeClr val="bg2"/>
          </a:solidFill>
          <a:ln w="12700">
            <a:solidFill>
              <a:schemeClr val="bg2"/>
            </a:solidFill>
            <a:prstDash val="solid"/>
          </a:ln>
        </p:spPr>
      </p:sp>
      <p:sp>
        <p:nvSpPr>
          <p:cNvPr id="25" name="Icon circle"/>
          <p:cNvSpPr/>
          <p:nvPr/>
        </p:nvSpPr>
        <p:spPr>
          <a:xfrm>
            <a:off x="4251960" y="4480560"/>
            <a:ext cx="530352" cy="530352"/>
          </a:xfrm>
          <a:prstGeom prst="ellipse">
            <a:avLst/>
          </a:prstGeom>
          <a:solidFill>
            <a:schemeClr val="accent1"/>
          </a:solidFill>
          <a:ln w="12700">
            <a:solidFill>
              <a:schemeClr val="accent1"/>
            </a:solidFill>
            <a:prstDash val="solid"/>
          </a:ln>
        </p:spPr>
      </p:sp>
      <p:pic>
        <p:nvPicPr>
          <p:cNvPr id="26" name="Icon FaUserCog" descr="FaUserCog"/>
          <p:cNvPicPr>
            <a:picLocks noChangeAspect="1"/>
          </p:cNvPicPr>
          <p:nvPr/>
        </p:nvPicPr>
        <p:blipFill>
          <a:blip r:embed="rId8"/>
          <a:stretch>
            <a:fillRect/>
          </a:stretch>
        </p:blipFill>
        <p:spPr>
          <a:xfrm>
            <a:off x="4395155" y="4623755"/>
            <a:ext cx="243962" cy="243962"/>
          </a:xfrm>
          <a:prstGeom prst="rect">
            <a:avLst/>
          </a:prstGeom>
        </p:spPr>
      </p:pic>
      <p:sp>
        <p:nvSpPr>
          <p:cNvPr id="27" name="Feature text 6"/>
          <p:cNvSpPr txBox="1"/>
          <p:nvPr/>
        </p:nvSpPr>
        <p:spPr>
          <a:xfrm>
            <a:off x="4910328" y="4233672"/>
            <a:ext cx="2286000" cy="996696"/>
          </a:xfrm>
          <a:prstGeom prst="rect">
            <a:avLst/>
          </a:prstGeom>
          <a:noFill/>
          <a:ln/>
        </p:spPr>
        <p:txBody>
          <a:bodyPr wrap="square" lIns="0" tIns="0" rIns="0" bIns="0" rtlCol="0" anchor="ctr"/>
          <a:lstStyle/>
          <a:p>
            <a:pPr marL="0" indent="0">
              <a:buNone/>
            </a:pPr>
            <a:r>
              <a:rPr lang="en-US" sz="1500" b="1" dirty="0">
                <a:solidFill>
                  <a:schemeClr val="tx2"/>
                </a:solidFill>
              </a:rPr>
              <a:t>Admin management</a:t>
            </a:r>
            <a:endParaRPr lang="en-US" sz="1500" dirty="0"/>
          </a:p>
          <a:p>
            <a:pPr marL="0" indent="0">
              <a:buNone/>
            </a:pPr>
            <a:r>
              <a:rPr lang="en-US" sz="1400" dirty="0">
                <a:solidFill>
                  <a:schemeClr val="tx1"/>
                </a:solidFill>
              </a:rPr>
              <a:t>Review registrations and update their status</a:t>
            </a:r>
            <a:endParaRPr lang="en-US" sz="1500" dirty="0"/>
          </a:p>
        </p:txBody>
      </p:sp>
      <p:sp>
        <p:nvSpPr>
          <p:cNvPr id="28" name="Also built strip"/>
          <p:cNvSpPr/>
          <p:nvPr/>
        </p:nvSpPr>
        <p:spPr>
          <a:xfrm>
            <a:off x="548640" y="5532120"/>
            <a:ext cx="6766560" cy="731520"/>
          </a:xfrm>
          <a:prstGeom prst="roundRect">
            <a:avLst>
              <a:gd name="adj" fmla="val 15000"/>
            </a:avLst>
          </a:prstGeom>
          <a:solidFill>
            <a:schemeClr val="tx2"/>
          </a:solidFill>
          <a:ln w="12700">
            <a:solidFill>
              <a:schemeClr val="tx2"/>
            </a:solidFill>
            <a:prstDash val="solid"/>
          </a:ln>
        </p:spPr>
      </p:sp>
      <p:sp>
        <p:nvSpPr>
          <p:cNvPr id="29" name="Also built text"/>
          <p:cNvSpPr txBox="1"/>
          <p:nvPr/>
        </p:nvSpPr>
        <p:spPr>
          <a:xfrm>
            <a:off x="777240" y="5577840"/>
            <a:ext cx="6355080" cy="640080"/>
          </a:xfrm>
          <a:prstGeom prst="rect">
            <a:avLst/>
          </a:prstGeom>
          <a:noFill/>
          <a:ln/>
        </p:spPr>
        <p:txBody>
          <a:bodyPr wrap="square" lIns="0" tIns="0" rIns="0" bIns="0" rtlCol="0" anchor="ctr"/>
          <a:lstStyle/>
          <a:p>
            <a:pPr marL="0" indent="0">
              <a:buNone/>
            </a:pPr>
            <a:r>
              <a:rPr lang="en-US" sz="1400" b="1" dirty="0">
                <a:solidFill>
                  <a:schemeClr val="accent1"/>
                </a:solidFill>
              </a:rPr>
              <a:t>Also built:  </a:t>
            </a:r>
            <a:r>
              <a:rPr lang="en-US" sz="1400" dirty="0">
                <a:solidFill>
                  <a:schemeClr val="bg1"/>
                </a:solidFill>
              </a:rPr>
              <a:t>Family Tree  |  Directory  |  Matrimony  |  Birthday wishes  |  Multilingual  |  Dark mode</a:t>
            </a:r>
            <a:endParaRPr lang="en-US" sz="1400" dirty="0"/>
          </a:p>
        </p:txBody>
      </p:sp>
      <p:pic>
        <p:nvPicPr>
          <p:cNvPr id="30" name="Phone reg1" descr="App screenshot: reg1"/>
          <p:cNvPicPr>
            <a:picLocks noChangeAspect="1"/>
          </p:cNvPicPr>
          <p:nvPr/>
        </p:nvPicPr>
        <p:blipFill>
          <a:blip r:embed="rId9"/>
          <a:stretch>
            <a:fillRect/>
          </a:stretch>
        </p:blipFill>
        <p:spPr>
          <a:xfrm>
            <a:off x="7680960" y="1600200"/>
            <a:ext cx="1914861" cy="4069080"/>
          </a:xfrm>
          <a:prstGeom prst="rect">
            <a:avLst/>
          </a:prstGeom>
        </p:spPr>
      </p:pic>
      <p:pic>
        <p:nvPicPr>
          <p:cNvPr id="31" name="Phone hub" descr="App screenshot: hub"/>
          <p:cNvPicPr>
            <a:picLocks noChangeAspect="1"/>
          </p:cNvPicPr>
          <p:nvPr/>
        </p:nvPicPr>
        <p:blipFill>
          <a:blip r:embed="rId10"/>
          <a:stretch>
            <a:fillRect/>
          </a:stretch>
        </p:blipFill>
        <p:spPr>
          <a:xfrm>
            <a:off x="9784080" y="1600200"/>
            <a:ext cx="1914861" cy="4069080"/>
          </a:xfrm>
          <a:prstGeom prst="rect">
            <a:avLst/>
          </a:prstGeom>
        </p:spPr>
      </p:pic>
      <p:sp>
        <p:nvSpPr>
          <p:cNvPr id="32" name="Caption"/>
          <p:cNvSpPr txBox="1"/>
          <p:nvPr/>
        </p:nvSpPr>
        <p:spPr>
          <a:xfrm>
            <a:off x="7680960" y="5760720"/>
            <a:ext cx="1911096" cy="274320"/>
          </a:xfrm>
          <a:prstGeom prst="rect">
            <a:avLst/>
          </a:prstGeom>
          <a:noFill/>
          <a:ln/>
        </p:spPr>
        <p:txBody>
          <a:bodyPr wrap="square" lIns="0" tIns="0" rIns="0" bIns="0" rtlCol="0" anchor="ctr"/>
          <a:lstStyle/>
          <a:p>
            <a:pPr marL="0" indent="0" algn="ctr">
              <a:buNone/>
            </a:pPr>
            <a:r>
              <a:rPr lang="en-US" sz="1200" dirty="0">
                <a:solidFill>
                  <a:schemeClr val="tx1"/>
                </a:solidFill>
              </a:rPr>
              <a:t>Registration &amp; profile</a:t>
            </a:r>
            <a:endParaRPr lang="en-US" sz="1200" dirty="0"/>
          </a:p>
        </p:txBody>
      </p:sp>
      <p:sp>
        <p:nvSpPr>
          <p:cNvPr id="33" name="Caption"/>
          <p:cNvSpPr txBox="1"/>
          <p:nvPr/>
        </p:nvSpPr>
        <p:spPr>
          <a:xfrm>
            <a:off x="9784080" y="5760720"/>
            <a:ext cx="1911096" cy="274320"/>
          </a:xfrm>
          <a:prstGeom prst="rect">
            <a:avLst/>
          </a:prstGeom>
          <a:noFill/>
          <a:ln/>
        </p:spPr>
        <p:txBody>
          <a:bodyPr wrap="square" lIns="0" tIns="0" rIns="0" bIns="0" rtlCol="0" anchor="ctr"/>
          <a:lstStyle/>
          <a:p>
            <a:pPr marL="0" indent="0" algn="ctr">
              <a:buNone/>
            </a:pPr>
            <a:r>
              <a:rPr lang="en-US" sz="1200" dirty="0">
                <a:solidFill>
                  <a:schemeClr val="tx1"/>
                </a:solidFill>
              </a:rPr>
              <a:t>Event listing</a:t>
            </a:r>
            <a:endParaRPr lang="en-US" sz="1200" dirty="0"/>
          </a:p>
        </p:txBody>
      </p:sp>
      <p:sp>
        <p:nvSpPr>
          <p:cNvPr id="34"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47472"/>
            <a:ext cx="8229600" cy="274320"/>
          </a:xfrm>
          <a:prstGeom prst="rect">
            <a:avLst/>
          </a:prstGeom>
          <a:noFill/>
          <a:ln/>
        </p:spPr>
        <p:txBody>
          <a:bodyPr wrap="square" lIns="0" tIns="0" rIns="0" bIns="0" rtlCol="0" anchor="ctr"/>
          <a:lstStyle/>
          <a:p>
            <a:pPr marL="0" indent="0">
              <a:buNone/>
            </a:pPr>
            <a:r>
              <a:rPr lang="en-US" sz="1400" b="1" kern="0" spc="200" dirty="0">
                <a:solidFill>
                  <a:schemeClr val="accent1"/>
                </a:solidFill>
              </a:rPr>
              <a:t>05  |  SYSTEM ARCHITECTURE</a:t>
            </a:r>
            <a:endParaRPr lang="en-US" sz="1400" dirty="0"/>
          </a:p>
        </p:txBody>
      </p:sp>
      <p:sp>
        <p:nvSpPr>
          <p:cNvPr id="3" name="Text 1"/>
          <p:cNvSpPr>
            <a:spLocks noGrp="1"/>
          </p:cNvSpPr>
          <p:nvPr>
            <p:ph type="title" idx="101" hasCustomPrompt="1"/>
          </p:nvPr>
        </p:nvSpPr>
        <p:spPr>
          <a:xfrm>
            <a:off x="548640" y="640080"/>
            <a:ext cx="11091672" cy="777240"/>
          </a:xfrm>
          <a:prstGeom prst="rect">
            <a:avLst/>
          </a:prstGeom>
          <a:noFill/>
          <a:ln/>
        </p:spPr>
        <p:txBody>
          <a:bodyPr wrap="square" lIns="0" tIns="0" rIns="0" bIns="0" rtlCol="0" anchor="ctr"/>
          <a:lstStyle/>
          <a:p>
            <a:pPr marL="0" indent="0" algn="l">
              <a:buNone/>
            </a:pPr>
            <a:r>
              <a:rPr lang="en-US" sz="3400" b="1" dirty="0">
                <a:solidFill>
                  <a:schemeClr val="tx2"/>
                </a:solidFill>
              </a:rPr>
              <a:t>How KutumbSetu Works</a:t>
            </a:r>
            <a:endParaRPr lang="en-US" sz="3400" dirty="0"/>
          </a:p>
        </p:txBody>
      </p:sp>
      <p:sp>
        <p:nvSpPr>
          <p:cNvPr id="4" name="Arch box 1"/>
          <p:cNvSpPr/>
          <p:nvPr/>
        </p:nvSpPr>
        <p:spPr>
          <a:xfrm>
            <a:off x="548640" y="1600200"/>
            <a:ext cx="3017520" cy="1325880"/>
          </a:xfrm>
          <a:prstGeom prst="roundRect">
            <a:avLst>
              <a:gd name="adj" fmla="val 8276"/>
            </a:avLst>
          </a:prstGeom>
          <a:solidFill>
            <a:schemeClr val="accent5"/>
          </a:solidFill>
          <a:ln w="12700">
            <a:solidFill>
              <a:schemeClr val="accent5"/>
            </a:solidFill>
            <a:prstDash val="solid"/>
          </a:ln>
        </p:spPr>
      </p:sp>
      <p:pic>
        <p:nvPicPr>
          <p:cNvPr id="5" name="Arch icon 1" descr="FaMobileAlt"/>
          <p:cNvPicPr>
            <a:picLocks noChangeAspect="1"/>
          </p:cNvPicPr>
          <p:nvPr/>
        </p:nvPicPr>
        <p:blipFill>
          <a:blip r:embed="rId3"/>
          <a:stretch>
            <a:fillRect/>
          </a:stretch>
        </p:blipFill>
        <p:spPr>
          <a:xfrm>
            <a:off x="822960" y="1984248"/>
            <a:ext cx="548640" cy="548640"/>
          </a:xfrm>
          <a:prstGeom prst="rect">
            <a:avLst/>
          </a:prstGeom>
        </p:spPr>
      </p:pic>
      <p:sp>
        <p:nvSpPr>
          <p:cNvPr id="6" name="Arch text 1"/>
          <p:cNvSpPr txBox="1"/>
          <p:nvPr/>
        </p:nvSpPr>
        <p:spPr>
          <a:xfrm>
            <a:off x="1508760" y="1691640"/>
            <a:ext cx="1965960" cy="1143000"/>
          </a:xfrm>
          <a:prstGeom prst="rect">
            <a:avLst/>
          </a:prstGeom>
          <a:noFill/>
          <a:ln/>
        </p:spPr>
        <p:txBody>
          <a:bodyPr wrap="square" lIns="0" tIns="0" rIns="0" bIns="0" rtlCol="0" anchor="ctr"/>
          <a:lstStyle/>
          <a:p>
            <a:pPr marL="0" indent="0">
              <a:buNone/>
            </a:pPr>
            <a:r>
              <a:rPr lang="en-US" sz="1800" b="1" dirty="0">
                <a:solidFill>
                  <a:schemeClr val="bg1"/>
                </a:solidFill>
              </a:rPr>
              <a:t>Flutter App</a:t>
            </a:r>
            <a:endParaRPr lang="en-US" sz="1800" dirty="0"/>
          </a:p>
          <a:p>
            <a:pPr marL="0" indent="0">
              <a:buNone/>
            </a:pPr>
            <a:r>
              <a:rPr lang="en-US" sz="1400" dirty="0">
                <a:solidFill>
                  <a:schemeClr val="bg1"/>
                </a:solidFill>
              </a:rPr>
              <a:t>Dart mobile interface</a:t>
            </a:r>
            <a:endParaRPr lang="en-US" sz="1800" dirty="0"/>
          </a:p>
        </p:txBody>
      </p:sp>
      <p:sp>
        <p:nvSpPr>
          <p:cNvPr id="7" name="Arch box 2"/>
          <p:cNvSpPr/>
          <p:nvPr/>
        </p:nvSpPr>
        <p:spPr>
          <a:xfrm>
            <a:off x="4585716" y="1600200"/>
            <a:ext cx="3017520" cy="1325880"/>
          </a:xfrm>
          <a:prstGeom prst="roundRect">
            <a:avLst>
              <a:gd name="adj" fmla="val 8276"/>
            </a:avLst>
          </a:prstGeom>
          <a:solidFill>
            <a:schemeClr val="accent2"/>
          </a:solidFill>
          <a:ln w="12700">
            <a:solidFill>
              <a:schemeClr val="accent2"/>
            </a:solidFill>
            <a:prstDash val="solid"/>
          </a:ln>
        </p:spPr>
      </p:sp>
      <p:pic>
        <p:nvPicPr>
          <p:cNvPr id="8" name="Arch icon 2" descr="FaServer"/>
          <p:cNvPicPr>
            <a:picLocks noChangeAspect="1"/>
          </p:cNvPicPr>
          <p:nvPr/>
        </p:nvPicPr>
        <p:blipFill>
          <a:blip r:embed="rId4"/>
          <a:stretch>
            <a:fillRect/>
          </a:stretch>
        </p:blipFill>
        <p:spPr>
          <a:xfrm>
            <a:off x="4860036" y="1984248"/>
            <a:ext cx="548640" cy="548640"/>
          </a:xfrm>
          <a:prstGeom prst="rect">
            <a:avLst/>
          </a:prstGeom>
        </p:spPr>
      </p:pic>
      <p:sp>
        <p:nvSpPr>
          <p:cNvPr id="9" name="Arch text 2"/>
          <p:cNvSpPr txBox="1"/>
          <p:nvPr/>
        </p:nvSpPr>
        <p:spPr>
          <a:xfrm>
            <a:off x="5545836" y="1691640"/>
            <a:ext cx="1965960" cy="1143000"/>
          </a:xfrm>
          <a:prstGeom prst="rect">
            <a:avLst/>
          </a:prstGeom>
          <a:noFill/>
          <a:ln/>
        </p:spPr>
        <p:txBody>
          <a:bodyPr wrap="square" lIns="0" tIns="0" rIns="0" bIns="0" rtlCol="0" anchor="ctr"/>
          <a:lstStyle/>
          <a:p>
            <a:pPr marL="0" indent="0">
              <a:buNone/>
            </a:pPr>
            <a:r>
              <a:rPr lang="en-US" sz="1800" b="1" dirty="0">
                <a:solidFill>
                  <a:schemeClr val="bg1"/>
                </a:solidFill>
              </a:rPr>
              <a:t>Node.js / Express</a:t>
            </a:r>
            <a:endParaRPr lang="en-US" sz="1800" dirty="0"/>
          </a:p>
          <a:p>
            <a:pPr marL="0" indent="0">
              <a:buNone/>
            </a:pPr>
            <a:r>
              <a:rPr lang="en-US" sz="1400" dirty="0">
                <a:solidFill>
                  <a:schemeClr val="bg1"/>
                </a:solidFill>
              </a:rPr>
              <a:t>Backend and API logic</a:t>
            </a:r>
            <a:endParaRPr lang="en-US" sz="1800" dirty="0"/>
          </a:p>
        </p:txBody>
      </p:sp>
      <p:sp>
        <p:nvSpPr>
          <p:cNvPr id="10" name="Arch box 3"/>
          <p:cNvSpPr/>
          <p:nvPr/>
        </p:nvSpPr>
        <p:spPr>
          <a:xfrm>
            <a:off x="8622792" y="1600200"/>
            <a:ext cx="3017520" cy="1325880"/>
          </a:xfrm>
          <a:prstGeom prst="roundRect">
            <a:avLst>
              <a:gd name="adj" fmla="val 8276"/>
            </a:avLst>
          </a:prstGeom>
          <a:solidFill>
            <a:schemeClr val="accent3"/>
          </a:solidFill>
          <a:ln w="12700">
            <a:solidFill>
              <a:schemeClr val="accent3"/>
            </a:solidFill>
            <a:prstDash val="solid"/>
          </a:ln>
        </p:spPr>
      </p:sp>
      <p:pic>
        <p:nvPicPr>
          <p:cNvPr id="11" name="Arch icon 3" descr="FaDatabase"/>
          <p:cNvPicPr>
            <a:picLocks noChangeAspect="1"/>
          </p:cNvPicPr>
          <p:nvPr/>
        </p:nvPicPr>
        <p:blipFill>
          <a:blip r:embed="rId5"/>
          <a:stretch>
            <a:fillRect/>
          </a:stretch>
        </p:blipFill>
        <p:spPr>
          <a:xfrm>
            <a:off x="8897112" y="1984248"/>
            <a:ext cx="548640" cy="548640"/>
          </a:xfrm>
          <a:prstGeom prst="rect">
            <a:avLst/>
          </a:prstGeom>
        </p:spPr>
      </p:pic>
      <p:sp>
        <p:nvSpPr>
          <p:cNvPr id="12" name="Arch text 3"/>
          <p:cNvSpPr txBox="1"/>
          <p:nvPr/>
        </p:nvSpPr>
        <p:spPr>
          <a:xfrm>
            <a:off x="9582912" y="1691640"/>
            <a:ext cx="1965960" cy="1143000"/>
          </a:xfrm>
          <a:prstGeom prst="rect">
            <a:avLst/>
          </a:prstGeom>
          <a:noFill/>
          <a:ln/>
        </p:spPr>
        <p:txBody>
          <a:bodyPr wrap="square" lIns="0" tIns="0" rIns="0" bIns="0" rtlCol="0" anchor="ctr"/>
          <a:lstStyle/>
          <a:p>
            <a:pPr marL="0" indent="0">
              <a:buNone/>
            </a:pPr>
            <a:r>
              <a:rPr lang="en-US" sz="1800" b="1" dirty="0">
                <a:solidFill>
                  <a:schemeClr val="bg1"/>
                </a:solidFill>
              </a:rPr>
              <a:t>MongoDB</a:t>
            </a:r>
            <a:endParaRPr lang="en-US" sz="1800" dirty="0"/>
          </a:p>
          <a:p>
            <a:pPr marL="0" indent="0">
              <a:buNone/>
            </a:pPr>
            <a:r>
              <a:rPr lang="en-US" sz="1400" dirty="0">
                <a:solidFill>
                  <a:schemeClr val="bg1"/>
                </a:solidFill>
              </a:rPr>
              <a:t>Persistent data storage</a:t>
            </a:r>
            <a:endParaRPr lang="en-US" sz="1800" dirty="0"/>
          </a:p>
        </p:txBody>
      </p:sp>
      <p:sp>
        <p:nvSpPr>
          <p:cNvPr id="13" name="Arch arrow 1"/>
          <p:cNvSpPr/>
          <p:nvPr/>
        </p:nvSpPr>
        <p:spPr>
          <a:xfrm>
            <a:off x="3675888" y="2263140"/>
            <a:ext cx="800100" cy="0"/>
          </a:xfrm>
          <a:prstGeom prst="line">
            <a:avLst/>
          </a:prstGeom>
          <a:noFill/>
          <a:ln w="38100">
            <a:solidFill>
              <a:schemeClr val="accent1"/>
            </a:solidFill>
            <a:prstDash val="solid"/>
            <a:headEnd type="triangle"/>
            <a:tailEnd type="triangle"/>
          </a:ln>
        </p:spPr>
      </p:sp>
      <p:sp>
        <p:nvSpPr>
          <p:cNvPr id="14" name="Arrow label 1"/>
          <p:cNvSpPr txBox="1"/>
          <p:nvPr/>
        </p:nvSpPr>
        <p:spPr>
          <a:xfrm>
            <a:off x="3474720" y="1696212"/>
            <a:ext cx="1202436" cy="457200"/>
          </a:xfrm>
          <a:prstGeom prst="rect">
            <a:avLst/>
          </a:prstGeom>
          <a:noFill/>
          <a:ln/>
        </p:spPr>
        <p:txBody>
          <a:bodyPr wrap="square" lIns="0" tIns="0" rIns="0" bIns="0" rtlCol="0" anchor="b"/>
          <a:lstStyle/>
          <a:p>
            <a:pPr marL="0" indent="0" algn="ctr">
              <a:buNone/>
            </a:pPr>
            <a:r>
              <a:rPr lang="en-US" sz="1200" dirty="0">
                <a:solidFill>
                  <a:schemeClr val="tx2"/>
                </a:solidFill>
              </a:rPr>
              <a:t>HTTPS / REST (JSON)</a:t>
            </a:r>
            <a:endParaRPr lang="en-US" sz="1200" dirty="0"/>
          </a:p>
        </p:txBody>
      </p:sp>
      <p:sp>
        <p:nvSpPr>
          <p:cNvPr id="15" name="Arch arrow 2"/>
          <p:cNvSpPr/>
          <p:nvPr/>
        </p:nvSpPr>
        <p:spPr>
          <a:xfrm>
            <a:off x="7712964" y="2263140"/>
            <a:ext cx="800100" cy="0"/>
          </a:xfrm>
          <a:prstGeom prst="line">
            <a:avLst/>
          </a:prstGeom>
          <a:noFill/>
          <a:ln w="38100">
            <a:solidFill>
              <a:schemeClr val="accent1"/>
            </a:solidFill>
            <a:prstDash val="solid"/>
            <a:headEnd type="triangle"/>
            <a:tailEnd type="triangle"/>
          </a:ln>
        </p:spPr>
      </p:sp>
      <p:sp>
        <p:nvSpPr>
          <p:cNvPr id="16" name="Arrow label 2"/>
          <p:cNvSpPr txBox="1"/>
          <p:nvPr/>
        </p:nvSpPr>
        <p:spPr>
          <a:xfrm>
            <a:off x="7511796" y="1696212"/>
            <a:ext cx="1202436" cy="457200"/>
          </a:xfrm>
          <a:prstGeom prst="rect">
            <a:avLst/>
          </a:prstGeom>
          <a:noFill/>
          <a:ln/>
        </p:spPr>
        <p:txBody>
          <a:bodyPr wrap="square" lIns="0" tIns="0" rIns="0" bIns="0" rtlCol="0" anchor="b"/>
          <a:lstStyle/>
          <a:p>
            <a:pPr marL="0" indent="0" algn="ctr">
              <a:buNone/>
            </a:pPr>
            <a:r>
              <a:rPr lang="en-US" sz="1200" dirty="0">
                <a:solidFill>
                  <a:schemeClr val="tx2"/>
                </a:solidFill>
              </a:rPr>
              <a:t>Read / write queries</a:t>
            </a:r>
            <a:endParaRPr lang="en-US" sz="1200" dirty="0"/>
          </a:p>
        </p:txBody>
      </p:sp>
      <p:sp>
        <p:nvSpPr>
          <p:cNvPr id="17" name="Explain card 1"/>
          <p:cNvSpPr/>
          <p:nvPr/>
        </p:nvSpPr>
        <p:spPr>
          <a:xfrm>
            <a:off x="548640" y="3108960"/>
            <a:ext cx="3017520" cy="1417320"/>
          </a:xfrm>
          <a:prstGeom prst="roundRect">
            <a:avLst>
              <a:gd name="adj" fmla="val 7742"/>
            </a:avLst>
          </a:prstGeom>
          <a:solidFill>
            <a:schemeClr val="bg2"/>
          </a:solidFill>
          <a:ln w="12700">
            <a:solidFill>
              <a:schemeClr val="bg2"/>
            </a:solidFill>
            <a:prstDash val="solid"/>
          </a:ln>
        </p:spPr>
      </p:sp>
      <p:sp>
        <p:nvSpPr>
          <p:cNvPr id="18" name="Explain text 1"/>
          <p:cNvSpPr txBox="1"/>
          <p:nvPr/>
        </p:nvSpPr>
        <p:spPr>
          <a:xfrm>
            <a:off x="731520" y="3200400"/>
            <a:ext cx="2651760" cy="1234440"/>
          </a:xfrm>
          <a:prstGeom prst="rect">
            <a:avLst/>
          </a:prstGeom>
          <a:noFill/>
          <a:ln/>
        </p:spPr>
        <p:txBody>
          <a:bodyPr wrap="square" lIns="0" tIns="0" rIns="0" bIns="0" rtlCol="0" anchor="ctr"/>
          <a:lstStyle/>
          <a:p>
            <a:pPr marL="0" indent="0">
              <a:buNone/>
            </a:pPr>
            <a:r>
              <a:rPr lang="en-US" sz="1400" dirty="0">
                <a:solidFill>
                  <a:schemeClr val="tx1"/>
                </a:solidFill>
              </a:rPr>
              <a:t>Single Dart codebase for the user app and the admin console: forms, navigation, dark mode and language switch.</a:t>
            </a:r>
            <a:endParaRPr lang="en-US" sz="1400" dirty="0"/>
          </a:p>
        </p:txBody>
      </p:sp>
      <p:sp>
        <p:nvSpPr>
          <p:cNvPr id="19" name="Explain card 2"/>
          <p:cNvSpPr/>
          <p:nvPr/>
        </p:nvSpPr>
        <p:spPr>
          <a:xfrm>
            <a:off x="4585716" y="3108960"/>
            <a:ext cx="3017520" cy="1417320"/>
          </a:xfrm>
          <a:prstGeom prst="roundRect">
            <a:avLst>
              <a:gd name="adj" fmla="val 7742"/>
            </a:avLst>
          </a:prstGeom>
          <a:solidFill>
            <a:schemeClr val="bg2"/>
          </a:solidFill>
          <a:ln w="12700">
            <a:solidFill>
              <a:schemeClr val="bg2"/>
            </a:solidFill>
            <a:prstDash val="solid"/>
          </a:ln>
        </p:spPr>
      </p:sp>
      <p:sp>
        <p:nvSpPr>
          <p:cNvPr id="20" name="Explain text 2"/>
          <p:cNvSpPr txBox="1"/>
          <p:nvPr/>
        </p:nvSpPr>
        <p:spPr>
          <a:xfrm>
            <a:off x="4768596" y="3200400"/>
            <a:ext cx="2651760" cy="1234440"/>
          </a:xfrm>
          <a:prstGeom prst="rect">
            <a:avLst/>
          </a:prstGeom>
          <a:noFill/>
          <a:ln/>
        </p:spPr>
        <p:txBody>
          <a:bodyPr wrap="square" lIns="0" tIns="0" rIns="0" bIns="0" rtlCol="0" anchor="ctr"/>
          <a:lstStyle/>
          <a:p>
            <a:pPr marL="0" indent="0">
              <a:buNone/>
            </a:pPr>
            <a:r>
              <a:rPr lang="en-US" sz="1400" dirty="0">
                <a:solidFill>
                  <a:schemeClr val="tx1"/>
                </a:solidFill>
              </a:rPr>
              <a:t>REST endpoints for authentication, profiles, events and registrations. Validates input and applies the rules.</a:t>
            </a:r>
            <a:endParaRPr lang="en-US" sz="1400" dirty="0"/>
          </a:p>
        </p:txBody>
      </p:sp>
      <p:sp>
        <p:nvSpPr>
          <p:cNvPr id="21" name="Explain card 3"/>
          <p:cNvSpPr/>
          <p:nvPr/>
        </p:nvSpPr>
        <p:spPr>
          <a:xfrm>
            <a:off x="8622792" y="3108960"/>
            <a:ext cx="3017520" cy="1417320"/>
          </a:xfrm>
          <a:prstGeom prst="roundRect">
            <a:avLst>
              <a:gd name="adj" fmla="val 7742"/>
            </a:avLst>
          </a:prstGeom>
          <a:solidFill>
            <a:schemeClr val="bg2"/>
          </a:solidFill>
          <a:ln w="12700">
            <a:solidFill>
              <a:schemeClr val="bg2"/>
            </a:solidFill>
            <a:prstDash val="solid"/>
          </a:ln>
        </p:spPr>
      </p:sp>
      <p:sp>
        <p:nvSpPr>
          <p:cNvPr id="22" name="Explain text 3"/>
          <p:cNvSpPr txBox="1"/>
          <p:nvPr/>
        </p:nvSpPr>
        <p:spPr>
          <a:xfrm>
            <a:off x="8805672" y="3200400"/>
            <a:ext cx="2651760" cy="1234440"/>
          </a:xfrm>
          <a:prstGeom prst="rect">
            <a:avLst/>
          </a:prstGeom>
          <a:noFill/>
          <a:ln/>
        </p:spPr>
        <p:txBody>
          <a:bodyPr wrap="square" lIns="0" tIns="0" rIns="0" bIns="0" rtlCol="0" anchor="ctr"/>
          <a:lstStyle/>
          <a:p>
            <a:pPr marL="0" indent="0">
              <a:buNone/>
            </a:pPr>
            <a:r>
              <a:rPr lang="en-US" sz="1400" dirty="0">
                <a:solidFill>
                  <a:schemeClr val="tx1"/>
                </a:solidFill>
              </a:rPr>
              <a:t>Stores users, family links, events and every registration record created in the app.</a:t>
            </a:r>
            <a:endParaRPr lang="en-US" sz="1400" dirty="0"/>
          </a:p>
        </p:txBody>
      </p:sp>
      <p:sp>
        <p:nvSpPr>
          <p:cNvPr id="23" name="OTP heading"/>
          <p:cNvSpPr txBox="1"/>
          <p:nvPr/>
        </p:nvSpPr>
        <p:spPr>
          <a:xfrm>
            <a:off x="548640" y="4846320"/>
            <a:ext cx="5486400" cy="320040"/>
          </a:xfrm>
          <a:prstGeom prst="rect">
            <a:avLst/>
          </a:prstGeom>
          <a:noFill/>
          <a:ln/>
        </p:spPr>
        <p:txBody>
          <a:bodyPr wrap="square" lIns="0" tIns="0" rIns="0" bIns="0" rtlCol="0" anchor="ctr"/>
          <a:lstStyle/>
          <a:p>
            <a:pPr marL="0" indent="0">
              <a:buNone/>
            </a:pPr>
            <a:r>
              <a:rPr lang="en-US" sz="1800" b="1" dirty="0">
                <a:solidFill>
                  <a:schemeClr val="tx2"/>
                </a:solidFill>
              </a:rPr>
              <a:t>Email OTP verification workflow</a:t>
            </a:r>
            <a:endParaRPr lang="en-US" sz="1800" dirty="0"/>
          </a:p>
        </p:txBody>
      </p:sp>
      <p:sp>
        <p:nvSpPr>
          <p:cNvPr id="24" name="Step circle 1"/>
          <p:cNvSpPr/>
          <p:nvPr/>
        </p:nvSpPr>
        <p:spPr>
          <a:xfrm>
            <a:off x="548640" y="5349240"/>
            <a:ext cx="457200" cy="457200"/>
          </a:xfrm>
          <a:prstGeom prst="ellipse">
            <a:avLst/>
          </a:prstGeom>
          <a:solidFill>
            <a:schemeClr val="accent1"/>
          </a:solidFill>
          <a:ln w="12700">
            <a:solidFill>
              <a:schemeClr val="accent1"/>
            </a:solidFill>
            <a:prstDash val="solid"/>
          </a:ln>
        </p:spPr>
      </p:sp>
      <p:sp>
        <p:nvSpPr>
          <p:cNvPr id="25" name="Step number 1"/>
          <p:cNvSpPr txBox="1"/>
          <p:nvPr/>
        </p:nvSpPr>
        <p:spPr>
          <a:xfrm>
            <a:off x="548640" y="53492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26" name="Step text 1"/>
          <p:cNvSpPr txBox="1"/>
          <p:nvPr/>
        </p:nvSpPr>
        <p:spPr>
          <a:xfrm>
            <a:off x="1097280" y="5257800"/>
            <a:ext cx="1463040" cy="822960"/>
          </a:xfrm>
          <a:prstGeom prst="rect">
            <a:avLst/>
          </a:prstGeom>
          <a:noFill/>
          <a:ln/>
        </p:spPr>
        <p:txBody>
          <a:bodyPr wrap="square" lIns="0" tIns="0" rIns="0" bIns="0" rtlCol="0" anchor="ctr"/>
          <a:lstStyle/>
          <a:p>
            <a:pPr marL="0" indent="0">
              <a:buNone/>
            </a:pPr>
            <a:r>
              <a:rPr lang="en-US" sz="1400" dirty="0">
                <a:solidFill>
                  <a:schemeClr val="tx1"/>
                </a:solidFill>
              </a:rPr>
              <a:t>User enters email address</a:t>
            </a:r>
            <a:endParaRPr lang="en-US" sz="1400" dirty="0"/>
          </a:p>
        </p:txBody>
      </p:sp>
      <p:sp>
        <p:nvSpPr>
          <p:cNvPr id="27" name="Step arrow 1"/>
          <p:cNvSpPr/>
          <p:nvPr/>
        </p:nvSpPr>
        <p:spPr>
          <a:xfrm>
            <a:off x="2633472" y="5577840"/>
            <a:ext cx="112014" cy="0"/>
          </a:xfrm>
          <a:prstGeom prst="line">
            <a:avLst/>
          </a:prstGeom>
          <a:noFill/>
          <a:ln w="25400">
            <a:solidFill>
              <a:schemeClr val="accent1"/>
            </a:solidFill>
            <a:prstDash val="solid"/>
            <a:tailEnd type="triangle"/>
          </a:ln>
        </p:spPr>
      </p:sp>
      <p:sp>
        <p:nvSpPr>
          <p:cNvPr id="28" name="Step circle 2"/>
          <p:cNvSpPr/>
          <p:nvPr/>
        </p:nvSpPr>
        <p:spPr>
          <a:xfrm>
            <a:off x="2818638" y="5349240"/>
            <a:ext cx="457200" cy="457200"/>
          </a:xfrm>
          <a:prstGeom prst="ellipse">
            <a:avLst/>
          </a:prstGeom>
          <a:solidFill>
            <a:schemeClr val="accent1"/>
          </a:solidFill>
          <a:ln w="12700">
            <a:solidFill>
              <a:schemeClr val="accent1"/>
            </a:solidFill>
            <a:prstDash val="solid"/>
          </a:ln>
        </p:spPr>
      </p:sp>
      <p:sp>
        <p:nvSpPr>
          <p:cNvPr id="29" name="Step number 2"/>
          <p:cNvSpPr txBox="1"/>
          <p:nvPr/>
        </p:nvSpPr>
        <p:spPr>
          <a:xfrm>
            <a:off x="2818638" y="53492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30" name="Step text 2"/>
          <p:cNvSpPr txBox="1"/>
          <p:nvPr/>
        </p:nvSpPr>
        <p:spPr>
          <a:xfrm>
            <a:off x="3367278" y="5257800"/>
            <a:ext cx="1463040" cy="822960"/>
          </a:xfrm>
          <a:prstGeom prst="rect">
            <a:avLst/>
          </a:prstGeom>
          <a:noFill/>
          <a:ln/>
        </p:spPr>
        <p:txBody>
          <a:bodyPr wrap="square" lIns="0" tIns="0" rIns="0" bIns="0" rtlCol="0" anchor="ctr"/>
          <a:lstStyle/>
          <a:p>
            <a:pPr marL="0" indent="0">
              <a:buNone/>
            </a:pPr>
            <a:r>
              <a:rPr lang="en-US" sz="1400" dirty="0">
                <a:solidFill>
                  <a:schemeClr val="tx1"/>
                </a:solidFill>
              </a:rPr>
              <a:t>API generates an OTP and emails it</a:t>
            </a:r>
            <a:endParaRPr lang="en-US" sz="1400" dirty="0"/>
          </a:p>
        </p:txBody>
      </p:sp>
      <p:sp>
        <p:nvSpPr>
          <p:cNvPr id="31" name="Step arrow 2"/>
          <p:cNvSpPr/>
          <p:nvPr/>
        </p:nvSpPr>
        <p:spPr>
          <a:xfrm>
            <a:off x="4903470" y="5577840"/>
            <a:ext cx="112014" cy="0"/>
          </a:xfrm>
          <a:prstGeom prst="line">
            <a:avLst/>
          </a:prstGeom>
          <a:noFill/>
          <a:ln w="25400">
            <a:solidFill>
              <a:schemeClr val="accent1"/>
            </a:solidFill>
            <a:prstDash val="solid"/>
            <a:tailEnd type="triangle"/>
          </a:ln>
        </p:spPr>
      </p:sp>
      <p:sp>
        <p:nvSpPr>
          <p:cNvPr id="32" name="Step circle 3"/>
          <p:cNvSpPr/>
          <p:nvPr/>
        </p:nvSpPr>
        <p:spPr>
          <a:xfrm>
            <a:off x="5088636" y="5349240"/>
            <a:ext cx="457200" cy="457200"/>
          </a:xfrm>
          <a:prstGeom prst="ellipse">
            <a:avLst/>
          </a:prstGeom>
          <a:solidFill>
            <a:schemeClr val="accent1"/>
          </a:solidFill>
          <a:ln w="12700">
            <a:solidFill>
              <a:schemeClr val="accent1"/>
            </a:solidFill>
            <a:prstDash val="solid"/>
          </a:ln>
        </p:spPr>
      </p:sp>
      <p:sp>
        <p:nvSpPr>
          <p:cNvPr id="33" name="Step number 3"/>
          <p:cNvSpPr txBox="1"/>
          <p:nvPr/>
        </p:nvSpPr>
        <p:spPr>
          <a:xfrm>
            <a:off x="5088636" y="53492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34" name="Step text 3"/>
          <p:cNvSpPr txBox="1"/>
          <p:nvPr/>
        </p:nvSpPr>
        <p:spPr>
          <a:xfrm>
            <a:off x="5637276" y="5257800"/>
            <a:ext cx="1463040" cy="822960"/>
          </a:xfrm>
          <a:prstGeom prst="rect">
            <a:avLst/>
          </a:prstGeom>
          <a:noFill/>
          <a:ln/>
        </p:spPr>
        <p:txBody>
          <a:bodyPr wrap="square" lIns="0" tIns="0" rIns="0" bIns="0" rtlCol="0" anchor="ctr"/>
          <a:lstStyle/>
          <a:p>
            <a:pPr marL="0" indent="0">
              <a:buNone/>
            </a:pPr>
            <a:r>
              <a:rPr lang="en-US" sz="1400" dirty="0">
                <a:solidFill>
                  <a:schemeClr val="tx1"/>
                </a:solidFill>
              </a:rPr>
              <a:t>User types the code in the app</a:t>
            </a:r>
            <a:endParaRPr lang="en-US" sz="1400" dirty="0"/>
          </a:p>
        </p:txBody>
      </p:sp>
      <p:sp>
        <p:nvSpPr>
          <p:cNvPr id="35" name="Step arrow 3"/>
          <p:cNvSpPr/>
          <p:nvPr/>
        </p:nvSpPr>
        <p:spPr>
          <a:xfrm>
            <a:off x="7173468" y="5577840"/>
            <a:ext cx="112014" cy="0"/>
          </a:xfrm>
          <a:prstGeom prst="line">
            <a:avLst/>
          </a:prstGeom>
          <a:noFill/>
          <a:ln w="25400">
            <a:solidFill>
              <a:schemeClr val="accent1"/>
            </a:solidFill>
            <a:prstDash val="solid"/>
            <a:tailEnd type="triangle"/>
          </a:ln>
        </p:spPr>
      </p:sp>
      <p:sp>
        <p:nvSpPr>
          <p:cNvPr id="36" name="Step circle 4"/>
          <p:cNvSpPr/>
          <p:nvPr/>
        </p:nvSpPr>
        <p:spPr>
          <a:xfrm>
            <a:off x="7358634" y="5349240"/>
            <a:ext cx="457200" cy="457200"/>
          </a:xfrm>
          <a:prstGeom prst="ellipse">
            <a:avLst/>
          </a:prstGeom>
          <a:solidFill>
            <a:schemeClr val="accent1"/>
          </a:solidFill>
          <a:ln w="12700">
            <a:solidFill>
              <a:schemeClr val="accent1"/>
            </a:solidFill>
            <a:prstDash val="solid"/>
          </a:ln>
        </p:spPr>
      </p:sp>
      <p:sp>
        <p:nvSpPr>
          <p:cNvPr id="37" name="Step number 4"/>
          <p:cNvSpPr txBox="1"/>
          <p:nvPr/>
        </p:nvSpPr>
        <p:spPr>
          <a:xfrm>
            <a:off x="7358634" y="53492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38" name="Step text 4"/>
          <p:cNvSpPr txBox="1"/>
          <p:nvPr/>
        </p:nvSpPr>
        <p:spPr>
          <a:xfrm>
            <a:off x="7907274" y="5257800"/>
            <a:ext cx="1463040" cy="822960"/>
          </a:xfrm>
          <a:prstGeom prst="rect">
            <a:avLst/>
          </a:prstGeom>
          <a:noFill/>
          <a:ln/>
        </p:spPr>
        <p:txBody>
          <a:bodyPr wrap="square" lIns="0" tIns="0" rIns="0" bIns="0" rtlCol="0" anchor="ctr"/>
          <a:lstStyle/>
          <a:p>
            <a:pPr marL="0" indent="0">
              <a:buNone/>
            </a:pPr>
            <a:r>
              <a:rPr lang="en-US" sz="1400" dirty="0">
                <a:solidFill>
                  <a:schemeClr val="tx1"/>
                </a:solidFill>
              </a:rPr>
              <a:t>API verifies the code</a:t>
            </a:r>
            <a:endParaRPr lang="en-US" sz="1400" dirty="0"/>
          </a:p>
        </p:txBody>
      </p:sp>
      <p:sp>
        <p:nvSpPr>
          <p:cNvPr id="39" name="Step arrow 4"/>
          <p:cNvSpPr/>
          <p:nvPr/>
        </p:nvSpPr>
        <p:spPr>
          <a:xfrm>
            <a:off x="9443466" y="5577840"/>
            <a:ext cx="112014" cy="0"/>
          </a:xfrm>
          <a:prstGeom prst="line">
            <a:avLst/>
          </a:prstGeom>
          <a:noFill/>
          <a:ln w="25400">
            <a:solidFill>
              <a:schemeClr val="accent1"/>
            </a:solidFill>
            <a:prstDash val="solid"/>
            <a:tailEnd type="triangle"/>
          </a:ln>
        </p:spPr>
      </p:sp>
      <p:sp>
        <p:nvSpPr>
          <p:cNvPr id="40" name="Step circle 5"/>
          <p:cNvSpPr/>
          <p:nvPr/>
        </p:nvSpPr>
        <p:spPr>
          <a:xfrm>
            <a:off x="9628632" y="5349240"/>
            <a:ext cx="457200" cy="457200"/>
          </a:xfrm>
          <a:prstGeom prst="ellipse">
            <a:avLst/>
          </a:prstGeom>
          <a:solidFill>
            <a:schemeClr val="accent1"/>
          </a:solidFill>
          <a:ln w="12700">
            <a:solidFill>
              <a:schemeClr val="accent1"/>
            </a:solidFill>
            <a:prstDash val="solid"/>
          </a:ln>
        </p:spPr>
      </p:sp>
      <p:sp>
        <p:nvSpPr>
          <p:cNvPr id="41" name="Step number 5"/>
          <p:cNvSpPr txBox="1"/>
          <p:nvPr/>
        </p:nvSpPr>
        <p:spPr>
          <a:xfrm>
            <a:off x="9628632" y="53492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42" name="Step text 5"/>
          <p:cNvSpPr txBox="1"/>
          <p:nvPr/>
        </p:nvSpPr>
        <p:spPr>
          <a:xfrm>
            <a:off x="10177272" y="5257800"/>
            <a:ext cx="1463040" cy="822960"/>
          </a:xfrm>
          <a:prstGeom prst="rect">
            <a:avLst/>
          </a:prstGeom>
          <a:noFill/>
          <a:ln/>
        </p:spPr>
        <p:txBody>
          <a:bodyPr wrap="square" lIns="0" tIns="0" rIns="0" bIns="0" rtlCol="0" anchor="ctr"/>
          <a:lstStyle/>
          <a:p>
            <a:pPr marL="0" indent="0">
              <a:buNone/>
            </a:pPr>
            <a:r>
              <a:rPr lang="en-US" sz="1400" dirty="0">
                <a:solidFill>
                  <a:schemeClr val="tx1"/>
                </a:solidFill>
              </a:rPr>
              <a:t>Session starts for user or admin</a:t>
            </a:r>
            <a:endParaRPr lang="en-US" sz="1400" dirty="0"/>
          </a:p>
        </p:txBody>
      </p:sp>
      <p:sp>
        <p:nvSpPr>
          <p:cNvPr id="43"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347472"/>
            <a:ext cx="8229600" cy="274320"/>
          </a:xfrm>
          <a:prstGeom prst="rect">
            <a:avLst/>
          </a:prstGeom>
          <a:noFill/>
          <a:ln/>
        </p:spPr>
        <p:txBody>
          <a:bodyPr wrap="square" lIns="0" tIns="0" rIns="0" bIns="0" rtlCol="0" anchor="ctr"/>
          <a:lstStyle/>
          <a:p>
            <a:pPr marL="0" indent="0">
              <a:buNone/>
            </a:pPr>
            <a:r>
              <a:rPr lang="en-US" sz="1400" b="1" kern="0" spc="200" dirty="0">
                <a:solidFill>
                  <a:schemeClr val="accent1"/>
                </a:solidFill>
              </a:rPr>
              <a:t>06  |  TECHNOLOGY STACK</a:t>
            </a:r>
            <a:endParaRPr lang="en-US" sz="1400" dirty="0"/>
          </a:p>
        </p:txBody>
      </p:sp>
      <p:sp>
        <p:nvSpPr>
          <p:cNvPr id="3" name="Text 1"/>
          <p:cNvSpPr>
            <a:spLocks noGrp="1"/>
          </p:cNvSpPr>
          <p:nvPr>
            <p:ph type="title" idx="101" hasCustomPrompt="1"/>
          </p:nvPr>
        </p:nvSpPr>
        <p:spPr>
          <a:xfrm>
            <a:off x="548640" y="640080"/>
            <a:ext cx="11091672" cy="777240"/>
          </a:xfrm>
          <a:prstGeom prst="rect">
            <a:avLst/>
          </a:prstGeom>
          <a:noFill/>
          <a:ln/>
        </p:spPr>
        <p:txBody>
          <a:bodyPr wrap="square" lIns="0" tIns="0" rIns="0" bIns="0" rtlCol="0" anchor="ctr"/>
          <a:lstStyle/>
          <a:p>
            <a:pPr marL="0" indent="0" algn="l">
              <a:buNone/>
            </a:pPr>
            <a:r>
              <a:rPr lang="en-US" sz="3400" b="1" dirty="0">
                <a:solidFill>
                  <a:schemeClr val="tx2"/>
                </a:solidFill>
              </a:rPr>
              <a:t>Technologies and Tools Used</a:t>
            </a:r>
            <a:endParaRPr lang="en-US" sz="3400" dirty="0"/>
          </a:p>
        </p:txBody>
      </p:sp>
      <p:sp>
        <p:nvSpPr>
          <p:cNvPr id="4" name="Stack row 1"/>
          <p:cNvSpPr/>
          <p:nvPr/>
        </p:nvSpPr>
        <p:spPr>
          <a:xfrm>
            <a:off x="548640" y="1600200"/>
            <a:ext cx="11091672" cy="804672"/>
          </a:xfrm>
          <a:prstGeom prst="roundRect">
            <a:avLst>
              <a:gd name="adj" fmla="val 13636"/>
            </a:avLst>
          </a:prstGeom>
          <a:solidFill>
            <a:schemeClr val="bg2"/>
          </a:solidFill>
          <a:ln w="12700">
            <a:solidFill>
              <a:schemeClr val="bg2"/>
            </a:solidFill>
            <a:prstDash val="solid"/>
          </a:ln>
        </p:spPr>
      </p:sp>
      <p:sp>
        <p:nvSpPr>
          <p:cNvPr id="5" name="Icon circle"/>
          <p:cNvSpPr/>
          <p:nvPr/>
        </p:nvSpPr>
        <p:spPr>
          <a:xfrm>
            <a:off x="731520" y="1728216"/>
            <a:ext cx="548640" cy="548640"/>
          </a:xfrm>
          <a:prstGeom prst="ellipse">
            <a:avLst/>
          </a:prstGeom>
          <a:solidFill>
            <a:schemeClr val="accent5"/>
          </a:solidFill>
          <a:ln w="12700">
            <a:solidFill>
              <a:schemeClr val="accent5"/>
            </a:solidFill>
            <a:prstDash val="solid"/>
          </a:ln>
        </p:spPr>
      </p:sp>
      <p:pic>
        <p:nvPicPr>
          <p:cNvPr id="6" name="Icon FaMobileAlt" descr="FaMobileAlt"/>
          <p:cNvPicPr>
            <a:picLocks noChangeAspect="1"/>
          </p:cNvPicPr>
          <p:nvPr/>
        </p:nvPicPr>
        <p:blipFill>
          <a:blip r:embed="rId3"/>
          <a:stretch>
            <a:fillRect/>
          </a:stretch>
        </p:blipFill>
        <p:spPr>
          <a:xfrm>
            <a:off x="879653" y="1876349"/>
            <a:ext cx="252374" cy="252374"/>
          </a:xfrm>
          <a:prstGeom prst="rect">
            <a:avLst/>
          </a:prstGeom>
        </p:spPr>
      </p:pic>
      <p:sp>
        <p:nvSpPr>
          <p:cNvPr id="7" name="Stack label 1"/>
          <p:cNvSpPr txBox="1"/>
          <p:nvPr/>
        </p:nvSpPr>
        <p:spPr>
          <a:xfrm>
            <a:off x="1463040" y="1645920"/>
            <a:ext cx="2651760" cy="713232"/>
          </a:xfrm>
          <a:prstGeom prst="rect">
            <a:avLst/>
          </a:prstGeom>
          <a:noFill/>
          <a:ln/>
        </p:spPr>
        <p:txBody>
          <a:bodyPr wrap="square" lIns="0" tIns="0" rIns="0" bIns="0" rtlCol="0" anchor="ctr"/>
          <a:lstStyle/>
          <a:p>
            <a:pPr marL="0" indent="0">
              <a:buNone/>
            </a:pPr>
            <a:r>
              <a:rPr lang="en-US" sz="1800" b="1" dirty="0">
                <a:solidFill>
                  <a:schemeClr val="tx2"/>
                </a:solidFill>
              </a:rPr>
              <a:t>Frontend</a:t>
            </a:r>
            <a:endParaRPr lang="en-US" sz="1800" dirty="0"/>
          </a:p>
          <a:p>
            <a:pPr marL="0" indent="0">
              <a:buNone/>
            </a:pPr>
            <a:r>
              <a:rPr lang="en-US" sz="1400" dirty="0">
                <a:solidFill>
                  <a:schemeClr val="tx1"/>
                </a:solidFill>
              </a:rPr>
              <a:t>Cross-platform mobile UI</a:t>
            </a:r>
            <a:endParaRPr lang="en-US" sz="1800" dirty="0"/>
          </a:p>
        </p:txBody>
      </p:sp>
      <p:sp>
        <p:nvSpPr>
          <p:cNvPr id="8" name="Chip Flutter"/>
          <p:cNvSpPr/>
          <p:nvPr/>
        </p:nvSpPr>
        <p:spPr>
          <a:xfrm>
            <a:off x="4297680" y="1783080"/>
            <a:ext cx="1097280" cy="438912"/>
          </a:xfrm>
          <a:prstGeom prst="roundRect">
            <a:avLst>
              <a:gd name="adj" fmla="val 50000"/>
            </a:avLst>
          </a:prstGeom>
          <a:solidFill>
            <a:schemeClr val="bg1"/>
          </a:solidFill>
          <a:ln w="19050">
            <a:solidFill>
              <a:schemeClr val="accent5"/>
            </a:solidFill>
            <a:prstDash val="solid"/>
          </a:ln>
        </p:spPr>
      </p:sp>
      <p:sp>
        <p:nvSpPr>
          <p:cNvPr id="9" name="Chip text Flutter"/>
          <p:cNvSpPr txBox="1"/>
          <p:nvPr/>
        </p:nvSpPr>
        <p:spPr>
          <a:xfrm>
            <a:off x="4297680" y="1783080"/>
            <a:ext cx="1097280" cy="438912"/>
          </a:xfrm>
          <a:prstGeom prst="rect">
            <a:avLst/>
          </a:prstGeom>
          <a:noFill/>
          <a:ln/>
        </p:spPr>
        <p:txBody>
          <a:bodyPr wrap="square" lIns="0" tIns="0" rIns="0" bIns="0" rtlCol="0" anchor="ctr"/>
          <a:lstStyle/>
          <a:p>
            <a:pPr marL="0" indent="0" algn="ctr">
              <a:buNone/>
            </a:pPr>
            <a:r>
              <a:rPr lang="en-US" sz="1400" b="1" dirty="0">
                <a:solidFill>
                  <a:schemeClr val="tx2"/>
                </a:solidFill>
              </a:rPr>
              <a:t>Flutter</a:t>
            </a:r>
            <a:endParaRPr lang="en-US" sz="1400" dirty="0"/>
          </a:p>
        </p:txBody>
      </p:sp>
      <p:sp>
        <p:nvSpPr>
          <p:cNvPr id="10" name="Chip Dart"/>
          <p:cNvSpPr/>
          <p:nvPr/>
        </p:nvSpPr>
        <p:spPr>
          <a:xfrm>
            <a:off x="5559552" y="1783080"/>
            <a:ext cx="822960" cy="438912"/>
          </a:xfrm>
          <a:prstGeom prst="roundRect">
            <a:avLst>
              <a:gd name="adj" fmla="val 50000"/>
            </a:avLst>
          </a:prstGeom>
          <a:solidFill>
            <a:schemeClr val="bg1"/>
          </a:solidFill>
          <a:ln w="19050">
            <a:solidFill>
              <a:schemeClr val="accent5"/>
            </a:solidFill>
            <a:prstDash val="solid"/>
          </a:ln>
        </p:spPr>
      </p:sp>
      <p:sp>
        <p:nvSpPr>
          <p:cNvPr id="11" name="Chip text Dart"/>
          <p:cNvSpPr txBox="1"/>
          <p:nvPr/>
        </p:nvSpPr>
        <p:spPr>
          <a:xfrm>
            <a:off x="5559552" y="1783080"/>
            <a:ext cx="822960" cy="438912"/>
          </a:xfrm>
          <a:prstGeom prst="rect">
            <a:avLst/>
          </a:prstGeom>
          <a:noFill/>
          <a:ln/>
        </p:spPr>
        <p:txBody>
          <a:bodyPr wrap="square" lIns="0" tIns="0" rIns="0" bIns="0" rtlCol="0" anchor="ctr"/>
          <a:lstStyle/>
          <a:p>
            <a:pPr marL="0" indent="0" algn="ctr">
              <a:buNone/>
            </a:pPr>
            <a:r>
              <a:rPr lang="en-US" sz="1400" b="1" dirty="0">
                <a:solidFill>
                  <a:schemeClr val="tx2"/>
                </a:solidFill>
              </a:rPr>
              <a:t>Dart</a:t>
            </a:r>
            <a:endParaRPr lang="en-US" sz="1400" dirty="0"/>
          </a:p>
        </p:txBody>
      </p:sp>
      <p:sp>
        <p:nvSpPr>
          <p:cNvPr id="12" name="Stack row 2"/>
          <p:cNvSpPr/>
          <p:nvPr/>
        </p:nvSpPr>
        <p:spPr>
          <a:xfrm>
            <a:off x="548640" y="2514600"/>
            <a:ext cx="11091672" cy="804672"/>
          </a:xfrm>
          <a:prstGeom prst="roundRect">
            <a:avLst>
              <a:gd name="adj" fmla="val 13636"/>
            </a:avLst>
          </a:prstGeom>
          <a:solidFill>
            <a:schemeClr val="bg2"/>
          </a:solidFill>
          <a:ln w="12700">
            <a:solidFill>
              <a:schemeClr val="bg2"/>
            </a:solidFill>
            <a:prstDash val="solid"/>
          </a:ln>
        </p:spPr>
      </p:sp>
      <p:sp>
        <p:nvSpPr>
          <p:cNvPr id="13" name="Icon circle"/>
          <p:cNvSpPr/>
          <p:nvPr/>
        </p:nvSpPr>
        <p:spPr>
          <a:xfrm>
            <a:off x="731520" y="2642616"/>
            <a:ext cx="548640" cy="548640"/>
          </a:xfrm>
          <a:prstGeom prst="ellipse">
            <a:avLst/>
          </a:prstGeom>
          <a:solidFill>
            <a:schemeClr val="accent2"/>
          </a:solidFill>
          <a:ln w="12700">
            <a:solidFill>
              <a:schemeClr val="accent2"/>
            </a:solidFill>
            <a:prstDash val="solid"/>
          </a:ln>
        </p:spPr>
      </p:sp>
      <p:pic>
        <p:nvPicPr>
          <p:cNvPr id="14" name="Icon FaServer" descr="FaServer"/>
          <p:cNvPicPr>
            <a:picLocks noChangeAspect="1"/>
          </p:cNvPicPr>
          <p:nvPr/>
        </p:nvPicPr>
        <p:blipFill>
          <a:blip r:embed="rId4"/>
          <a:stretch>
            <a:fillRect/>
          </a:stretch>
        </p:blipFill>
        <p:spPr>
          <a:xfrm>
            <a:off x="879653" y="2790749"/>
            <a:ext cx="252374" cy="252374"/>
          </a:xfrm>
          <a:prstGeom prst="rect">
            <a:avLst/>
          </a:prstGeom>
        </p:spPr>
      </p:pic>
      <p:sp>
        <p:nvSpPr>
          <p:cNvPr id="15" name="Stack label 2"/>
          <p:cNvSpPr txBox="1"/>
          <p:nvPr/>
        </p:nvSpPr>
        <p:spPr>
          <a:xfrm>
            <a:off x="1463040" y="2560320"/>
            <a:ext cx="2651760" cy="713232"/>
          </a:xfrm>
          <a:prstGeom prst="rect">
            <a:avLst/>
          </a:prstGeom>
          <a:noFill/>
          <a:ln/>
        </p:spPr>
        <p:txBody>
          <a:bodyPr wrap="square" lIns="0" tIns="0" rIns="0" bIns="0" rtlCol="0" anchor="ctr"/>
          <a:lstStyle/>
          <a:p>
            <a:pPr marL="0" indent="0">
              <a:buNone/>
            </a:pPr>
            <a:r>
              <a:rPr lang="en-US" sz="1800" b="1" dirty="0">
                <a:solidFill>
                  <a:schemeClr val="tx2"/>
                </a:solidFill>
              </a:rPr>
              <a:t>Backend</a:t>
            </a:r>
            <a:endParaRPr lang="en-US" sz="1800" dirty="0"/>
          </a:p>
          <a:p>
            <a:pPr marL="0" indent="0">
              <a:buNone/>
            </a:pPr>
            <a:r>
              <a:rPr lang="en-US" sz="1400" dirty="0">
                <a:solidFill>
                  <a:schemeClr val="tx1"/>
                </a:solidFill>
              </a:rPr>
              <a:t>API and business logic</a:t>
            </a:r>
            <a:endParaRPr lang="en-US" sz="1800" dirty="0"/>
          </a:p>
        </p:txBody>
      </p:sp>
      <p:sp>
        <p:nvSpPr>
          <p:cNvPr id="16" name="Chip Node.js"/>
          <p:cNvSpPr/>
          <p:nvPr/>
        </p:nvSpPr>
        <p:spPr>
          <a:xfrm>
            <a:off x="4297680" y="2697480"/>
            <a:ext cx="1097280" cy="438912"/>
          </a:xfrm>
          <a:prstGeom prst="roundRect">
            <a:avLst>
              <a:gd name="adj" fmla="val 50000"/>
            </a:avLst>
          </a:prstGeom>
          <a:solidFill>
            <a:schemeClr val="bg1"/>
          </a:solidFill>
          <a:ln w="19050">
            <a:solidFill>
              <a:schemeClr val="accent2"/>
            </a:solidFill>
            <a:prstDash val="solid"/>
          </a:ln>
        </p:spPr>
      </p:sp>
      <p:sp>
        <p:nvSpPr>
          <p:cNvPr id="17" name="Chip text Node.js"/>
          <p:cNvSpPr txBox="1"/>
          <p:nvPr/>
        </p:nvSpPr>
        <p:spPr>
          <a:xfrm>
            <a:off x="4297680" y="2697480"/>
            <a:ext cx="1097280" cy="438912"/>
          </a:xfrm>
          <a:prstGeom prst="rect">
            <a:avLst/>
          </a:prstGeom>
          <a:noFill/>
          <a:ln/>
        </p:spPr>
        <p:txBody>
          <a:bodyPr wrap="square" lIns="0" tIns="0" rIns="0" bIns="0" rtlCol="0" anchor="ctr"/>
          <a:lstStyle/>
          <a:p>
            <a:pPr marL="0" indent="0" algn="ctr">
              <a:buNone/>
            </a:pPr>
            <a:r>
              <a:rPr lang="en-US" sz="1400" b="1" dirty="0">
                <a:solidFill>
                  <a:schemeClr val="tx2"/>
                </a:solidFill>
              </a:rPr>
              <a:t>Node.js</a:t>
            </a:r>
            <a:endParaRPr lang="en-US" sz="1400" dirty="0"/>
          </a:p>
        </p:txBody>
      </p:sp>
      <p:sp>
        <p:nvSpPr>
          <p:cNvPr id="18" name="Chip Express.js"/>
          <p:cNvSpPr/>
          <p:nvPr/>
        </p:nvSpPr>
        <p:spPr>
          <a:xfrm>
            <a:off x="5559552" y="2697480"/>
            <a:ext cx="1371600" cy="438912"/>
          </a:xfrm>
          <a:prstGeom prst="roundRect">
            <a:avLst>
              <a:gd name="adj" fmla="val 50000"/>
            </a:avLst>
          </a:prstGeom>
          <a:solidFill>
            <a:schemeClr val="bg1"/>
          </a:solidFill>
          <a:ln w="19050">
            <a:solidFill>
              <a:schemeClr val="accent2"/>
            </a:solidFill>
            <a:prstDash val="solid"/>
          </a:ln>
        </p:spPr>
      </p:sp>
      <p:sp>
        <p:nvSpPr>
          <p:cNvPr id="19" name="Chip text Express.js"/>
          <p:cNvSpPr txBox="1"/>
          <p:nvPr/>
        </p:nvSpPr>
        <p:spPr>
          <a:xfrm>
            <a:off x="5559552" y="2697480"/>
            <a:ext cx="1371600" cy="438912"/>
          </a:xfrm>
          <a:prstGeom prst="rect">
            <a:avLst/>
          </a:prstGeom>
          <a:noFill/>
          <a:ln/>
        </p:spPr>
        <p:txBody>
          <a:bodyPr wrap="square" lIns="0" tIns="0" rIns="0" bIns="0" rtlCol="0" anchor="ctr"/>
          <a:lstStyle/>
          <a:p>
            <a:pPr marL="0" indent="0" algn="ctr">
              <a:buNone/>
            </a:pPr>
            <a:r>
              <a:rPr lang="en-US" sz="1400" b="1" dirty="0">
                <a:solidFill>
                  <a:schemeClr val="tx2"/>
                </a:solidFill>
              </a:rPr>
              <a:t>Express.js</a:t>
            </a:r>
            <a:endParaRPr lang="en-US" sz="1400" dirty="0"/>
          </a:p>
        </p:txBody>
      </p:sp>
      <p:sp>
        <p:nvSpPr>
          <p:cNvPr id="20" name="Chip REST API"/>
          <p:cNvSpPr/>
          <p:nvPr/>
        </p:nvSpPr>
        <p:spPr>
          <a:xfrm>
            <a:off x="7095744" y="2697480"/>
            <a:ext cx="1188720" cy="438912"/>
          </a:xfrm>
          <a:prstGeom prst="roundRect">
            <a:avLst>
              <a:gd name="adj" fmla="val 50000"/>
            </a:avLst>
          </a:prstGeom>
          <a:solidFill>
            <a:schemeClr val="bg1"/>
          </a:solidFill>
          <a:ln w="19050">
            <a:solidFill>
              <a:schemeClr val="accent2"/>
            </a:solidFill>
            <a:prstDash val="solid"/>
          </a:ln>
        </p:spPr>
      </p:sp>
      <p:sp>
        <p:nvSpPr>
          <p:cNvPr id="21" name="Chip text REST API"/>
          <p:cNvSpPr txBox="1"/>
          <p:nvPr/>
        </p:nvSpPr>
        <p:spPr>
          <a:xfrm>
            <a:off x="7095744" y="2697480"/>
            <a:ext cx="1188720" cy="438912"/>
          </a:xfrm>
          <a:prstGeom prst="rect">
            <a:avLst/>
          </a:prstGeom>
          <a:noFill/>
          <a:ln/>
        </p:spPr>
        <p:txBody>
          <a:bodyPr wrap="square" lIns="0" tIns="0" rIns="0" bIns="0" rtlCol="0" anchor="ctr"/>
          <a:lstStyle/>
          <a:p>
            <a:pPr marL="0" indent="0" algn="ctr">
              <a:buNone/>
            </a:pPr>
            <a:r>
              <a:rPr lang="en-US" sz="1400" b="1" dirty="0">
                <a:solidFill>
                  <a:schemeClr val="tx2"/>
                </a:solidFill>
              </a:rPr>
              <a:t>REST API</a:t>
            </a:r>
            <a:endParaRPr lang="en-US" sz="1400" dirty="0"/>
          </a:p>
        </p:txBody>
      </p:sp>
      <p:sp>
        <p:nvSpPr>
          <p:cNvPr id="22" name="Stack row 3"/>
          <p:cNvSpPr/>
          <p:nvPr/>
        </p:nvSpPr>
        <p:spPr>
          <a:xfrm>
            <a:off x="548640" y="3429000"/>
            <a:ext cx="11091672" cy="804672"/>
          </a:xfrm>
          <a:prstGeom prst="roundRect">
            <a:avLst>
              <a:gd name="adj" fmla="val 13636"/>
            </a:avLst>
          </a:prstGeom>
          <a:solidFill>
            <a:schemeClr val="bg2"/>
          </a:solidFill>
          <a:ln w="12700">
            <a:solidFill>
              <a:schemeClr val="bg2"/>
            </a:solidFill>
            <a:prstDash val="solid"/>
          </a:ln>
        </p:spPr>
      </p:sp>
      <p:sp>
        <p:nvSpPr>
          <p:cNvPr id="23" name="Icon circle"/>
          <p:cNvSpPr/>
          <p:nvPr/>
        </p:nvSpPr>
        <p:spPr>
          <a:xfrm>
            <a:off x="731520" y="3557016"/>
            <a:ext cx="548640" cy="548640"/>
          </a:xfrm>
          <a:prstGeom prst="ellipse">
            <a:avLst/>
          </a:prstGeom>
          <a:solidFill>
            <a:schemeClr val="accent3"/>
          </a:solidFill>
          <a:ln w="12700">
            <a:solidFill>
              <a:schemeClr val="accent3"/>
            </a:solidFill>
            <a:prstDash val="solid"/>
          </a:ln>
        </p:spPr>
      </p:sp>
      <p:pic>
        <p:nvPicPr>
          <p:cNvPr id="24" name="Icon FaDatabase" descr="FaDatabase"/>
          <p:cNvPicPr>
            <a:picLocks noChangeAspect="1"/>
          </p:cNvPicPr>
          <p:nvPr/>
        </p:nvPicPr>
        <p:blipFill>
          <a:blip r:embed="rId5"/>
          <a:stretch>
            <a:fillRect/>
          </a:stretch>
        </p:blipFill>
        <p:spPr>
          <a:xfrm>
            <a:off x="879653" y="3705149"/>
            <a:ext cx="252374" cy="252374"/>
          </a:xfrm>
          <a:prstGeom prst="rect">
            <a:avLst/>
          </a:prstGeom>
        </p:spPr>
      </p:pic>
      <p:sp>
        <p:nvSpPr>
          <p:cNvPr id="25" name="Stack label 3"/>
          <p:cNvSpPr txBox="1"/>
          <p:nvPr/>
        </p:nvSpPr>
        <p:spPr>
          <a:xfrm>
            <a:off x="1463040" y="3474720"/>
            <a:ext cx="2651760" cy="713232"/>
          </a:xfrm>
          <a:prstGeom prst="rect">
            <a:avLst/>
          </a:prstGeom>
          <a:noFill/>
          <a:ln/>
        </p:spPr>
        <p:txBody>
          <a:bodyPr wrap="square" lIns="0" tIns="0" rIns="0" bIns="0" rtlCol="0" anchor="ctr"/>
          <a:lstStyle/>
          <a:p>
            <a:pPr marL="0" indent="0">
              <a:buNone/>
            </a:pPr>
            <a:r>
              <a:rPr lang="en-US" sz="1800" b="1" dirty="0">
                <a:solidFill>
                  <a:schemeClr val="tx2"/>
                </a:solidFill>
              </a:rPr>
              <a:t>Database</a:t>
            </a:r>
            <a:endParaRPr lang="en-US" sz="1800" dirty="0"/>
          </a:p>
          <a:p>
            <a:pPr marL="0" indent="0">
              <a:buNone/>
            </a:pPr>
            <a:r>
              <a:rPr lang="en-US" sz="1400" dirty="0">
                <a:solidFill>
                  <a:schemeClr val="tx1"/>
                </a:solidFill>
              </a:rPr>
              <a:t>Flexible document storage</a:t>
            </a:r>
            <a:endParaRPr lang="en-US" sz="1800" dirty="0"/>
          </a:p>
        </p:txBody>
      </p:sp>
      <p:sp>
        <p:nvSpPr>
          <p:cNvPr id="26" name="Chip MongoDB"/>
          <p:cNvSpPr/>
          <p:nvPr/>
        </p:nvSpPr>
        <p:spPr>
          <a:xfrm>
            <a:off x="4297680" y="3611880"/>
            <a:ext cx="1097280" cy="438912"/>
          </a:xfrm>
          <a:prstGeom prst="roundRect">
            <a:avLst>
              <a:gd name="adj" fmla="val 50000"/>
            </a:avLst>
          </a:prstGeom>
          <a:solidFill>
            <a:schemeClr val="bg1"/>
          </a:solidFill>
          <a:ln w="19050">
            <a:solidFill>
              <a:schemeClr val="accent3"/>
            </a:solidFill>
            <a:prstDash val="solid"/>
          </a:ln>
        </p:spPr>
      </p:sp>
      <p:sp>
        <p:nvSpPr>
          <p:cNvPr id="27" name="Chip text MongoDB"/>
          <p:cNvSpPr txBox="1"/>
          <p:nvPr/>
        </p:nvSpPr>
        <p:spPr>
          <a:xfrm>
            <a:off x="4297680" y="3611880"/>
            <a:ext cx="1097280" cy="438912"/>
          </a:xfrm>
          <a:prstGeom prst="rect">
            <a:avLst/>
          </a:prstGeom>
          <a:noFill/>
          <a:ln/>
        </p:spPr>
        <p:txBody>
          <a:bodyPr wrap="square" lIns="0" tIns="0" rIns="0" bIns="0" rtlCol="0" anchor="ctr"/>
          <a:lstStyle/>
          <a:p>
            <a:pPr marL="0" indent="0" algn="ctr">
              <a:buNone/>
            </a:pPr>
            <a:r>
              <a:rPr lang="en-US" sz="1400" b="1" dirty="0">
                <a:solidFill>
                  <a:schemeClr val="tx2"/>
                </a:solidFill>
              </a:rPr>
              <a:t>MongoDB</a:t>
            </a:r>
            <a:endParaRPr lang="en-US" sz="1400" dirty="0"/>
          </a:p>
        </p:txBody>
      </p:sp>
      <p:sp>
        <p:nvSpPr>
          <p:cNvPr id="28" name="Stack row 4"/>
          <p:cNvSpPr/>
          <p:nvPr/>
        </p:nvSpPr>
        <p:spPr>
          <a:xfrm>
            <a:off x="548640" y="4343400"/>
            <a:ext cx="11091672" cy="804672"/>
          </a:xfrm>
          <a:prstGeom prst="roundRect">
            <a:avLst>
              <a:gd name="adj" fmla="val 13636"/>
            </a:avLst>
          </a:prstGeom>
          <a:solidFill>
            <a:schemeClr val="bg2"/>
          </a:solidFill>
          <a:ln w="12700">
            <a:solidFill>
              <a:schemeClr val="bg2"/>
            </a:solidFill>
            <a:prstDash val="solid"/>
          </a:ln>
        </p:spPr>
      </p:sp>
      <p:sp>
        <p:nvSpPr>
          <p:cNvPr id="29" name="Icon circle"/>
          <p:cNvSpPr/>
          <p:nvPr/>
        </p:nvSpPr>
        <p:spPr>
          <a:xfrm>
            <a:off x="731520" y="4471416"/>
            <a:ext cx="548640" cy="548640"/>
          </a:xfrm>
          <a:prstGeom prst="ellipse">
            <a:avLst/>
          </a:prstGeom>
          <a:solidFill>
            <a:schemeClr val="accent6"/>
          </a:solidFill>
          <a:ln w="12700">
            <a:solidFill>
              <a:schemeClr val="accent6"/>
            </a:solidFill>
            <a:prstDash val="solid"/>
          </a:ln>
        </p:spPr>
      </p:sp>
      <p:pic>
        <p:nvPicPr>
          <p:cNvPr id="30" name="Icon FaVial" descr="FaVial"/>
          <p:cNvPicPr>
            <a:picLocks noChangeAspect="1"/>
          </p:cNvPicPr>
          <p:nvPr/>
        </p:nvPicPr>
        <p:blipFill>
          <a:blip r:embed="rId6"/>
          <a:stretch>
            <a:fillRect/>
          </a:stretch>
        </p:blipFill>
        <p:spPr>
          <a:xfrm>
            <a:off x="879653" y="4619549"/>
            <a:ext cx="252374" cy="252374"/>
          </a:xfrm>
          <a:prstGeom prst="rect">
            <a:avLst/>
          </a:prstGeom>
        </p:spPr>
      </p:pic>
      <p:sp>
        <p:nvSpPr>
          <p:cNvPr id="31" name="Stack label 4"/>
          <p:cNvSpPr txBox="1"/>
          <p:nvPr/>
        </p:nvSpPr>
        <p:spPr>
          <a:xfrm>
            <a:off x="1463040" y="4389120"/>
            <a:ext cx="2651760" cy="713232"/>
          </a:xfrm>
          <a:prstGeom prst="rect">
            <a:avLst/>
          </a:prstGeom>
          <a:noFill/>
          <a:ln/>
        </p:spPr>
        <p:txBody>
          <a:bodyPr wrap="square" lIns="0" tIns="0" rIns="0" bIns="0" rtlCol="0" anchor="ctr"/>
          <a:lstStyle/>
          <a:p>
            <a:pPr marL="0" indent="0">
              <a:buNone/>
            </a:pPr>
            <a:r>
              <a:rPr lang="en-US" sz="1800" b="1" dirty="0">
                <a:solidFill>
                  <a:schemeClr val="tx2"/>
                </a:solidFill>
              </a:rPr>
              <a:t>Testing</a:t>
            </a:r>
            <a:endParaRPr lang="en-US" sz="1800" dirty="0"/>
          </a:p>
          <a:p>
            <a:pPr marL="0" indent="0">
              <a:buNone/>
            </a:pPr>
            <a:r>
              <a:rPr lang="en-US" sz="1400" dirty="0">
                <a:solidFill>
                  <a:schemeClr val="tx1"/>
                </a:solidFill>
              </a:rPr>
              <a:t>UI and API verification</a:t>
            </a:r>
            <a:endParaRPr lang="en-US" sz="1800" dirty="0"/>
          </a:p>
        </p:txBody>
      </p:sp>
      <p:sp>
        <p:nvSpPr>
          <p:cNvPr id="32" name="Chip Appium"/>
          <p:cNvSpPr/>
          <p:nvPr/>
        </p:nvSpPr>
        <p:spPr>
          <a:xfrm>
            <a:off x="4297680" y="4526280"/>
            <a:ext cx="1005840" cy="438912"/>
          </a:xfrm>
          <a:prstGeom prst="roundRect">
            <a:avLst>
              <a:gd name="adj" fmla="val 50000"/>
            </a:avLst>
          </a:prstGeom>
          <a:solidFill>
            <a:schemeClr val="bg1"/>
          </a:solidFill>
          <a:ln w="19050">
            <a:solidFill>
              <a:schemeClr val="accent6"/>
            </a:solidFill>
            <a:prstDash val="solid"/>
          </a:ln>
        </p:spPr>
      </p:sp>
      <p:sp>
        <p:nvSpPr>
          <p:cNvPr id="33" name="Chip text Appium"/>
          <p:cNvSpPr txBox="1"/>
          <p:nvPr/>
        </p:nvSpPr>
        <p:spPr>
          <a:xfrm>
            <a:off x="4297680" y="4526280"/>
            <a:ext cx="1005840" cy="438912"/>
          </a:xfrm>
          <a:prstGeom prst="rect">
            <a:avLst/>
          </a:prstGeom>
          <a:noFill/>
          <a:ln/>
        </p:spPr>
        <p:txBody>
          <a:bodyPr wrap="square" lIns="0" tIns="0" rIns="0" bIns="0" rtlCol="0" anchor="ctr"/>
          <a:lstStyle/>
          <a:p>
            <a:pPr marL="0" indent="0" algn="ctr">
              <a:buNone/>
            </a:pPr>
            <a:r>
              <a:rPr lang="en-US" sz="1400" b="1" dirty="0">
                <a:solidFill>
                  <a:schemeClr val="tx2"/>
                </a:solidFill>
              </a:rPr>
              <a:t>Appium</a:t>
            </a:r>
            <a:endParaRPr lang="en-US" sz="1400" dirty="0"/>
          </a:p>
        </p:txBody>
      </p:sp>
      <p:sp>
        <p:nvSpPr>
          <p:cNvPr id="34" name="Chip API testing tools"/>
          <p:cNvSpPr/>
          <p:nvPr/>
        </p:nvSpPr>
        <p:spPr>
          <a:xfrm>
            <a:off x="5468112" y="4526280"/>
            <a:ext cx="2011680" cy="438912"/>
          </a:xfrm>
          <a:prstGeom prst="roundRect">
            <a:avLst>
              <a:gd name="adj" fmla="val 50000"/>
            </a:avLst>
          </a:prstGeom>
          <a:solidFill>
            <a:schemeClr val="bg1"/>
          </a:solidFill>
          <a:ln w="19050">
            <a:solidFill>
              <a:schemeClr val="accent6"/>
            </a:solidFill>
            <a:prstDash val="solid"/>
          </a:ln>
        </p:spPr>
      </p:sp>
      <p:sp>
        <p:nvSpPr>
          <p:cNvPr id="35" name="Chip text API testing tools"/>
          <p:cNvSpPr txBox="1"/>
          <p:nvPr/>
        </p:nvSpPr>
        <p:spPr>
          <a:xfrm>
            <a:off x="5468112" y="4526280"/>
            <a:ext cx="2011680" cy="438912"/>
          </a:xfrm>
          <a:prstGeom prst="rect">
            <a:avLst/>
          </a:prstGeom>
          <a:noFill/>
          <a:ln/>
        </p:spPr>
        <p:txBody>
          <a:bodyPr wrap="square" lIns="0" tIns="0" rIns="0" bIns="0" rtlCol="0" anchor="ctr"/>
          <a:lstStyle/>
          <a:p>
            <a:pPr marL="0" indent="0" algn="ctr">
              <a:buNone/>
            </a:pPr>
            <a:r>
              <a:rPr lang="en-US" sz="1400" b="1" dirty="0">
                <a:solidFill>
                  <a:schemeClr val="tx2"/>
                </a:solidFill>
              </a:rPr>
              <a:t>API testing tools</a:t>
            </a:r>
            <a:endParaRPr lang="en-US" sz="1400" dirty="0"/>
          </a:p>
        </p:txBody>
      </p:sp>
      <p:sp>
        <p:nvSpPr>
          <p:cNvPr id="36" name="Stack row 5"/>
          <p:cNvSpPr/>
          <p:nvPr/>
        </p:nvSpPr>
        <p:spPr>
          <a:xfrm>
            <a:off x="548640" y="5257800"/>
            <a:ext cx="11091672" cy="804672"/>
          </a:xfrm>
          <a:prstGeom prst="roundRect">
            <a:avLst>
              <a:gd name="adj" fmla="val 13636"/>
            </a:avLst>
          </a:prstGeom>
          <a:solidFill>
            <a:schemeClr val="bg2"/>
          </a:solidFill>
          <a:ln w="12700">
            <a:solidFill>
              <a:schemeClr val="bg2"/>
            </a:solidFill>
            <a:prstDash val="solid"/>
          </a:ln>
        </p:spPr>
      </p:sp>
      <p:sp>
        <p:nvSpPr>
          <p:cNvPr id="37" name="Icon circle"/>
          <p:cNvSpPr/>
          <p:nvPr/>
        </p:nvSpPr>
        <p:spPr>
          <a:xfrm>
            <a:off x="731520" y="5385816"/>
            <a:ext cx="548640" cy="548640"/>
          </a:xfrm>
          <a:prstGeom prst="ellipse">
            <a:avLst/>
          </a:prstGeom>
          <a:solidFill>
            <a:schemeClr val="accent1"/>
          </a:solidFill>
          <a:ln w="12700">
            <a:solidFill>
              <a:schemeClr val="accent1"/>
            </a:solidFill>
            <a:prstDash val="solid"/>
          </a:ln>
        </p:spPr>
      </p:sp>
      <p:pic>
        <p:nvPicPr>
          <p:cNvPr id="38" name="Icon FaCodeBranch" descr="FaCodeBranch"/>
          <p:cNvPicPr>
            <a:picLocks noChangeAspect="1"/>
          </p:cNvPicPr>
          <p:nvPr/>
        </p:nvPicPr>
        <p:blipFill>
          <a:blip r:embed="rId7"/>
          <a:stretch>
            <a:fillRect/>
          </a:stretch>
        </p:blipFill>
        <p:spPr>
          <a:xfrm>
            <a:off x="879653" y="5533949"/>
            <a:ext cx="252374" cy="252374"/>
          </a:xfrm>
          <a:prstGeom prst="rect">
            <a:avLst/>
          </a:prstGeom>
        </p:spPr>
      </p:pic>
      <p:sp>
        <p:nvSpPr>
          <p:cNvPr id="39" name="Stack label 5"/>
          <p:cNvSpPr txBox="1"/>
          <p:nvPr/>
        </p:nvSpPr>
        <p:spPr>
          <a:xfrm>
            <a:off x="1463040" y="5303520"/>
            <a:ext cx="2651760" cy="713232"/>
          </a:xfrm>
          <a:prstGeom prst="rect">
            <a:avLst/>
          </a:prstGeom>
          <a:noFill/>
          <a:ln/>
        </p:spPr>
        <p:txBody>
          <a:bodyPr wrap="square" lIns="0" tIns="0" rIns="0" bIns="0" rtlCol="0" anchor="ctr"/>
          <a:lstStyle/>
          <a:p>
            <a:pPr marL="0" indent="0">
              <a:buNone/>
            </a:pPr>
            <a:r>
              <a:rPr lang="en-US" sz="1800" b="1" dirty="0">
                <a:solidFill>
                  <a:schemeClr val="tx2"/>
                </a:solidFill>
              </a:rPr>
              <a:t>DevOps</a:t>
            </a:r>
            <a:endParaRPr lang="en-US" sz="1800" dirty="0"/>
          </a:p>
          <a:p>
            <a:pPr marL="0" indent="0">
              <a:buNone/>
            </a:pPr>
            <a:r>
              <a:rPr lang="en-US" sz="1400" dirty="0">
                <a:solidFill>
                  <a:schemeClr val="tx1"/>
                </a:solidFill>
              </a:rPr>
              <a:t>Versioning, containers, deployment</a:t>
            </a:r>
            <a:endParaRPr lang="en-US" sz="1800" dirty="0"/>
          </a:p>
        </p:txBody>
      </p:sp>
      <p:sp>
        <p:nvSpPr>
          <p:cNvPr id="40" name="Chip Git / GitHub"/>
          <p:cNvSpPr/>
          <p:nvPr/>
        </p:nvSpPr>
        <p:spPr>
          <a:xfrm>
            <a:off x="4297680" y="5440680"/>
            <a:ext cx="1554480" cy="438912"/>
          </a:xfrm>
          <a:prstGeom prst="roundRect">
            <a:avLst>
              <a:gd name="adj" fmla="val 50000"/>
            </a:avLst>
          </a:prstGeom>
          <a:solidFill>
            <a:schemeClr val="bg1"/>
          </a:solidFill>
          <a:ln w="19050">
            <a:solidFill>
              <a:schemeClr val="accent1"/>
            </a:solidFill>
            <a:prstDash val="solid"/>
          </a:ln>
        </p:spPr>
      </p:sp>
      <p:sp>
        <p:nvSpPr>
          <p:cNvPr id="41" name="Chip text Git / GitHub"/>
          <p:cNvSpPr txBox="1"/>
          <p:nvPr/>
        </p:nvSpPr>
        <p:spPr>
          <a:xfrm>
            <a:off x="4297680" y="5440680"/>
            <a:ext cx="1554480" cy="438912"/>
          </a:xfrm>
          <a:prstGeom prst="rect">
            <a:avLst/>
          </a:prstGeom>
          <a:noFill/>
          <a:ln/>
        </p:spPr>
        <p:txBody>
          <a:bodyPr wrap="square" lIns="0" tIns="0" rIns="0" bIns="0" rtlCol="0" anchor="ctr"/>
          <a:lstStyle/>
          <a:p>
            <a:pPr marL="0" indent="0" algn="ctr">
              <a:buNone/>
            </a:pPr>
            <a:r>
              <a:rPr lang="en-US" sz="1400" b="1" dirty="0">
                <a:solidFill>
                  <a:schemeClr val="tx2"/>
                </a:solidFill>
              </a:rPr>
              <a:t>Git / GitHub</a:t>
            </a:r>
            <a:endParaRPr lang="en-US" sz="1400" dirty="0"/>
          </a:p>
        </p:txBody>
      </p:sp>
      <p:sp>
        <p:nvSpPr>
          <p:cNvPr id="42" name="Chip Docker"/>
          <p:cNvSpPr/>
          <p:nvPr/>
        </p:nvSpPr>
        <p:spPr>
          <a:xfrm>
            <a:off x="6016752" y="5440680"/>
            <a:ext cx="1005840" cy="438912"/>
          </a:xfrm>
          <a:prstGeom prst="roundRect">
            <a:avLst>
              <a:gd name="adj" fmla="val 50000"/>
            </a:avLst>
          </a:prstGeom>
          <a:solidFill>
            <a:schemeClr val="bg1"/>
          </a:solidFill>
          <a:ln w="19050">
            <a:solidFill>
              <a:schemeClr val="accent1"/>
            </a:solidFill>
            <a:prstDash val="solid"/>
          </a:ln>
        </p:spPr>
      </p:sp>
      <p:sp>
        <p:nvSpPr>
          <p:cNvPr id="43" name="Chip text Docker"/>
          <p:cNvSpPr txBox="1"/>
          <p:nvPr/>
        </p:nvSpPr>
        <p:spPr>
          <a:xfrm>
            <a:off x="6016752" y="5440680"/>
            <a:ext cx="1005840" cy="438912"/>
          </a:xfrm>
          <a:prstGeom prst="rect">
            <a:avLst/>
          </a:prstGeom>
          <a:noFill/>
          <a:ln/>
        </p:spPr>
        <p:txBody>
          <a:bodyPr wrap="square" lIns="0" tIns="0" rIns="0" bIns="0" rtlCol="0" anchor="ctr"/>
          <a:lstStyle/>
          <a:p>
            <a:pPr marL="0" indent="0" algn="ctr">
              <a:buNone/>
            </a:pPr>
            <a:r>
              <a:rPr lang="en-US" sz="1400" b="1" dirty="0">
                <a:solidFill>
                  <a:schemeClr val="tx2"/>
                </a:solidFill>
              </a:rPr>
              <a:t>Docker</a:t>
            </a:r>
            <a:endParaRPr lang="en-US" sz="1400" dirty="0"/>
          </a:p>
        </p:txBody>
      </p:sp>
      <p:sp>
        <p:nvSpPr>
          <p:cNvPr id="44" name="Chip Docker Compose"/>
          <p:cNvSpPr/>
          <p:nvPr/>
        </p:nvSpPr>
        <p:spPr>
          <a:xfrm>
            <a:off x="7187184" y="5440680"/>
            <a:ext cx="1737360" cy="438912"/>
          </a:xfrm>
          <a:prstGeom prst="roundRect">
            <a:avLst>
              <a:gd name="adj" fmla="val 50000"/>
            </a:avLst>
          </a:prstGeom>
          <a:solidFill>
            <a:schemeClr val="bg1"/>
          </a:solidFill>
          <a:ln w="19050">
            <a:solidFill>
              <a:schemeClr val="accent1"/>
            </a:solidFill>
            <a:prstDash val="solid"/>
          </a:ln>
        </p:spPr>
      </p:sp>
      <p:sp>
        <p:nvSpPr>
          <p:cNvPr id="45" name="Chip text Docker Compose"/>
          <p:cNvSpPr txBox="1"/>
          <p:nvPr/>
        </p:nvSpPr>
        <p:spPr>
          <a:xfrm>
            <a:off x="7187184" y="5440680"/>
            <a:ext cx="1737360" cy="438912"/>
          </a:xfrm>
          <a:prstGeom prst="rect">
            <a:avLst/>
          </a:prstGeom>
          <a:noFill/>
          <a:ln/>
        </p:spPr>
        <p:txBody>
          <a:bodyPr wrap="square" lIns="0" tIns="0" rIns="0" bIns="0" rtlCol="0" anchor="ctr"/>
          <a:lstStyle/>
          <a:p>
            <a:pPr marL="0" indent="0" algn="ctr">
              <a:buNone/>
            </a:pPr>
            <a:r>
              <a:rPr lang="en-US" sz="1400" b="1" dirty="0">
                <a:solidFill>
                  <a:schemeClr val="tx2"/>
                </a:solidFill>
              </a:rPr>
              <a:t>Docker Compose</a:t>
            </a:r>
            <a:endParaRPr lang="en-US" sz="1400" dirty="0"/>
          </a:p>
        </p:txBody>
      </p:sp>
      <p:sp>
        <p:nvSpPr>
          <p:cNvPr id="46" name="Chip Ansible"/>
          <p:cNvSpPr/>
          <p:nvPr/>
        </p:nvSpPr>
        <p:spPr>
          <a:xfrm>
            <a:off x="9089136" y="5440680"/>
            <a:ext cx="1097280" cy="438912"/>
          </a:xfrm>
          <a:prstGeom prst="roundRect">
            <a:avLst>
              <a:gd name="adj" fmla="val 50000"/>
            </a:avLst>
          </a:prstGeom>
          <a:solidFill>
            <a:schemeClr val="bg1"/>
          </a:solidFill>
          <a:ln w="19050">
            <a:solidFill>
              <a:schemeClr val="accent1"/>
            </a:solidFill>
            <a:prstDash val="solid"/>
          </a:ln>
        </p:spPr>
      </p:sp>
      <p:sp>
        <p:nvSpPr>
          <p:cNvPr id="47" name="Chip text Ansible"/>
          <p:cNvSpPr txBox="1"/>
          <p:nvPr/>
        </p:nvSpPr>
        <p:spPr>
          <a:xfrm>
            <a:off x="9089136" y="5440680"/>
            <a:ext cx="1097280" cy="438912"/>
          </a:xfrm>
          <a:prstGeom prst="rect">
            <a:avLst/>
          </a:prstGeom>
          <a:noFill/>
          <a:ln/>
        </p:spPr>
        <p:txBody>
          <a:bodyPr wrap="square" lIns="0" tIns="0" rIns="0" bIns="0" rtlCol="0" anchor="ctr"/>
          <a:lstStyle/>
          <a:p>
            <a:pPr marL="0" indent="0" algn="ctr">
              <a:buNone/>
            </a:pPr>
            <a:r>
              <a:rPr lang="en-US" sz="1400" b="1" dirty="0">
                <a:solidFill>
                  <a:schemeClr val="tx2"/>
                </a:solidFill>
              </a:rPr>
              <a:t>Ansible</a:t>
            </a:r>
            <a:endParaRPr lang="en-US" sz="1400" dirty="0"/>
          </a:p>
        </p:txBody>
      </p:sp>
      <p:sp>
        <p:nvSpPr>
          <p:cNvPr id="48" name="Chip AWS EC2"/>
          <p:cNvSpPr/>
          <p:nvPr/>
        </p:nvSpPr>
        <p:spPr>
          <a:xfrm>
            <a:off x="10351008" y="5440680"/>
            <a:ext cx="1097280" cy="438912"/>
          </a:xfrm>
          <a:prstGeom prst="roundRect">
            <a:avLst>
              <a:gd name="adj" fmla="val 50000"/>
            </a:avLst>
          </a:prstGeom>
          <a:solidFill>
            <a:schemeClr val="bg1"/>
          </a:solidFill>
          <a:ln w="19050">
            <a:solidFill>
              <a:schemeClr val="accent1"/>
            </a:solidFill>
            <a:prstDash val="solid"/>
          </a:ln>
        </p:spPr>
      </p:sp>
      <p:sp>
        <p:nvSpPr>
          <p:cNvPr id="49" name="Chip text AWS EC2"/>
          <p:cNvSpPr txBox="1"/>
          <p:nvPr/>
        </p:nvSpPr>
        <p:spPr>
          <a:xfrm>
            <a:off x="10351008" y="5440680"/>
            <a:ext cx="1097280" cy="438912"/>
          </a:xfrm>
          <a:prstGeom prst="rect">
            <a:avLst/>
          </a:prstGeom>
          <a:noFill/>
          <a:ln/>
        </p:spPr>
        <p:txBody>
          <a:bodyPr wrap="square" lIns="0" tIns="0" rIns="0" bIns="0" rtlCol="0" anchor="ctr"/>
          <a:lstStyle/>
          <a:p>
            <a:pPr marL="0" indent="0" algn="ctr">
              <a:buNone/>
            </a:pPr>
            <a:r>
              <a:rPr lang="en-US" sz="1400" b="1" dirty="0">
                <a:solidFill>
                  <a:schemeClr val="tx2"/>
                </a:solidFill>
              </a:rPr>
              <a:t>AWS EC2</a:t>
            </a:r>
            <a:endParaRPr lang="en-US" sz="1400" dirty="0"/>
          </a:p>
        </p:txBody>
      </p:sp>
      <p:sp>
        <p:nvSpPr>
          <p:cNvPr id="50"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5143A-454A-DD1D-5934-610866AE63A3}"/>
              </a:ext>
            </a:extLst>
          </p:cNvPr>
          <p:cNvSpPr>
            <a:spLocks noGrp="1"/>
          </p:cNvSpPr>
          <p:nvPr>
            <p:ph type="title" idx="101"/>
          </p:nvPr>
        </p:nvSpPr>
        <p:spPr>
          <a:xfrm>
            <a:off x="548640" y="312420"/>
            <a:ext cx="11091672" cy="777240"/>
          </a:xfrm>
        </p:spPr>
        <p:txBody>
          <a:bodyPr/>
          <a:lstStyle/>
          <a:p>
            <a:r>
              <a:rPr lang="en-US" dirty="0"/>
              <a:t>How a sample user interacts with the Application</a:t>
            </a:r>
          </a:p>
        </p:txBody>
      </p:sp>
      <p:pic>
        <p:nvPicPr>
          <p:cNvPr id="6" name="Picture 5">
            <a:extLst>
              <a:ext uri="{FF2B5EF4-FFF2-40B4-BE49-F238E27FC236}">
                <a16:creationId xmlns:a16="http://schemas.microsoft.com/office/drawing/2014/main" id="{E5F59D32-5728-EF90-65E1-4DD00E843BEF}"/>
              </a:ext>
            </a:extLst>
          </p:cNvPr>
          <p:cNvPicPr>
            <a:picLocks noChangeAspect="1"/>
          </p:cNvPicPr>
          <p:nvPr/>
        </p:nvPicPr>
        <p:blipFill>
          <a:blip r:embed="rId2"/>
          <a:stretch>
            <a:fillRect/>
          </a:stretch>
        </p:blipFill>
        <p:spPr>
          <a:xfrm>
            <a:off x="91440" y="883920"/>
            <a:ext cx="6004560" cy="5516880"/>
          </a:xfrm>
          <a:prstGeom prst="rect">
            <a:avLst/>
          </a:prstGeom>
          <a:ln>
            <a:solidFill>
              <a:schemeClr val="accent1"/>
            </a:solidFill>
          </a:ln>
        </p:spPr>
      </p:pic>
      <p:pic>
        <p:nvPicPr>
          <p:cNvPr id="8" name="Picture 7">
            <a:extLst>
              <a:ext uri="{FF2B5EF4-FFF2-40B4-BE49-F238E27FC236}">
                <a16:creationId xmlns:a16="http://schemas.microsoft.com/office/drawing/2014/main" id="{E4FA9AAC-3C7B-0724-967A-6878A83DA9E1}"/>
              </a:ext>
            </a:extLst>
          </p:cNvPr>
          <p:cNvPicPr>
            <a:picLocks noChangeAspect="1"/>
          </p:cNvPicPr>
          <p:nvPr/>
        </p:nvPicPr>
        <p:blipFill>
          <a:blip r:embed="rId3"/>
          <a:stretch>
            <a:fillRect/>
          </a:stretch>
        </p:blipFill>
        <p:spPr>
          <a:xfrm>
            <a:off x="6096000" y="883920"/>
            <a:ext cx="6001512" cy="5661660"/>
          </a:xfrm>
          <a:prstGeom prst="rect">
            <a:avLst/>
          </a:prstGeom>
        </p:spPr>
      </p:pic>
      <mc:AlternateContent xmlns:mc="http://schemas.openxmlformats.org/markup-compatibility/2006" xmlns:p14="http://schemas.microsoft.com/office/powerpoint/2010/main" xmlns:aink="http://schemas.microsoft.com/office/drawing/2016/ink">
        <mc:Choice Requires="p14 aink">
          <p:contentPart p14:bwMode="auto" r:id="rId4">
            <p14:nvContentPartPr>
              <p14:cNvPr id="9" name="Ink 8">
                <a:extLst>
                  <a:ext uri="{FF2B5EF4-FFF2-40B4-BE49-F238E27FC236}">
                    <a16:creationId xmlns:a16="http://schemas.microsoft.com/office/drawing/2014/main" id="{D80163D6-A3F1-24D5-DB6C-922BC542F7C7}"/>
                  </a:ext>
                </a:extLst>
              </p14:cNvPr>
              <p14:cNvContentPartPr/>
              <p14:nvPr/>
            </p14:nvContentPartPr>
            <p14:xfrm>
              <a:off x="4664880" y="5253447"/>
              <a:ext cx="164880" cy="360"/>
            </p14:xfrm>
          </p:contentPart>
        </mc:Choice>
        <mc:Fallback xmlns="">
          <p:pic>
            <p:nvPicPr>
              <p:cNvPr id="9" name="Ink 8">
                <a:extLst>
                  <a:ext uri="{FF2B5EF4-FFF2-40B4-BE49-F238E27FC236}">
                    <a16:creationId xmlns:a16="http://schemas.microsoft.com/office/drawing/2014/main" id="{D80163D6-A3F1-24D5-DB6C-922BC542F7C7}"/>
                  </a:ext>
                </a:extLst>
              </p:cNvPr>
              <p:cNvPicPr/>
              <p:nvPr/>
            </p:nvPicPr>
            <p:blipFill>
              <a:blip r:embed="rId5"/>
              <a:stretch>
                <a:fillRect/>
              </a:stretch>
            </p:blipFill>
            <p:spPr>
              <a:xfrm>
                <a:off x="4656240" y="5244447"/>
                <a:ext cx="182520" cy="180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6">
            <p14:nvContentPartPr>
              <p14:cNvPr id="11" name="Ink 10">
                <a:extLst>
                  <a:ext uri="{FF2B5EF4-FFF2-40B4-BE49-F238E27FC236}">
                    <a16:creationId xmlns:a16="http://schemas.microsoft.com/office/drawing/2014/main" id="{30FFDDCE-45DB-6603-AB3A-5D1702600D98}"/>
                  </a:ext>
                </a:extLst>
              </p14:cNvPr>
              <p14:cNvContentPartPr/>
              <p14:nvPr/>
            </p14:nvContentPartPr>
            <p14:xfrm rot="-586760">
              <a:off x="4647696" y="5260684"/>
              <a:ext cx="138048" cy="12526"/>
            </p14:xfrm>
          </p:contentPart>
        </mc:Choice>
        <mc:Fallback xmlns="">
          <p:pic>
            <p:nvPicPr>
              <p:cNvPr id="11" name="Ink 10">
                <a:extLst>
                  <a:ext uri="{FF2B5EF4-FFF2-40B4-BE49-F238E27FC236}">
                    <a16:creationId xmlns:a16="http://schemas.microsoft.com/office/drawing/2014/main" id="{30FFDDCE-45DB-6603-AB3A-5D1702600D98}"/>
                  </a:ext>
                </a:extLst>
              </p:cNvPr>
              <p:cNvPicPr/>
              <p:nvPr/>
            </p:nvPicPr>
            <p:blipFill>
              <a:blip r:embed="rId7"/>
              <a:stretch>
                <a:fillRect/>
              </a:stretch>
            </p:blipFill>
            <p:spPr>
              <a:xfrm rot="-586760">
                <a:off x="4638708" y="5251737"/>
                <a:ext cx="155664" cy="30062"/>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8">
            <p14:nvContentPartPr>
              <p14:cNvPr id="13" name="Ink 12">
                <a:extLst>
                  <a:ext uri="{FF2B5EF4-FFF2-40B4-BE49-F238E27FC236}">
                    <a16:creationId xmlns:a16="http://schemas.microsoft.com/office/drawing/2014/main" id="{1EC17A38-2F18-BCB5-44F2-421E657CCECC}"/>
                  </a:ext>
                </a:extLst>
              </p14:cNvPr>
              <p14:cNvContentPartPr/>
              <p14:nvPr/>
            </p14:nvContentPartPr>
            <p14:xfrm>
              <a:off x="4669200" y="5240847"/>
              <a:ext cx="161280" cy="25560"/>
            </p14:xfrm>
          </p:contentPart>
        </mc:Choice>
        <mc:Fallback xmlns="">
          <p:pic>
            <p:nvPicPr>
              <p:cNvPr id="13" name="Ink 12">
                <a:extLst>
                  <a:ext uri="{FF2B5EF4-FFF2-40B4-BE49-F238E27FC236}">
                    <a16:creationId xmlns:a16="http://schemas.microsoft.com/office/drawing/2014/main" id="{1EC17A38-2F18-BCB5-44F2-421E657CCECC}"/>
                  </a:ext>
                </a:extLst>
              </p:cNvPr>
              <p:cNvPicPr/>
              <p:nvPr/>
            </p:nvPicPr>
            <p:blipFill>
              <a:blip r:embed="rId9"/>
              <a:stretch>
                <a:fillRect/>
              </a:stretch>
            </p:blipFill>
            <p:spPr>
              <a:xfrm>
                <a:off x="4660200" y="5231847"/>
                <a:ext cx="178920" cy="432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15" name="Ink 14">
                <a:extLst>
                  <a:ext uri="{FF2B5EF4-FFF2-40B4-BE49-F238E27FC236}">
                    <a16:creationId xmlns:a16="http://schemas.microsoft.com/office/drawing/2014/main" id="{55D382AB-5E5D-441E-DC49-FF4D42B816E4}"/>
                  </a:ext>
                </a:extLst>
              </p14:cNvPr>
              <p14:cNvContentPartPr/>
              <p14:nvPr/>
            </p14:nvContentPartPr>
            <p14:xfrm>
              <a:off x="4701600" y="5232927"/>
              <a:ext cx="97200" cy="12240"/>
            </p14:xfrm>
          </p:contentPart>
        </mc:Choice>
        <mc:Fallback xmlns="">
          <p:pic>
            <p:nvPicPr>
              <p:cNvPr id="15" name="Ink 14">
                <a:extLst>
                  <a:ext uri="{FF2B5EF4-FFF2-40B4-BE49-F238E27FC236}">
                    <a16:creationId xmlns:a16="http://schemas.microsoft.com/office/drawing/2014/main" id="{55D382AB-5E5D-441E-DC49-FF4D42B816E4}"/>
                  </a:ext>
                </a:extLst>
              </p:cNvPr>
              <p:cNvPicPr/>
              <p:nvPr/>
            </p:nvPicPr>
            <p:blipFill>
              <a:blip r:embed="rId11"/>
              <a:stretch>
                <a:fillRect/>
              </a:stretch>
            </p:blipFill>
            <p:spPr>
              <a:xfrm>
                <a:off x="4692600" y="5223927"/>
                <a:ext cx="11484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0" name="Ink 19">
                <a:extLst>
                  <a:ext uri="{FF2B5EF4-FFF2-40B4-BE49-F238E27FC236}">
                    <a16:creationId xmlns:a16="http://schemas.microsoft.com/office/drawing/2014/main" id="{443D083E-AF45-6D74-014C-EF6866760DC7}"/>
                  </a:ext>
                </a:extLst>
              </p14:cNvPr>
              <p14:cNvContentPartPr/>
              <p14:nvPr/>
            </p14:nvContentPartPr>
            <p14:xfrm>
              <a:off x="4676178" y="4767341"/>
              <a:ext cx="206964" cy="29372"/>
            </p14:xfrm>
          </p:contentPart>
        </mc:Choice>
        <mc:Fallback xmlns="">
          <p:pic>
            <p:nvPicPr>
              <p:cNvPr id="20" name="Ink 19">
                <a:extLst>
                  <a:ext uri="{FF2B5EF4-FFF2-40B4-BE49-F238E27FC236}">
                    <a16:creationId xmlns:a16="http://schemas.microsoft.com/office/drawing/2014/main" id="{443D083E-AF45-6D74-014C-EF6866760DC7}"/>
                  </a:ext>
                </a:extLst>
              </p:cNvPr>
              <p:cNvPicPr/>
              <p:nvPr/>
            </p:nvPicPr>
            <p:blipFill>
              <a:blip r:embed="rId13"/>
              <a:stretch>
                <a:fillRect/>
              </a:stretch>
            </p:blipFill>
            <p:spPr>
              <a:xfrm>
                <a:off x="4670059" y="4761252"/>
                <a:ext cx="219202" cy="41551"/>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1" name="Ink 20">
                <a:extLst>
                  <a:ext uri="{FF2B5EF4-FFF2-40B4-BE49-F238E27FC236}">
                    <a16:creationId xmlns:a16="http://schemas.microsoft.com/office/drawing/2014/main" id="{A19DDC28-0533-EB83-4FB8-A94DF2DB3BA1}"/>
                  </a:ext>
                </a:extLst>
              </p14:cNvPr>
              <p14:cNvContentPartPr/>
              <p14:nvPr/>
            </p14:nvContentPartPr>
            <p14:xfrm>
              <a:off x="4655640" y="4738287"/>
              <a:ext cx="212760" cy="32400"/>
            </p14:xfrm>
          </p:contentPart>
        </mc:Choice>
        <mc:Fallback xmlns="">
          <p:pic>
            <p:nvPicPr>
              <p:cNvPr id="21" name="Ink 20">
                <a:extLst>
                  <a:ext uri="{FF2B5EF4-FFF2-40B4-BE49-F238E27FC236}">
                    <a16:creationId xmlns:a16="http://schemas.microsoft.com/office/drawing/2014/main" id="{A19DDC28-0533-EB83-4FB8-A94DF2DB3BA1}"/>
                  </a:ext>
                </a:extLst>
              </p:cNvPr>
              <p:cNvPicPr/>
              <p:nvPr/>
            </p:nvPicPr>
            <p:blipFill>
              <a:blip r:embed="rId15"/>
              <a:stretch>
                <a:fillRect/>
              </a:stretch>
            </p:blipFill>
            <p:spPr>
              <a:xfrm>
                <a:off x="4649520" y="4732167"/>
                <a:ext cx="22500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3" name="Ink 22">
                <a:extLst>
                  <a:ext uri="{FF2B5EF4-FFF2-40B4-BE49-F238E27FC236}">
                    <a16:creationId xmlns:a16="http://schemas.microsoft.com/office/drawing/2014/main" id="{3A5126DE-AB69-AADE-D824-3D1EF14CC0C5}"/>
                  </a:ext>
                </a:extLst>
              </p14:cNvPr>
              <p14:cNvContentPartPr/>
              <p14:nvPr/>
            </p14:nvContentPartPr>
            <p14:xfrm>
              <a:off x="4656360" y="4732527"/>
              <a:ext cx="186480" cy="8640"/>
            </p14:xfrm>
          </p:contentPart>
        </mc:Choice>
        <mc:Fallback xmlns="">
          <p:pic>
            <p:nvPicPr>
              <p:cNvPr id="23" name="Ink 22">
                <a:extLst>
                  <a:ext uri="{FF2B5EF4-FFF2-40B4-BE49-F238E27FC236}">
                    <a16:creationId xmlns:a16="http://schemas.microsoft.com/office/drawing/2014/main" id="{3A5126DE-AB69-AADE-D824-3D1EF14CC0C5}"/>
                  </a:ext>
                </a:extLst>
              </p:cNvPr>
              <p:cNvPicPr/>
              <p:nvPr/>
            </p:nvPicPr>
            <p:blipFill>
              <a:blip r:embed="rId17"/>
              <a:stretch>
                <a:fillRect/>
              </a:stretch>
            </p:blipFill>
            <p:spPr>
              <a:xfrm>
                <a:off x="4650240" y="4726407"/>
                <a:ext cx="19872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4" name="Ink 23">
                <a:extLst>
                  <a:ext uri="{FF2B5EF4-FFF2-40B4-BE49-F238E27FC236}">
                    <a16:creationId xmlns:a16="http://schemas.microsoft.com/office/drawing/2014/main" id="{B077199D-FEF0-8562-2C8C-E2F69B2E3A93}"/>
                  </a:ext>
                </a:extLst>
              </p14:cNvPr>
              <p14:cNvContentPartPr/>
              <p14:nvPr/>
            </p14:nvContentPartPr>
            <p14:xfrm>
              <a:off x="4731600" y="4745127"/>
              <a:ext cx="111240" cy="18720"/>
            </p14:xfrm>
          </p:contentPart>
        </mc:Choice>
        <mc:Fallback xmlns="">
          <p:pic>
            <p:nvPicPr>
              <p:cNvPr id="24" name="Ink 23">
                <a:extLst>
                  <a:ext uri="{FF2B5EF4-FFF2-40B4-BE49-F238E27FC236}">
                    <a16:creationId xmlns:a16="http://schemas.microsoft.com/office/drawing/2014/main" id="{B077199D-FEF0-8562-2C8C-E2F69B2E3A93}"/>
                  </a:ext>
                </a:extLst>
              </p:cNvPr>
              <p:cNvPicPr/>
              <p:nvPr/>
            </p:nvPicPr>
            <p:blipFill>
              <a:blip r:embed="rId19"/>
              <a:stretch>
                <a:fillRect/>
              </a:stretch>
            </p:blipFill>
            <p:spPr>
              <a:xfrm>
                <a:off x="4725480" y="4739007"/>
                <a:ext cx="123480" cy="30960"/>
              </a:xfrm>
              <a:prstGeom prst="rect">
                <a:avLst/>
              </a:prstGeom>
            </p:spPr>
          </p:pic>
        </mc:Fallback>
      </mc:AlternateContent>
    </p:spTree>
    <p:extLst>
      <p:ext uri="{BB962C8B-B14F-4D97-AF65-F5344CB8AC3E}">
        <p14:creationId xmlns:p14="http://schemas.microsoft.com/office/powerpoint/2010/main" val="6970795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347472"/>
            <a:ext cx="8229600" cy="274320"/>
          </a:xfrm>
          <a:prstGeom prst="rect">
            <a:avLst/>
          </a:prstGeom>
          <a:noFill/>
          <a:ln/>
        </p:spPr>
        <p:txBody>
          <a:bodyPr wrap="square" lIns="0" tIns="0" rIns="0" bIns="0" rtlCol="0" anchor="ctr"/>
          <a:lstStyle/>
          <a:p>
            <a:pPr marL="0" indent="0">
              <a:buNone/>
            </a:pPr>
            <a:r>
              <a:rPr lang="en-US" sz="1400" b="1" kern="0" spc="200" dirty="0">
                <a:solidFill>
                  <a:schemeClr val="accent1"/>
                </a:solidFill>
              </a:rPr>
              <a:t>07  |  IMPLEMENTATION AND RESULTS</a:t>
            </a:r>
            <a:endParaRPr lang="en-US" sz="1400" dirty="0"/>
          </a:p>
        </p:txBody>
      </p:sp>
      <p:sp>
        <p:nvSpPr>
          <p:cNvPr id="3" name="Text 1"/>
          <p:cNvSpPr>
            <a:spLocks noGrp="1"/>
          </p:cNvSpPr>
          <p:nvPr>
            <p:ph type="title" idx="101" hasCustomPrompt="1"/>
          </p:nvPr>
        </p:nvSpPr>
        <p:spPr>
          <a:xfrm>
            <a:off x="548640" y="640080"/>
            <a:ext cx="11091672" cy="777240"/>
          </a:xfrm>
          <a:prstGeom prst="rect">
            <a:avLst/>
          </a:prstGeom>
          <a:noFill/>
          <a:ln/>
        </p:spPr>
        <p:txBody>
          <a:bodyPr wrap="square" lIns="0" tIns="0" rIns="0" bIns="0" rtlCol="0" anchor="ctr"/>
          <a:lstStyle/>
          <a:p>
            <a:pPr marL="0" indent="0" algn="l">
              <a:buNone/>
            </a:pPr>
            <a:r>
              <a:rPr lang="en-US" sz="3400" b="1" dirty="0">
                <a:solidFill>
                  <a:schemeClr val="tx2"/>
                </a:solidFill>
              </a:rPr>
              <a:t>Working Prototype and Demonstration</a:t>
            </a:r>
            <a:endParaRPr lang="en-US" sz="3400" dirty="0"/>
          </a:p>
        </p:txBody>
      </p:sp>
      <p:pic>
        <p:nvPicPr>
          <p:cNvPr id="4" name="Phone login" descr="App screenshot: login"/>
          <p:cNvPicPr>
            <a:picLocks noChangeAspect="1"/>
          </p:cNvPicPr>
          <p:nvPr/>
        </p:nvPicPr>
        <p:blipFill>
          <a:blip r:embed="rId3"/>
          <a:stretch>
            <a:fillRect/>
          </a:stretch>
        </p:blipFill>
        <p:spPr>
          <a:xfrm>
            <a:off x="633652" y="1554480"/>
            <a:ext cx="1592132" cy="3383280"/>
          </a:xfrm>
          <a:prstGeom prst="rect">
            <a:avLst/>
          </a:prstGeom>
        </p:spPr>
      </p:pic>
      <p:sp>
        <p:nvSpPr>
          <p:cNvPr id="5" name="Shot caption 1"/>
          <p:cNvSpPr txBox="1"/>
          <p:nvPr/>
        </p:nvSpPr>
        <p:spPr>
          <a:xfrm>
            <a:off x="496492" y="5029200"/>
            <a:ext cx="1866452" cy="457200"/>
          </a:xfrm>
          <a:prstGeom prst="rect">
            <a:avLst/>
          </a:prstGeom>
          <a:noFill/>
          <a:ln/>
        </p:spPr>
        <p:txBody>
          <a:bodyPr wrap="square" lIns="0" tIns="0" rIns="0" bIns="0" rtlCol="0" anchor="t"/>
          <a:lstStyle/>
          <a:p>
            <a:pPr marL="0" indent="0" algn="ctr">
              <a:buNone/>
            </a:pPr>
            <a:r>
              <a:rPr lang="en-US" sz="1200" b="1" dirty="0">
                <a:solidFill>
                  <a:schemeClr val="tx2"/>
                </a:solidFill>
              </a:rPr>
              <a:t>1  Login with email OTP</a:t>
            </a:r>
            <a:endParaRPr lang="en-US" sz="1200" dirty="0"/>
          </a:p>
        </p:txBody>
      </p:sp>
      <p:pic>
        <p:nvPicPr>
          <p:cNvPr id="6" name="Phone reg1" descr="App screenshot: reg1"/>
          <p:cNvPicPr>
            <a:picLocks noChangeAspect="1"/>
          </p:cNvPicPr>
          <p:nvPr/>
        </p:nvPicPr>
        <p:blipFill>
          <a:blip r:embed="rId4"/>
          <a:stretch>
            <a:fillRect/>
          </a:stretch>
        </p:blipFill>
        <p:spPr>
          <a:xfrm>
            <a:off x="2500104" y="1554480"/>
            <a:ext cx="1592132" cy="3383280"/>
          </a:xfrm>
          <a:prstGeom prst="rect">
            <a:avLst/>
          </a:prstGeom>
        </p:spPr>
      </p:pic>
      <p:sp>
        <p:nvSpPr>
          <p:cNvPr id="7" name="Shot caption 2"/>
          <p:cNvSpPr txBox="1"/>
          <p:nvPr/>
        </p:nvSpPr>
        <p:spPr>
          <a:xfrm>
            <a:off x="2362944" y="5029200"/>
            <a:ext cx="1866452" cy="457200"/>
          </a:xfrm>
          <a:prstGeom prst="rect">
            <a:avLst/>
          </a:prstGeom>
          <a:noFill/>
          <a:ln/>
        </p:spPr>
        <p:txBody>
          <a:bodyPr wrap="square" lIns="0" tIns="0" rIns="0" bIns="0" rtlCol="0" anchor="t"/>
          <a:lstStyle/>
          <a:p>
            <a:pPr marL="0" indent="0" algn="ctr">
              <a:buNone/>
            </a:pPr>
            <a:r>
              <a:rPr lang="en-US" sz="1200" b="1" dirty="0">
                <a:solidFill>
                  <a:schemeClr val="tx2"/>
                </a:solidFill>
              </a:rPr>
              <a:t>2  User registration</a:t>
            </a:r>
            <a:endParaRPr lang="en-US" sz="1200" dirty="0"/>
          </a:p>
        </p:txBody>
      </p:sp>
      <p:pic>
        <p:nvPicPr>
          <p:cNvPr id="8" name="Phone hub" descr="App screenshot: hub"/>
          <p:cNvPicPr>
            <a:picLocks noChangeAspect="1"/>
          </p:cNvPicPr>
          <p:nvPr/>
        </p:nvPicPr>
        <p:blipFill>
          <a:blip r:embed="rId5"/>
          <a:stretch>
            <a:fillRect/>
          </a:stretch>
        </p:blipFill>
        <p:spPr>
          <a:xfrm>
            <a:off x="4366556" y="1554480"/>
            <a:ext cx="1592132" cy="3383280"/>
          </a:xfrm>
          <a:prstGeom prst="rect">
            <a:avLst/>
          </a:prstGeom>
        </p:spPr>
      </p:pic>
      <p:sp>
        <p:nvSpPr>
          <p:cNvPr id="9" name="Shot caption 3"/>
          <p:cNvSpPr txBox="1"/>
          <p:nvPr/>
        </p:nvSpPr>
        <p:spPr>
          <a:xfrm>
            <a:off x="4229396" y="5029200"/>
            <a:ext cx="1866452" cy="457200"/>
          </a:xfrm>
          <a:prstGeom prst="rect">
            <a:avLst/>
          </a:prstGeom>
          <a:noFill/>
          <a:ln/>
        </p:spPr>
        <p:txBody>
          <a:bodyPr wrap="square" lIns="0" tIns="0" rIns="0" bIns="0" rtlCol="0" anchor="t"/>
          <a:lstStyle/>
          <a:p>
            <a:pPr marL="0" indent="0" algn="ctr">
              <a:buNone/>
            </a:pPr>
            <a:r>
              <a:rPr lang="en-US" sz="1200" b="1" dirty="0">
                <a:solidFill>
                  <a:schemeClr val="tx2"/>
                </a:solidFill>
              </a:rPr>
              <a:t>3  Campaign listing</a:t>
            </a:r>
            <a:endParaRPr lang="en-US" sz="1200" dirty="0"/>
          </a:p>
        </p:txBody>
      </p:sp>
      <p:pic>
        <p:nvPicPr>
          <p:cNvPr id="10" name="Phone eventreg" descr="App screenshot: eventreg"/>
          <p:cNvPicPr>
            <a:picLocks noChangeAspect="1"/>
          </p:cNvPicPr>
          <p:nvPr/>
        </p:nvPicPr>
        <p:blipFill>
          <a:blip r:embed="rId6"/>
          <a:stretch>
            <a:fillRect/>
          </a:stretch>
        </p:blipFill>
        <p:spPr>
          <a:xfrm>
            <a:off x="6233008" y="1554480"/>
            <a:ext cx="1592132" cy="3383280"/>
          </a:xfrm>
          <a:prstGeom prst="rect">
            <a:avLst/>
          </a:prstGeom>
        </p:spPr>
      </p:pic>
      <p:sp>
        <p:nvSpPr>
          <p:cNvPr id="11" name="Shot caption 4"/>
          <p:cNvSpPr txBox="1"/>
          <p:nvPr/>
        </p:nvSpPr>
        <p:spPr>
          <a:xfrm>
            <a:off x="6095848" y="5029200"/>
            <a:ext cx="1866452" cy="457200"/>
          </a:xfrm>
          <a:prstGeom prst="rect">
            <a:avLst/>
          </a:prstGeom>
          <a:noFill/>
          <a:ln/>
        </p:spPr>
        <p:txBody>
          <a:bodyPr wrap="square" lIns="0" tIns="0" rIns="0" bIns="0" rtlCol="0" anchor="t"/>
          <a:lstStyle/>
          <a:p>
            <a:pPr marL="0" indent="0" algn="ctr">
              <a:buNone/>
            </a:pPr>
            <a:r>
              <a:rPr lang="en-US" sz="1200" b="1" dirty="0">
                <a:solidFill>
                  <a:schemeClr val="tx2"/>
                </a:solidFill>
              </a:rPr>
              <a:t>4  Event registration</a:t>
            </a:r>
            <a:endParaRPr lang="en-US" sz="1200" dirty="0"/>
          </a:p>
        </p:txBody>
      </p:sp>
      <p:pic>
        <p:nvPicPr>
          <p:cNvPr id="12" name="Phone success" descr="App screenshot: success"/>
          <p:cNvPicPr>
            <a:picLocks noChangeAspect="1"/>
          </p:cNvPicPr>
          <p:nvPr/>
        </p:nvPicPr>
        <p:blipFill>
          <a:blip r:embed="rId7"/>
          <a:stretch>
            <a:fillRect/>
          </a:stretch>
        </p:blipFill>
        <p:spPr>
          <a:xfrm>
            <a:off x="8099459" y="1554480"/>
            <a:ext cx="1592132" cy="3383280"/>
          </a:xfrm>
          <a:prstGeom prst="rect">
            <a:avLst/>
          </a:prstGeom>
        </p:spPr>
      </p:pic>
      <p:sp>
        <p:nvSpPr>
          <p:cNvPr id="13" name="Shot caption 5"/>
          <p:cNvSpPr txBox="1"/>
          <p:nvPr/>
        </p:nvSpPr>
        <p:spPr>
          <a:xfrm>
            <a:off x="7962299" y="5029200"/>
            <a:ext cx="1866452" cy="457200"/>
          </a:xfrm>
          <a:prstGeom prst="rect">
            <a:avLst/>
          </a:prstGeom>
          <a:noFill/>
          <a:ln/>
        </p:spPr>
        <p:txBody>
          <a:bodyPr wrap="square" lIns="0" tIns="0" rIns="0" bIns="0" rtlCol="0" anchor="t"/>
          <a:lstStyle/>
          <a:p>
            <a:pPr marL="0" indent="0" algn="ctr">
              <a:buNone/>
            </a:pPr>
            <a:r>
              <a:rPr lang="en-US" sz="1200" b="1" dirty="0">
                <a:solidFill>
                  <a:schemeClr val="tx2"/>
                </a:solidFill>
              </a:rPr>
              <a:t>5  Registration ID issued</a:t>
            </a:r>
            <a:endParaRPr lang="en-US" sz="1200" dirty="0"/>
          </a:p>
        </p:txBody>
      </p:sp>
      <p:pic>
        <p:nvPicPr>
          <p:cNvPr id="14" name="Phone admin" descr="App screenshot: admin"/>
          <p:cNvPicPr>
            <a:picLocks noChangeAspect="1"/>
          </p:cNvPicPr>
          <p:nvPr/>
        </p:nvPicPr>
        <p:blipFill>
          <a:blip r:embed="rId8"/>
          <a:stretch>
            <a:fillRect/>
          </a:stretch>
        </p:blipFill>
        <p:spPr>
          <a:xfrm>
            <a:off x="9965911" y="1554480"/>
            <a:ext cx="1592132" cy="3383280"/>
          </a:xfrm>
          <a:prstGeom prst="rect">
            <a:avLst/>
          </a:prstGeom>
        </p:spPr>
      </p:pic>
      <p:sp>
        <p:nvSpPr>
          <p:cNvPr id="15" name="Shot caption 6"/>
          <p:cNvSpPr txBox="1"/>
          <p:nvPr/>
        </p:nvSpPr>
        <p:spPr>
          <a:xfrm>
            <a:off x="9828751" y="5029200"/>
            <a:ext cx="1866452" cy="457200"/>
          </a:xfrm>
          <a:prstGeom prst="rect">
            <a:avLst/>
          </a:prstGeom>
          <a:noFill/>
          <a:ln/>
        </p:spPr>
        <p:txBody>
          <a:bodyPr wrap="square" lIns="0" tIns="0" rIns="0" bIns="0" rtlCol="0" anchor="t"/>
          <a:lstStyle/>
          <a:p>
            <a:pPr marL="0" indent="0" algn="ctr">
              <a:buNone/>
            </a:pPr>
            <a:r>
              <a:rPr lang="en-US" sz="1200" b="1" dirty="0">
                <a:solidFill>
                  <a:schemeClr val="tx2"/>
                </a:solidFill>
              </a:rPr>
              <a:t>6  Admin: manage entries</a:t>
            </a:r>
            <a:endParaRPr lang="en-US" sz="1200" dirty="0"/>
          </a:p>
        </p:txBody>
      </p:sp>
      <p:sp>
        <p:nvSpPr>
          <p:cNvPr id="16" name="Verified bar"/>
          <p:cNvSpPr/>
          <p:nvPr/>
        </p:nvSpPr>
        <p:spPr>
          <a:xfrm>
            <a:off x="548640" y="5577840"/>
            <a:ext cx="11091672" cy="731520"/>
          </a:xfrm>
          <a:prstGeom prst="roundRect">
            <a:avLst>
              <a:gd name="adj" fmla="val 15000"/>
            </a:avLst>
          </a:prstGeom>
          <a:solidFill>
            <a:schemeClr val="accent3"/>
          </a:solidFill>
          <a:ln w="12700">
            <a:solidFill>
              <a:schemeClr val="accent3"/>
            </a:solidFill>
            <a:prstDash val="solid"/>
          </a:ln>
        </p:spPr>
      </p:sp>
      <p:sp>
        <p:nvSpPr>
          <p:cNvPr id="17" name="Verified text"/>
          <p:cNvSpPr txBox="1"/>
          <p:nvPr/>
        </p:nvSpPr>
        <p:spPr>
          <a:xfrm>
            <a:off x="777240" y="5605272"/>
            <a:ext cx="10652760" cy="676656"/>
          </a:xfrm>
          <a:prstGeom prst="rect">
            <a:avLst/>
          </a:prstGeom>
          <a:noFill/>
          <a:ln/>
        </p:spPr>
        <p:txBody>
          <a:bodyPr wrap="square" lIns="0" tIns="0" rIns="0" bIns="0" rtlCol="0" anchor="ctr"/>
          <a:lstStyle/>
          <a:p>
            <a:pPr marL="0" indent="0">
              <a:buNone/>
            </a:pPr>
            <a:r>
              <a:rPr lang="en-US" sz="1400" b="1" dirty="0">
                <a:solidFill>
                  <a:schemeClr val="bg1"/>
                </a:solidFill>
              </a:rPr>
              <a:t>Verified end to end:  </a:t>
            </a:r>
            <a:r>
              <a:rPr lang="en-US" sz="1400" dirty="0">
                <a:solidFill>
                  <a:schemeClr val="bg1"/>
                </a:solidFill>
              </a:rPr>
              <a:t>registration REG-2026-29580 was created in the user app and appeared in the admin console with status 'Registered'.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347472"/>
            <a:ext cx="8229600" cy="274320"/>
          </a:xfrm>
          <a:prstGeom prst="rect">
            <a:avLst/>
          </a:prstGeom>
          <a:noFill/>
          <a:ln/>
        </p:spPr>
        <p:txBody>
          <a:bodyPr wrap="square" lIns="0" tIns="0" rIns="0" bIns="0" rtlCol="0" anchor="ctr"/>
          <a:lstStyle/>
          <a:p>
            <a:pPr marL="0" indent="0">
              <a:buNone/>
            </a:pPr>
            <a:r>
              <a:rPr lang="en-US" sz="1400" b="1" kern="0" spc="200" dirty="0">
                <a:solidFill>
                  <a:schemeClr val="accent1"/>
                </a:solidFill>
              </a:rPr>
              <a:t>IMPACT, FUTURE SCOPE</a:t>
            </a:r>
            <a:endParaRPr lang="en-US" sz="1400" dirty="0"/>
          </a:p>
        </p:txBody>
      </p:sp>
      <p:sp>
        <p:nvSpPr>
          <p:cNvPr id="3" name="Text 0"/>
          <p:cNvSpPr>
            <a:spLocks noGrp="1"/>
          </p:cNvSpPr>
          <p:nvPr>
            <p:ph type="title" idx="100" hasCustomPrompt="1"/>
          </p:nvPr>
        </p:nvSpPr>
        <p:spPr>
          <a:xfrm>
            <a:off x="548640" y="640080"/>
            <a:ext cx="11091672" cy="777240"/>
          </a:xfrm>
          <a:prstGeom prst="rect">
            <a:avLst/>
          </a:prstGeom>
          <a:noFill/>
          <a:ln/>
        </p:spPr>
        <p:txBody>
          <a:bodyPr wrap="square" lIns="0" tIns="0" rIns="0" bIns="0" rtlCol="0" anchor="ctr"/>
          <a:lstStyle/>
          <a:p>
            <a:pPr marL="0" indent="0" algn="l">
              <a:buNone/>
            </a:pPr>
            <a:r>
              <a:rPr lang="en-US" sz="3400" b="1" dirty="0">
                <a:solidFill>
                  <a:schemeClr val="bg1"/>
                </a:solidFill>
              </a:rPr>
              <a:t>Building Better-Connected Communities</a:t>
            </a:r>
            <a:endParaRPr lang="en-US" sz="3400" dirty="0"/>
          </a:p>
        </p:txBody>
      </p:sp>
      <p:sp>
        <p:nvSpPr>
          <p:cNvPr id="4" name="Impact heading"/>
          <p:cNvSpPr txBox="1"/>
          <p:nvPr/>
        </p:nvSpPr>
        <p:spPr>
          <a:xfrm>
            <a:off x="548640" y="1600200"/>
            <a:ext cx="3840480" cy="320040"/>
          </a:xfrm>
          <a:prstGeom prst="rect">
            <a:avLst/>
          </a:prstGeom>
          <a:noFill/>
          <a:ln/>
        </p:spPr>
        <p:txBody>
          <a:bodyPr wrap="square" lIns="0" tIns="0" rIns="0" bIns="0" rtlCol="0" anchor="ctr"/>
          <a:lstStyle/>
          <a:p>
            <a:pPr marL="0" indent="0">
              <a:buNone/>
            </a:pPr>
            <a:r>
              <a:rPr lang="en-US" sz="2000" b="1" dirty="0">
                <a:solidFill>
                  <a:schemeClr val="accent1"/>
                </a:solidFill>
              </a:rPr>
              <a:t>Expected impact</a:t>
            </a:r>
            <a:endParaRPr lang="en-US" sz="2000" dirty="0"/>
          </a:p>
        </p:txBody>
      </p:sp>
      <p:sp>
        <p:nvSpPr>
          <p:cNvPr id="5" name="Icon circle"/>
          <p:cNvSpPr/>
          <p:nvPr/>
        </p:nvSpPr>
        <p:spPr>
          <a:xfrm>
            <a:off x="548640" y="2057400"/>
            <a:ext cx="502920" cy="502920"/>
          </a:xfrm>
          <a:prstGeom prst="ellipse">
            <a:avLst/>
          </a:prstGeom>
          <a:solidFill>
            <a:schemeClr val="accent1"/>
          </a:solidFill>
          <a:ln w="12700">
            <a:solidFill>
              <a:schemeClr val="accent1"/>
            </a:solidFill>
            <a:prstDash val="solid"/>
          </a:ln>
        </p:spPr>
      </p:sp>
      <p:pic>
        <p:nvPicPr>
          <p:cNvPr id="6" name="Icon FaSitemap" descr="FaSitemap"/>
          <p:cNvPicPr>
            <a:picLocks noChangeAspect="1"/>
          </p:cNvPicPr>
          <p:nvPr/>
        </p:nvPicPr>
        <p:blipFill>
          <a:blip r:embed="rId3"/>
          <a:stretch>
            <a:fillRect/>
          </a:stretch>
        </p:blipFill>
        <p:spPr>
          <a:xfrm>
            <a:off x="684428" y="2193188"/>
            <a:ext cx="231343" cy="231343"/>
          </a:xfrm>
          <a:prstGeom prst="rect">
            <a:avLst/>
          </a:prstGeom>
        </p:spPr>
      </p:pic>
      <p:sp>
        <p:nvSpPr>
          <p:cNvPr id="7" name="Impact text 1"/>
          <p:cNvSpPr txBox="1"/>
          <p:nvPr/>
        </p:nvSpPr>
        <p:spPr>
          <a:xfrm>
            <a:off x="1188720" y="1984248"/>
            <a:ext cx="3246120" cy="868680"/>
          </a:xfrm>
          <a:prstGeom prst="rect">
            <a:avLst/>
          </a:prstGeom>
          <a:noFill/>
          <a:ln/>
        </p:spPr>
        <p:txBody>
          <a:bodyPr wrap="square" lIns="0" tIns="0" rIns="0" bIns="0" rtlCol="0" anchor="ctr"/>
          <a:lstStyle/>
          <a:p>
            <a:pPr marL="0" indent="0">
              <a:buNone/>
            </a:pPr>
            <a:r>
              <a:rPr lang="en-US" sz="1600" b="1" dirty="0">
                <a:solidFill>
                  <a:schemeClr val="bg1"/>
                </a:solidFill>
              </a:rPr>
              <a:t>Organised information</a:t>
            </a:r>
            <a:endParaRPr lang="en-US" sz="1600" dirty="0"/>
          </a:p>
          <a:p>
            <a:pPr marL="0" indent="0">
              <a:buNone/>
            </a:pPr>
            <a:r>
              <a:rPr lang="en-US" sz="1400" dirty="0">
                <a:solidFill>
                  <a:schemeClr val="bg1"/>
                </a:solidFill>
              </a:rPr>
              <a:t>Members, families and events in one searchable place</a:t>
            </a:r>
            <a:endParaRPr lang="en-US" sz="1600" dirty="0"/>
          </a:p>
        </p:txBody>
      </p:sp>
      <p:sp>
        <p:nvSpPr>
          <p:cNvPr id="8" name="Icon circle"/>
          <p:cNvSpPr/>
          <p:nvPr/>
        </p:nvSpPr>
        <p:spPr>
          <a:xfrm>
            <a:off x="548640" y="3081528"/>
            <a:ext cx="502920" cy="502920"/>
          </a:xfrm>
          <a:prstGeom prst="ellipse">
            <a:avLst/>
          </a:prstGeom>
          <a:solidFill>
            <a:schemeClr val="accent1"/>
          </a:solidFill>
          <a:ln w="12700">
            <a:solidFill>
              <a:schemeClr val="accent1"/>
            </a:solidFill>
            <a:prstDash val="solid"/>
          </a:ln>
        </p:spPr>
      </p:sp>
      <p:pic>
        <p:nvPicPr>
          <p:cNvPr id="9" name="Icon FaHandshake" descr="FaHandshake"/>
          <p:cNvPicPr>
            <a:picLocks noChangeAspect="1"/>
          </p:cNvPicPr>
          <p:nvPr/>
        </p:nvPicPr>
        <p:blipFill>
          <a:blip r:embed="rId4"/>
          <a:stretch>
            <a:fillRect/>
          </a:stretch>
        </p:blipFill>
        <p:spPr>
          <a:xfrm>
            <a:off x="684428" y="3217316"/>
            <a:ext cx="231343" cy="231343"/>
          </a:xfrm>
          <a:prstGeom prst="rect">
            <a:avLst/>
          </a:prstGeom>
        </p:spPr>
      </p:pic>
      <p:sp>
        <p:nvSpPr>
          <p:cNvPr id="10" name="Impact text 2"/>
          <p:cNvSpPr txBox="1"/>
          <p:nvPr/>
        </p:nvSpPr>
        <p:spPr>
          <a:xfrm>
            <a:off x="1188720" y="3008376"/>
            <a:ext cx="3246120" cy="868680"/>
          </a:xfrm>
          <a:prstGeom prst="rect">
            <a:avLst/>
          </a:prstGeom>
          <a:noFill/>
          <a:ln/>
        </p:spPr>
        <p:txBody>
          <a:bodyPr wrap="square" lIns="0" tIns="0" rIns="0" bIns="0" rtlCol="0" anchor="ctr"/>
          <a:lstStyle/>
          <a:p>
            <a:pPr marL="0" indent="0">
              <a:buNone/>
            </a:pPr>
            <a:r>
              <a:rPr lang="en-US" sz="1600" b="1" dirty="0">
                <a:solidFill>
                  <a:schemeClr val="bg1"/>
                </a:solidFill>
              </a:rPr>
              <a:t>Easier participation</a:t>
            </a:r>
            <a:endParaRPr lang="en-US" sz="1600" dirty="0"/>
          </a:p>
          <a:p>
            <a:pPr marL="0" indent="0">
              <a:buNone/>
            </a:pPr>
            <a:r>
              <a:rPr lang="en-US" sz="1400" dirty="0">
                <a:solidFill>
                  <a:schemeClr val="bg1"/>
                </a:solidFill>
              </a:rPr>
              <a:t>Register for events in a few taps and get a unique ID</a:t>
            </a:r>
            <a:endParaRPr lang="en-US" sz="1600" dirty="0"/>
          </a:p>
        </p:txBody>
      </p:sp>
      <p:sp>
        <p:nvSpPr>
          <p:cNvPr id="11" name="Icon circle"/>
          <p:cNvSpPr/>
          <p:nvPr/>
        </p:nvSpPr>
        <p:spPr>
          <a:xfrm>
            <a:off x="548640" y="4105656"/>
            <a:ext cx="502920" cy="502920"/>
          </a:xfrm>
          <a:prstGeom prst="ellipse">
            <a:avLst/>
          </a:prstGeom>
          <a:solidFill>
            <a:schemeClr val="accent1"/>
          </a:solidFill>
          <a:ln w="12700">
            <a:solidFill>
              <a:schemeClr val="accent1"/>
            </a:solidFill>
            <a:prstDash val="solid"/>
          </a:ln>
        </p:spPr>
      </p:sp>
      <p:pic>
        <p:nvPicPr>
          <p:cNvPr id="12" name="Icon FaFolderOpen" descr="FaFolderOpen"/>
          <p:cNvPicPr>
            <a:picLocks noChangeAspect="1"/>
          </p:cNvPicPr>
          <p:nvPr/>
        </p:nvPicPr>
        <p:blipFill>
          <a:blip r:embed="rId5"/>
          <a:stretch>
            <a:fillRect/>
          </a:stretch>
        </p:blipFill>
        <p:spPr>
          <a:xfrm>
            <a:off x="684428" y="4241444"/>
            <a:ext cx="231343" cy="231343"/>
          </a:xfrm>
          <a:prstGeom prst="rect">
            <a:avLst/>
          </a:prstGeom>
        </p:spPr>
      </p:pic>
      <p:sp>
        <p:nvSpPr>
          <p:cNvPr id="13" name="Impact text 3"/>
          <p:cNvSpPr txBox="1"/>
          <p:nvPr/>
        </p:nvSpPr>
        <p:spPr>
          <a:xfrm>
            <a:off x="1188720" y="4032504"/>
            <a:ext cx="3246120" cy="868680"/>
          </a:xfrm>
          <a:prstGeom prst="rect">
            <a:avLst/>
          </a:prstGeom>
          <a:noFill/>
          <a:ln/>
        </p:spPr>
        <p:txBody>
          <a:bodyPr wrap="square" lIns="0" tIns="0" rIns="0" bIns="0" rtlCol="0" anchor="ctr"/>
          <a:lstStyle/>
          <a:p>
            <a:pPr marL="0" indent="0">
              <a:buNone/>
            </a:pPr>
            <a:r>
              <a:rPr lang="en-US" sz="1600" b="1" dirty="0">
                <a:solidFill>
                  <a:schemeClr val="bg1"/>
                </a:solidFill>
              </a:rPr>
              <a:t>Better record management</a:t>
            </a:r>
            <a:endParaRPr lang="en-US" sz="1600" dirty="0"/>
          </a:p>
          <a:p>
            <a:pPr marL="0" indent="0">
              <a:buNone/>
            </a:pPr>
            <a:r>
              <a:rPr lang="en-US" sz="1400" dirty="0">
                <a:solidFill>
                  <a:schemeClr val="bg1"/>
                </a:solidFill>
              </a:rPr>
              <a:t>Accurate, up-to-date records the admin can review</a:t>
            </a:r>
            <a:endParaRPr lang="en-US" sz="1600" dirty="0"/>
          </a:p>
        </p:txBody>
      </p:sp>
      <p:sp>
        <p:nvSpPr>
          <p:cNvPr id="14" name="Future heading"/>
          <p:cNvSpPr txBox="1"/>
          <p:nvPr/>
        </p:nvSpPr>
        <p:spPr>
          <a:xfrm>
            <a:off x="4754880" y="1600200"/>
            <a:ext cx="3657600" cy="320040"/>
          </a:xfrm>
          <a:prstGeom prst="rect">
            <a:avLst/>
          </a:prstGeom>
          <a:noFill/>
          <a:ln/>
        </p:spPr>
        <p:txBody>
          <a:bodyPr wrap="square" lIns="0" tIns="0" rIns="0" bIns="0" rtlCol="0" anchor="ctr"/>
          <a:lstStyle/>
          <a:p>
            <a:pPr marL="0" indent="0">
              <a:buNone/>
            </a:pPr>
            <a:r>
              <a:rPr lang="en-US" sz="2000" b="1" dirty="0">
                <a:solidFill>
                  <a:schemeClr val="accent1"/>
                </a:solidFill>
              </a:rPr>
              <a:t>Future scope (planned)</a:t>
            </a:r>
            <a:endParaRPr lang="en-US" sz="2000" dirty="0"/>
          </a:p>
        </p:txBody>
      </p:sp>
      <p:sp>
        <p:nvSpPr>
          <p:cNvPr id="15" name="Icon circle"/>
          <p:cNvSpPr/>
          <p:nvPr/>
        </p:nvSpPr>
        <p:spPr>
          <a:xfrm>
            <a:off x="4754880" y="2057400"/>
            <a:ext cx="457200" cy="457200"/>
          </a:xfrm>
          <a:prstGeom prst="ellipse">
            <a:avLst/>
          </a:prstGeom>
          <a:solidFill>
            <a:schemeClr val="accent5"/>
          </a:solidFill>
          <a:ln w="12700">
            <a:solidFill>
              <a:schemeClr val="accent5"/>
            </a:solidFill>
            <a:prstDash val="solid"/>
          </a:ln>
        </p:spPr>
      </p:sp>
      <p:pic>
        <p:nvPicPr>
          <p:cNvPr id="16" name="Icon FaBell" descr="FaBell"/>
          <p:cNvPicPr>
            <a:picLocks noChangeAspect="1"/>
          </p:cNvPicPr>
          <p:nvPr/>
        </p:nvPicPr>
        <p:blipFill>
          <a:blip r:embed="rId6"/>
          <a:stretch>
            <a:fillRect/>
          </a:stretch>
        </p:blipFill>
        <p:spPr>
          <a:xfrm>
            <a:off x="4878324" y="2180844"/>
            <a:ext cx="210312" cy="210312"/>
          </a:xfrm>
          <a:prstGeom prst="rect">
            <a:avLst/>
          </a:prstGeom>
        </p:spPr>
      </p:pic>
      <p:sp>
        <p:nvSpPr>
          <p:cNvPr id="17" name="Future text 1"/>
          <p:cNvSpPr txBox="1"/>
          <p:nvPr/>
        </p:nvSpPr>
        <p:spPr>
          <a:xfrm>
            <a:off x="5394960" y="1947672"/>
            <a:ext cx="2926080" cy="685800"/>
          </a:xfrm>
          <a:prstGeom prst="rect">
            <a:avLst/>
          </a:prstGeom>
          <a:noFill/>
          <a:ln/>
        </p:spPr>
        <p:txBody>
          <a:bodyPr wrap="square" lIns="0" tIns="0" rIns="0" bIns="0" rtlCol="0" anchor="ctr"/>
          <a:lstStyle/>
          <a:p>
            <a:pPr marL="0" indent="0">
              <a:buNone/>
            </a:pPr>
            <a:r>
              <a:rPr lang="en-US" sz="1600" b="1" dirty="0">
                <a:solidFill>
                  <a:schemeClr val="bg1"/>
                </a:solidFill>
              </a:rPr>
              <a:t>Push notifications</a:t>
            </a:r>
            <a:endParaRPr lang="en-US" sz="1600" dirty="0"/>
          </a:p>
          <a:p>
            <a:pPr marL="0" indent="0">
              <a:buNone/>
            </a:pPr>
            <a:r>
              <a:rPr lang="en-US" sz="1400" dirty="0">
                <a:solidFill>
                  <a:schemeClr val="bg1"/>
                </a:solidFill>
              </a:rPr>
              <a:t>Instant alerts for events, news and wishes</a:t>
            </a:r>
            <a:endParaRPr lang="en-US" sz="1600" dirty="0"/>
          </a:p>
        </p:txBody>
      </p:sp>
      <p:sp>
        <p:nvSpPr>
          <p:cNvPr id="18" name="Icon circle"/>
          <p:cNvSpPr/>
          <p:nvPr/>
        </p:nvSpPr>
        <p:spPr>
          <a:xfrm>
            <a:off x="4754880" y="2843784"/>
            <a:ext cx="457200" cy="457200"/>
          </a:xfrm>
          <a:prstGeom prst="ellipse">
            <a:avLst/>
          </a:prstGeom>
          <a:solidFill>
            <a:schemeClr val="accent5"/>
          </a:solidFill>
          <a:ln w="12700">
            <a:solidFill>
              <a:schemeClr val="accent5"/>
            </a:solidFill>
            <a:prstDash val="solid"/>
          </a:ln>
        </p:spPr>
      </p:sp>
      <p:pic>
        <p:nvPicPr>
          <p:cNvPr id="19" name="Icon FaRupeeSign" descr="FaRupeeSign"/>
          <p:cNvPicPr>
            <a:picLocks noChangeAspect="1"/>
          </p:cNvPicPr>
          <p:nvPr/>
        </p:nvPicPr>
        <p:blipFill>
          <a:blip r:embed="rId7"/>
          <a:stretch>
            <a:fillRect/>
          </a:stretch>
        </p:blipFill>
        <p:spPr>
          <a:xfrm>
            <a:off x="4878324" y="2967228"/>
            <a:ext cx="210312" cy="210312"/>
          </a:xfrm>
          <a:prstGeom prst="rect">
            <a:avLst/>
          </a:prstGeom>
        </p:spPr>
      </p:pic>
      <p:sp>
        <p:nvSpPr>
          <p:cNvPr id="20" name="Future text 2"/>
          <p:cNvSpPr txBox="1"/>
          <p:nvPr/>
        </p:nvSpPr>
        <p:spPr>
          <a:xfrm>
            <a:off x="5394960" y="2734056"/>
            <a:ext cx="2926080" cy="685800"/>
          </a:xfrm>
          <a:prstGeom prst="rect">
            <a:avLst/>
          </a:prstGeom>
          <a:noFill/>
          <a:ln/>
        </p:spPr>
        <p:txBody>
          <a:bodyPr wrap="square" lIns="0" tIns="0" rIns="0" bIns="0" rtlCol="0" anchor="ctr"/>
          <a:lstStyle/>
          <a:p>
            <a:pPr marL="0" indent="0">
              <a:buNone/>
            </a:pPr>
            <a:r>
              <a:rPr lang="en-US" sz="1600" b="1" dirty="0">
                <a:solidFill>
                  <a:schemeClr val="bg1"/>
                </a:solidFill>
              </a:rPr>
              <a:t>Online maintenance payments</a:t>
            </a:r>
            <a:endParaRPr lang="en-US" sz="1600" dirty="0"/>
          </a:p>
          <a:p>
            <a:pPr marL="0" indent="0">
              <a:buNone/>
            </a:pPr>
            <a:r>
              <a:rPr lang="en-US" sz="1400" dirty="0">
                <a:solidFill>
                  <a:schemeClr val="bg1"/>
                </a:solidFill>
              </a:rPr>
              <a:t>Pay dues and donations inside the app</a:t>
            </a:r>
            <a:endParaRPr lang="en-US" sz="1600" dirty="0"/>
          </a:p>
        </p:txBody>
      </p:sp>
      <p:sp>
        <p:nvSpPr>
          <p:cNvPr id="21" name="Icon circle"/>
          <p:cNvSpPr/>
          <p:nvPr/>
        </p:nvSpPr>
        <p:spPr>
          <a:xfrm>
            <a:off x="4754880" y="3630168"/>
            <a:ext cx="457200" cy="457200"/>
          </a:xfrm>
          <a:prstGeom prst="ellipse">
            <a:avLst/>
          </a:prstGeom>
          <a:solidFill>
            <a:schemeClr val="accent5"/>
          </a:solidFill>
          <a:ln w="12700">
            <a:solidFill>
              <a:schemeClr val="accent5"/>
            </a:solidFill>
            <a:prstDash val="solid"/>
          </a:ln>
        </p:spPr>
      </p:sp>
      <p:pic>
        <p:nvPicPr>
          <p:cNvPr id="22" name="Icon FaExclamationCircle" descr="FaExclamationCircle"/>
          <p:cNvPicPr>
            <a:picLocks noChangeAspect="1"/>
          </p:cNvPicPr>
          <p:nvPr/>
        </p:nvPicPr>
        <p:blipFill>
          <a:blip r:embed="rId8"/>
          <a:stretch>
            <a:fillRect/>
          </a:stretch>
        </p:blipFill>
        <p:spPr>
          <a:xfrm>
            <a:off x="4878324" y="3753612"/>
            <a:ext cx="210312" cy="210312"/>
          </a:xfrm>
          <a:prstGeom prst="rect">
            <a:avLst/>
          </a:prstGeom>
        </p:spPr>
      </p:pic>
      <p:sp>
        <p:nvSpPr>
          <p:cNvPr id="23" name="Future text 3"/>
          <p:cNvSpPr txBox="1"/>
          <p:nvPr/>
        </p:nvSpPr>
        <p:spPr>
          <a:xfrm>
            <a:off x="5394960" y="3520440"/>
            <a:ext cx="2926080" cy="685800"/>
          </a:xfrm>
          <a:prstGeom prst="rect">
            <a:avLst/>
          </a:prstGeom>
          <a:noFill/>
          <a:ln/>
        </p:spPr>
        <p:txBody>
          <a:bodyPr wrap="square" lIns="0" tIns="0" rIns="0" bIns="0" rtlCol="0" anchor="ctr"/>
          <a:lstStyle/>
          <a:p>
            <a:pPr marL="0" indent="0">
              <a:buNone/>
            </a:pPr>
            <a:r>
              <a:rPr lang="en-US" sz="1600" b="1" dirty="0">
                <a:solidFill>
                  <a:schemeClr val="bg1"/>
                </a:solidFill>
              </a:rPr>
              <a:t>Complaint tracking</a:t>
            </a:r>
            <a:endParaRPr lang="en-US" sz="1600" dirty="0"/>
          </a:p>
          <a:p>
            <a:pPr marL="0" indent="0">
              <a:buNone/>
            </a:pPr>
            <a:r>
              <a:rPr lang="en-US" sz="1400" dirty="0">
                <a:solidFill>
                  <a:schemeClr val="bg1"/>
                </a:solidFill>
              </a:rPr>
              <a:t>Raise issues and follow them to resolution</a:t>
            </a:r>
            <a:endParaRPr lang="en-US" sz="1600" dirty="0"/>
          </a:p>
        </p:txBody>
      </p:sp>
      <p:sp>
        <p:nvSpPr>
          <p:cNvPr id="24" name="Icon circle"/>
          <p:cNvSpPr/>
          <p:nvPr/>
        </p:nvSpPr>
        <p:spPr>
          <a:xfrm>
            <a:off x="4754880" y="4416552"/>
            <a:ext cx="457200" cy="457200"/>
          </a:xfrm>
          <a:prstGeom prst="ellipse">
            <a:avLst/>
          </a:prstGeom>
          <a:solidFill>
            <a:schemeClr val="accent5"/>
          </a:solidFill>
          <a:ln w="12700">
            <a:solidFill>
              <a:schemeClr val="accent5"/>
            </a:solidFill>
            <a:prstDash val="solid"/>
          </a:ln>
        </p:spPr>
      </p:sp>
      <p:pic>
        <p:nvPicPr>
          <p:cNvPr id="25" name="Icon FaChartLine" descr="FaChartLine"/>
          <p:cNvPicPr>
            <a:picLocks noChangeAspect="1"/>
          </p:cNvPicPr>
          <p:nvPr/>
        </p:nvPicPr>
        <p:blipFill>
          <a:blip r:embed="rId9"/>
          <a:stretch>
            <a:fillRect/>
          </a:stretch>
        </p:blipFill>
        <p:spPr>
          <a:xfrm>
            <a:off x="4878324" y="4539996"/>
            <a:ext cx="210312" cy="210312"/>
          </a:xfrm>
          <a:prstGeom prst="rect">
            <a:avLst/>
          </a:prstGeom>
        </p:spPr>
      </p:pic>
      <p:sp>
        <p:nvSpPr>
          <p:cNvPr id="26" name="Future text 4"/>
          <p:cNvSpPr txBox="1"/>
          <p:nvPr/>
        </p:nvSpPr>
        <p:spPr>
          <a:xfrm>
            <a:off x="5394960" y="4306824"/>
            <a:ext cx="2926080" cy="685800"/>
          </a:xfrm>
          <a:prstGeom prst="rect">
            <a:avLst/>
          </a:prstGeom>
          <a:noFill/>
          <a:ln/>
        </p:spPr>
        <p:txBody>
          <a:bodyPr wrap="square" lIns="0" tIns="0" rIns="0" bIns="0" rtlCol="0" anchor="ctr"/>
          <a:lstStyle/>
          <a:p>
            <a:pPr marL="0" indent="0">
              <a:buNone/>
            </a:pPr>
            <a:r>
              <a:rPr lang="en-US" sz="1600" b="1" dirty="0">
                <a:solidFill>
                  <a:schemeClr val="bg1"/>
                </a:solidFill>
              </a:rPr>
              <a:t>Admin analytics</a:t>
            </a:r>
            <a:endParaRPr lang="en-US" sz="1600" dirty="0"/>
          </a:p>
          <a:p>
            <a:pPr marL="0" indent="0">
              <a:buNone/>
            </a:pPr>
            <a:r>
              <a:rPr lang="en-US" sz="1400" dirty="0">
                <a:solidFill>
                  <a:schemeClr val="bg1"/>
                </a:solidFill>
              </a:rPr>
              <a:t>Dashboards on members, events and turnout</a:t>
            </a:r>
            <a:endParaRPr lang="en-US" sz="1600" dirty="0"/>
          </a:p>
        </p:txBody>
      </p:sp>
      <p:pic>
        <p:nvPicPr>
          <p:cNvPr id="27" name="Phone directory" descr="App screenshot: directory"/>
          <p:cNvPicPr>
            <a:picLocks noChangeAspect="1"/>
          </p:cNvPicPr>
          <p:nvPr/>
        </p:nvPicPr>
        <p:blipFill>
          <a:blip r:embed="rId10"/>
          <a:stretch>
            <a:fillRect/>
          </a:stretch>
        </p:blipFill>
        <p:spPr>
          <a:xfrm>
            <a:off x="8458200" y="1600200"/>
            <a:ext cx="1592132" cy="3383280"/>
          </a:xfrm>
          <a:prstGeom prst="rect">
            <a:avLst/>
          </a:prstGeom>
        </p:spPr>
      </p:pic>
      <p:pic>
        <p:nvPicPr>
          <p:cNvPr id="28" name="Phone tree" descr="App screenshot: tree"/>
          <p:cNvPicPr>
            <a:picLocks noChangeAspect="1"/>
          </p:cNvPicPr>
          <p:nvPr/>
        </p:nvPicPr>
        <p:blipFill>
          <a:blip r:embed="rId11"/>
          <a:stretch>
            <a:fillRect/>
          </a:stretch>
        </p:blipFill>
        <p:spPr>
          <a:xfrm>
            <a:off x="10104120" y="1600200"/>
            <a:ext cx="1592132" cy="3383280"/>
          </a:xfrm>
          <a:prstGeom prst="rect">
            <a:avLst/>
          </a:prstGeom>
        </p:spPr>
      </p:pic>
      <p:sp>
        <p:nvSpPr>
          <p:cNvPr id="29" name="Caption"/>
          <p:cNvSpPr txBox="1"/>
          <p:nvPr/>
        </p:nvSpPr>
        <p:spPr>
          <a:xfrm>
            <a:off x="8458200" y="5029200"/>
            <a:ext cx="1591056" cy="274320"/>
          </a:xfrm>
          <a:prstGeom prst="rect">
            <a:avLst/>
          </a:prstGeom>
          <a:noFill/>
          <a:ln/>
        </p:spPr>
        <p:txBody>
          <a:bodyPr wrap="square" lIns="0" tIns="0" rIns="0" bIns="0" rtlCol="0" anchor="ctr"/>
          <a:lstStyle/>
          <a:p>
            <a:pPr marL="0" indent="0" algn="ctr">
              <a:buNone/>
            </a:pPr>
            <a:r>
              <a:rPr lang="en-US" sz="1200" dirty="0">
                <a:solidFill>
                  <a:schemeClr val="bg1"/>
                </a:solidFill>
              </a:rPr>
              <a:t>Member directory</a:t>
            </a:r>
            <a:endParaRPr lang="en-US" sz="1200" dirty="0"/>
          </a:p>
        </p:txBody>
      </p:sp>
      <p:sp>
        <p:nvSpPr>
          <p:cNvPr id="30" name="Caption"/>
          <p:cNvSpPr txBox="1"/>
          <p:nvPr/>
        </p:nvSpPr>
        <p:spPr>
          <a:xfrm>
            <a:off x="10104120" y="5029200"/>
            <a:ext cx="1591056" cy="274320"/>
          </a:xfrm>
          <a:prstGeom prst="rect">
            <a:avLst/>
          </a:prstGeom>
          <a:noFill/>
          <a:ln/>
        </p:spPr>
        <p:txBody>
          <a:bodyPr wrap="square" lIns="0" tIns="0" rIns="0" bIns="0" rtlCol="0" anchor="ctr"/>
          <a:lstStyle/>
          <a:p>
            <a:pPr marL="0" indent="0" algn="ctr">
              <a:buNone/>
            </a:pPr>
            <a:r>
              <a:rPr lang="en-US" sz="1200" dirty="0">
                <a:solidFill>
                  <a:schemeClr val="bg1"/>
                </a:solidFill>
              </a:rPr>
              <a:t>Family tree</a:t>
            </a:r>
            <a:endParaRPr lang="en-US" sz="1200" dirty="0"/>
          </a:p>
        </p:txBody>
      </p:sp>
      <p:sp>
        <p:nvSpPr>
          <p:cNvPr id="31" name="Thank you banner"/>
          <p:cNvSpPr/>
          <p:nvPr/>
        </p:nvSpPr>
        <p:spPr>
          <a:xfrm>
            <a:off x="548640" y="5440680"/>
            <a:ext cx="7863840" cy="868680"/>
          </a:xfrm>
          <a:prstGeom prst="roundRect">
            <a:avLst>
              <a:gd name="adj" fmla="val 12632"/>
            </a:avLst>
          </a:prstGeom>
          <a:solidFill>
            <a:schemeClr val="accent1"/>
          </a:solidFill>
          <a:ln w="12700">
            <a:solidFill>
              <a:schemeClr val="accent1"/>
            </a:solidFill>
            <a:prstDash val="solid"/>
          </a:ln>
        </p:spPr>
      </p:sp>
      <p:sp>
        <p:nvSpPr>
          <p:cNvPr id="32" name="Thank you text"/>
          <p:cNvSpPr txBox="1"/>
          <p:nvPr/>
        </p:nvSpPr>
        <p:spPr>
          <a:xfrm>
            <a:off x="548640" y="5440680"/>
            <a:ext cx="7863840" cy="868680"/>
          </a:xfrm>
          <a:prstGeom prst="rect">
            <a:avLst/>
          </a:prstGeom>
          <a:noFill/>
          <a:ln/>
        </p:spPr>
        <p:txBody>
          <a:bodyPr wrap="square" lIns="0" tIns="0" rIns="0" bIns="0" rtlCol="0" anchor="ctr"/>
          <a:lstStyle/>
          <a:p>
            <a:pPr marL="0" indent="0" algn="ctr">
              <a:buNone/>
            </a:pPr>
            <a:r>
              <a:rPr lang="en-US" sz="3200" b="1" dirty="0">
                <a:solidFill>
                  <a:schemeClr val="bg1"/>
                </a:solidFill>
                <a:latin typeface="Cambria" pitchFamily="34" charset="0"/>
                <a:ea typeface="Cambria" pitchFamily="34" charset="-122"/>
                <a:cs typeface="Cambria" pitchFamily="34" charset="-120"/>
              </a:rPr>
              <a:t>Thank You  |  Questions?</a:t>
            </a:r>
            <a:endParaRPr lang="en-US" sz="3200" dirty="0"/>
          </a:p>
        </p:txBody>
      </p:sp>
      <p:sp>
        <p:nvSpPr>
          <p:cNvPr id="33"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1"/>
                </a:solidFill>
              </a:defRPr>
            </a:lvl1pPr>
          </a:lstStyle>
          <a:p>
            <a:pPr algn="r"/>
            <a:fld id="{F7021451-1387-4CA6-816F-3879F97B5CBC}" type="slidenum">
              <a:rPr lang="en-US" b="0"/>
              <a:t>9</a:t>
            </a:fld>
            <a:endParaRPr lang="en-US"/>
          </a:p>
        </p:txBody>
      </p:sp>
    </p:spTree>
  </p:cSld>
  <p:clrMapOvr>
    <a:masterClrMapping/>
  </p:clrMapOvr>
</p:sld>
</file>

<file path=ppt/theme/theme1.xml><?xml version="1.0" encoding="utf-8"?>
<a:theme xmlns:a="http://schemas.openxmlformats.org/drawingml/2006/main" name="KutumbSetu">
  <a:themeElements>
    <a:clrScheme name="KutumbSetu">
      <a:dk1>
        <a:srgbClr val="1F2A37"/>
      </a:dk1>
      <a:lt1>
        <a:srgbClr val="FFFFFF"/>
      </a:lt1>
      <a:dk2>
        <a:srgbClr val="154360"/>
      </a:dk2>
      <a:lt2>
        <a:srgbClr val="F1F4F7"/>
      </a:lt2>
      <a:accent1>
        <a:srgbClr val="E67E22"/>
      </a:accent1>
      <a:accent2>
        <a:srgbClr val="154360"/>
      </a:accent2>
      <a:accent3>
        <a:srgbClr val="2E8B57"/>
      </a:accent3>
      <a:accent4>
        <a:srgbClr val="C0392B"/>
      </a:accent4>
      <a:accent5>
        <a:srgbClr val="2980B9"/>
      </a:accent5>
      <a:accent6>
        <a:srgbClr val="7D5A7C"/>
      </a:accent6>
      <a:hlink>
        <a:srgbClr val="2980B9"/>
      </a:hlink>
      <a:folHlink>
        <a:srgbClr val="7D5A7C"/>
      </a:folHlink>
    </a:clrScheme>
    <a:fontScheme name="KutumbSetu">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TotalTime>
  <Words>1173</Words>
  <Application>Microsoft Office PowerPoint</Application>
  <PresentationFormat>Widescreen</PresentationFormat>
  <Paragraphs>163</Paragraphs>
  <Slides>9</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KutumbSetu</vt:lpstr>
      <vt:lpstr>PowerPoint Presentation</vt:lpstr>
      <vt:lpstr>The Challenges of Community Management</vt:lpstr>
      <vt:lpstr>Introducing KutumbSetu</vt:lpstr>
      <vt:lpstr>Core Features and Functionalities</vt:lpstr>
      <vt:lpstr>How KutumbSetu Works</vt:lpstr>
      <vt:lpstr>Technologies and Tools Used</vt:lpstr>
      <vt:lpstr>How a sample user interacts with the Application</vt:lpstr>
      <vt:lpstr>Working Prototype and Demonstration</vt:lpstr>
      <vt:lpstr>Building Better-Connected Communities</vt:lpstr>
    </vt:vector>
  </TitlesOfParts>
  <Company>SVKM's Shri Bhagubhai Mafatlal Polytechnic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KutumbSetu - A Smart Community Management System</dc:title>
  <dc:subject>PptxGenJS Presentation</dc:subject>
  <dc:creator>KutumbSetu Project Team</dc:creator>
  <cp:lastModifiedBy>Rishik Jariwala</cp:lastModifiedBy>
  <cp:revision>3</cp:revision>
  <dcterms:created xsi:type="dcterms:W3CDTF">2026-10-15T11:49:38Z</dcterms:created>
  <dcterms:modified xsi:type="dcterms:W3CDTF">2026-10-16T02:30:09Z</dcterms:modified>
</cp:coreProperties>
</file>
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5" r:id="rId10"/>
    <p:sldId id="26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E0E913A-D0D6-5D06-67BB-3AB6A04013EC}">
          <p14:sldIdLst>
            <p14:sldId id="256"/>
          </p14:sldIdLst>
        </p14:section>
        <p14:section name="Problem &amp; Solution" id="{0FE6DDE6-E48D-3B17-C97B-3350C6693F9D}">
          <p14:sldIdLst>
            <p14:sldId id="257"/>
            <p14:sldId id="258"/>
          </p14:sldIdLst>
        </p14:section>
        <p14:section name="Build" id="{139FDC94-8530-9929-497B-84B97CDD762C}">
          <p14:sldIdLst>
            <p14:sldId id="259"/>
            <p14:sldId id="260"/>
            <p14:sldId id="261"/>
            <p14:sldId id="264"/>
            <p14:sldId id="262"/>
            <p14:sldId id="265"/>
          </p14:sldIdLst>
        </p14:section>
        <p14:section name="Wrap-up" id="{84999AE3-D95A-C108-8D7E-E3F5FEF407C7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3447" autoAdjust="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ik Jariwala" userId="1611da47c418f513" providerId="LiveId" clId="{7B245D8B-B2B6-41E4-9592-2BFA912A7BC0}"/>
    <pc:docChg chg="modSld">
      <pc:chgData name="Rishik Jariwala" userId="1611da47c418f513" providerId="LiveId" clId="{7B245D8B-B2B6-41E4-9592-2BFA912A7BC0}" dt="2026-10-16T15:57:19.264" v="64" actId="20577"/>
      <pc:docMkLst>
        <pc:docMk/>
      </pc:docMkLst>
      <pc:sldChg chg="modNotesTx">
        <pc:chgData name="Rishik Jariwala" userId="1611da47c418f513" providerId="LiveId" clId="{7B245D8B-B2B6-41E4-9592-2BFA912A7BC0}" dt="2026-10-16T15:56:35.628" v="57" actId="20577"/>
        <pc:sldMkLst>
          <pc:docMk/>
          <pc:sldMk cId="0" sldId="256"/>
        </pc:sldMkLst>
      </pc:sldChg>
      <pc:sldChg chg="modSp mod modNotesTx">
        <pc:chgData name="Rishik Jariwala" userId="1611da47c418f513" providerId="LiveId" clId="{7B245D8B-B2B6-41E4-9592-2BFA912A7BC0}" dt="2026-10-16T15:56:44.018" v="58" actId="20577"/>
        <pc:sldMkLst>
          <pc:docMk/>
          <pc:sldMk cId="0" sldId="257"/>
        </pc:sldMkLst>
        <pc:spChg chg="mod">
          <ac:chgData name="Rishik Jariwala" userId="1611da47c418f513" providerId="LiveId" clId="{7B245D8B-B2B6-41E4-9592-2BFA912A7BC0}" dt="2026-10-16T02:27:59.215" v="37" actId="20577"/>
          <ac:spMkLst>
            <pc:docMk/>
            <pc:sldMk cId="0" sldId="257"/>
            <ac:spMk id="6" creationId="{00000000-0000-0000-0000-000000000000}"/>
          </ac:spMkLst>
        </pc:spChg>
      </pc:sldChg>
      <pc:sldChg chg="modNotesTx">
        <pc:chgData name="Rishik Jariwala" userId="1611da47c418f513" providerId="LiveId" clId="{7B245D8B-B2B6-41E4-9592-2BFA912A7BC0}" dt="2026-10-16T15:56:50.888" v="59" actId="20577"/>
        <pc:sldMkLst>
          <pc:docMk/>
          <pc:sldMk cId="0" sldId="258"/>
        </pc:sldMkLst>
      </pc:sldChg>
      <pc:sldChg chg="modSp mod modNotesTx">
        <pc:chgData name="Rishik Jariwala" userId="1611da47c418f513" providerId="LiveId" clId="{7B245D8B-B2B6-41E4-9592-2BFA912A7BC0}" dt="2026-10-16T15:56:54.890" v="60" actId="20577"/>
        <pc:sldMkLst>
          <pc:docMk/>
          <pc:sldMk cId="0" sldId="259"/>
        </pc:sldMkLst>
        <pc:spChg chg="mod">
          <ac:chgData name="Rishik Jariwala" userId="1611da47c418f513" providerId="LiveId" clId="{7B245D8B-B2B6-41E4-9592-2BFA912A7BC0}" dt="2026-10-16T02:29:55.751" v="56" actId="20577"/>
          <ac:spMkLst>
            <pc:docMk/>
            <pc:sldMk cId="0" sldId="259"/>
            <ac:spMk id="15" creationId="{00000000-0000-0000-0000-000000000000}"/>
          </ac:spMkLst>
        </pc:spChg>
      </pc:sldChg>
      <pc:sldChg chg="modNotesTx">
        <pc:chgData name="Rishik Jariwala" userId="1611da47c418f513" providerId="LiveId" clId="{7B245D8B-B2B6-41E4-9592-2BFA912A7BC0}" dt="2026-10-16T15:57:02.665" v="61" actId="20577"/>
        <pc:sldMkLst>
          <pc:docMk/>
          <pc:sldMk cId="0" sldId="260"/>
        </pc:sldMkLst>
      </pc:sldChg>
      <pc:sldChg chg="modNotesTx">
        <pc:chgData name="Rishik Jariwala" userId="1611da47c418f513" providerId="LiveId" clId="{7B245D8B-B2B6-41E4-9592-2BFA912A7BC0}" dt="2026-10-16T15:57:06.737" v="62" actId="20577"/>
        <pc:sldMkLst>
          <pc:docMk/>
          <pc:sldMk cId="0" sldId="261"/>
        </pc:sldMkLst>
      </pc:sldChg>
      <pc:sldChg chg="modNotesTx">
        <pc:chgData name="Rishik Jariwala" userId="1611da47c418f513" providerId="LiveId" clId="{7B245D8B-B2B6-41E4-9592-2BFA912A7BC0}" dt="2026-10-16T15:57:14.043" v="63" actId="20577"/>
        <pc:sldMkLst>
          <pc:docMk/>
          <pc:sldMk cId="0" sldId="262"/>
        </pc:sldMkLst>
      </pc:sldChg>
      <pc:sldChg chg="modNotesTx">
        <pc:chgData name="Rishik Jariwala" userId="1611da47c418f513" providerId="LiveId" clId="{7B245D8B-B2B6-41E4-9592-2BFA912A7BC0}" dt="2026-10-16T15:57:19.264" v="64" actId="20577"/>
        <pc:sldMkLst>
          <pc:docMk/>
          <pc:sldMk cId="0" sldId="263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29:33.82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1 0 24575,'0'0'0,"2"0"0,3 0 0,2 0 0,2 0 0,2 0 0,3 0 0,0 0 0,1 0 0,-1 0 0,-1 0 0,0 0 0,0 0 0,-1 0 0,2 0 0,0 0 0,0 0 0,0 0 0,-1 0 0,0 0 0,-1 0 0,0 0 0,2 0 0,0 0 0,0 0 0,0 0 0,-1 0 0,-1 0 0,1 0 0,1 0 0,0 0 0,0 0 0,0 0 0,-1 0 0,0 0 0,-1 0 0,0 0 0,-3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29:36.88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869.40649"/>
      <inkml:brushProperty name="anchorY" value="-564.44446"/>
      <inkml:brushProperty name="scaleFactor" value="0.5"/>
    </inkml:brush>
  </inkml:definitions>
  <inkml:trace contextRef="#ctx0" brushRef="#br0">383 35 24575,'0'-35'0,"-383"35"0,766 35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29:40.68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89.09235"/>
      <inkml:brushProperty name="anchorY" value="47.03704"/>
      <inkml:brushProperty name="scaleFactor" value="0.5"/>
    </inkml:brush>
  </inkml:definitions>
  <inkml:trace contextRef="#ctx0" brushRef="#br0">447 70 24575,'-447'-70'0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29:44.58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546.70441"/>
      <inkml:brushProperty name="anchorY" value="658.64563"/>
      <inkml:brushProperty name="scaleFactor" value="0.5"/>
    </inkml:brush>
  </inkml:definitions>
  <inkml:trace contextRef="#ctx0" brushRef="#br0">134 33 24575,'136'-18'0,"-406"3"0,404 48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30:41.27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574 1 24554,'-574'0'0,"574"80"0,574-160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30:47.0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591 67 24575,'-11'-1'0,"0"0"0,0 0 0,-15-6 0,-15-1 0,-89-4 0,-140 7 0,216 5 0,51 0 0,0 0 0,1 0 0,-1 0 0,1-1 0,-1 1 0,1-1 0,-1 1 0,1-1 0,-1 0 0,-2-1 0,5 1 0,-1 1 0,1 0 0,0-1 0,-1 1 0,1 0 0,0-1 0,-1 1 0,1 0 0,0-1 0,-1 1 0,1 0 0,0-1 0,0 1 0,0-1 0,-1 1 0,1-1 0,0 1 0,0-1 0,0 1 0,0-1 0,0 1 0,0-1 0,0 0 0,0-1 0,1 1 0,-1 0 0,0 0 0,1 0 0,-1 0 0,1 0 0,0 0 0,-1 0 0,1 0 0,0 0 0,-1 0 0,2-1 0,-1 2 0,-1 1 0,1-1 0,-1 0 0,0 1 0,1-1 0,-1 1 0,0-1 0,1 0 0,-1 1 0,0-1 0,0 1 0,0-1 0,1 1 0,-1-1 0,0 1 0,0-1 0,0 1 0,0-1 0,0 1 0,0-1 0,0 1 0,0 0 0,0-1 0,0 1 0,0-1 0,0 1 0,1 20 0,-1 30 0,0-47 79,2-6-1523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30:49.61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518 1 23515,'-517'23'0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13:30:52.4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309 37 24575,'-43'-3'0,"-79"-13"0,3-1 0,117 17 0,1 0 0,0 0 0,-1 0 0,1 0 0,-1 0 0,1 0 0,-1 0 0,1 0 0,-1 0 0,1 1 0,0-1 0,-1 1 0,1-1 0,0 1 0,-2 0 0,4 5 0,12 3 0,6-1-6,16 10-1353,-27-12-5467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2784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KutumbSetu  |  Final Year Project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8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30.png"/><Relationship Id="rId18" Type="http://schemas.openxmlformats.org/officeDocument/2006/relationships/customXml" Target="../ink/ink8.xml"/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12" Type="http://schemas.openxmlformats.org/officeDocument/2006/relationships/customXml" Target="../ink/ink5.xml"/><Relationship Id="rId17" Type="http://schemas.openxmlformats.org/officeDocument/2006/relationships/image" Target="../media/image32.png"/><Relationship Id="rId2" Type="http://schemas.openxmlformats.org/officeDocument/2006/relationships/image" Target="../media/image24.png"/><Relationship Id="rId16" Type="http://schemas.openxmlformats.org/officeDocument/2006/relationships/customXml" Target="../ink/ink7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2.xml"/><Relationship Id="rId11" Type="http://schemas.openxmlformats.org/officeDocument/2006/relationships/image" Target="../media/image29.png"/><Relationship Id="rId5" Type="http://schemas.openxmlformats.org/officeDocument/2006/relationships/image" Target="../media/image26.png"/><Relationship Id="rId15" Type="http://schemas.openxmlformats.org/officeDocument/2006/relationships/image" Target="../media/image31.png"/><Relationship Id="rId10" Type="http://schemas.openxmlformats.org/officeDocument/2006/relationships/customXml" Target="../ink/ink4.xml"/><Relationship Id="rId19" Type="http://schemas.openxmlformats.org/officeDocument/2006/relationships/image" Target="../media/image33.png"/><Relationship Id="rId4" Type="http://schemas.openxmlformats.org/officeDocument/2006/relationships/customXml" Target="../ink/ink1.xml"/><Relationship Id="rId9" Type="http://schemas.openxmlformats.org/officeDocument/2006/relationships/image" Target="../media/image28.png"/><Relationship Id="rId14" Type="http://schemas.openxmlformats.org/officeDocument/2006/relationships/customXml" Target="../ink/ink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1"/>
                </a:solidFill>
              </a:rPr>
              <a:t>FINAL YEAR PROJECT</a:t>
            </a:r>
            <a:endParaRPr lang="en-US" sz="14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10972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KutumbSetu</a:t>
            </a:r>
            <a:endParaRPr lang="en-US" sz="6000" dirty="0"/>
          </a:p>
        </p:txBody>
      </p:sp>
      <p:sp>
        <p:nvSpPr>
          <p:cNvPr id="4" name="Title Devanagari"/>
          <p:cNvSpPr txBox="1"/>
          <p:nvPr/>
        </p:nvSpPr>
        <p:spPr>
          <a:xfrm>
            <a:off x="640080" y="20116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</a:rPr>
              <a:t>(कुटुम्बसेतु)</a:t>
            </a:r>
            <a:endParaRPr lang="en-US" sz="2800" dirty="0"/>
          </a:p>
        </p:txBody>
      </p:sp>
      <p:sp>
        <p:nvSpPr>
          <p:cNvPr id="5" name="Subtitle"/>
          <p:cNvSpPr txBox="1"/>
          <p:nvPr/>
        </p:nvSpPr>
        <p:spPr>
          <a:xfrm>
            <a:off x="640080" y="2606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A Smart Community Management System</a:t>
            </a:r>
            <a:endParaRPr lang="en-US" sz="2400" dirty="0"/>
          </a:p>
        </p:txBody>
      </p:sp>
      <p:sp>
        <p:nvSpPr>
          <p:cNvPr id="6" name="Info label"/>
          <p:cNvSpPr txBox="1"/>
          <p:nvPr/>
        </p:nvSpPr>
        <p:spPr>
          <a:xfrm>
            <a:off x="640080" y="3474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TEAM</a:t>
            </a:r>
            <a:endParaRPr lang="en-US" sz="1100" dirty="0"/>
          </a:p>
        </p:txBody>
      </p:sp>
      <p:sp>
        <p:nvSpPr>
          <p:cNvPr id="7" name="Info value"/>
          <p:cNvSpPr txBox="1"/>
          <p:nvPr/>
        </p:nvSpPr>
        <p:spPr>
          <a:xfrm>
            <a:off x="640080" y="3703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Rishik Jariwala | Nirmay Patel |  Rishi Soni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Group:10</a:t>
            </a:r>
            <a:endParaRPr lang="en-US" sz="1600" dirty="0"/>
          </a:p>
        </p:txBody>
      </p:sp>
      <p:sp>
        <p:nvSpPr>
          <p:cNvPr id="8" name="Info label"/>
          <p:cNvSpPr txBox="1"/>
          <p:nvPr/>
        </p:nvSpPr>
        <p:spPr>
          <a:xfrm>
            <a:off x="640080" y="4251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PROJECT GUIDE</a:t>
            </a:r>
            <a:endParaRPr lang="en-US" sz="1100" dirty="0"/>
          </a:p>
        </p:txBody>
      </p:sp>
      <p:sp>
        <p:nvSpPr>
          <p:cNvPr id="9" name="Info value"/>
          <p:cNvSpPr txBox="1"/>
          <p:nvPr/>
        </p:nvSpPr>
        <p:spPr>
          <a:xfrm>
            <a:off x="640080" y="4480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Mr. Pankaj D. Rathod</a:t>
            </a:r>
            <a:endParaRPr lang="en-US" sz="1600" dirty="0"/>
          </a:p>
        </p:txBody>
      </p:sp>
      <p:sp>
        <p:nvSpPr>
          <p:cNvPr id="10" name="Info label"/>
          <p:cNvSpPr txBox="1"/>
          <p:nvPr/>
        </p:nvSpPr>
        <p:spPr>
          <a:xfrm>
            <a:off x="640080" y="4892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COLLEGE</a:t>
            </a:r>
            <a:endParaRPr lang="en-US" sz="1100" dirty="0"/>
          </a:p>
        </p:txBody>
      </p:sp>
      <p:sp>
        <p:nvSpPr>
          <p:cNvPr id="11" name="Info value"/>
          <p:cNvSpPr txBox="1"/>
          <p:nvPr/>
        </p:nvSpPr>
        <p:spPr>
          <a:xfrm>
            <a:off x="640080" y="5120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SVKM's Shri Bhagubhai Mafatlal Polytechnic</a:t>
            </a:r>
            <a:endParaRPr lang="en-US" sz="1600" dirty="0"/>
          </a:p>
        </p:txBody>
      </p:sp>
      <p:sp>
        <p:nvSpPr>
          <p:cNvPr id="12" name="Info label"/>
          <p:cNvSpPr txBox="1"/>
          <p:nvPr/>
        </p:nvSpPr>
        <p:spPr>
          <a:xfrm>
            <a:off x="640080" y="5532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ACADEMIC YEAR</a:t>
            </a:r>
            <a:endParaRPr lang="en-US" sz="1100" dirty="0"/>
          </a:p>
        </p:txBody>
      </p:sp>
      <p:sp>
        <p:nvSpPr>
          <p:cNvPr id="13" name="Info value"/>
          <p:cNvSpPr txBox="1"/>
          <p:nvPr/>
        </p:nvSpPr>
        <p:spPr>
          <a:xfrm>
            <a:off x="640080" y="5760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2026 – 27</a:t>
            </a:r>
            <a:endParaRPr lang="en-US" sz="1600" dirty="0"/>
          </a:p>
        </p:txBody>
      </p:sp>
      <p:pic>
        <p:nvPicPr>
          <p:cNvPr id="14" name="Project logo" descr="KutumbSetu project logo: a heart formed by a fami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005840"/>
            <a:ext cx="4297680" cy="4297680"/>
          </a:xfrm>
          <a:prstGeom prst="rect">
            <a:avLst/>
          </a:prstGeom>
        </p:spPr>
      </p:pic>
      <p:sp>
        <p:nvSpPr>
          <p:cNvPr id="15" name="Logo caption"/>
          <p:cNvSpPr txBox="1"/>
          <p:nvPr/>
        </p:nvSpPr>
        <p:spPr>
          <a:xfrm>
            <a:off x="7406640" y="5532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00" b="1" dirty="0">
              <a:solidFill>
                <a:schemeClr val="bg1"/>
              </a:solidFill>
            </a:endParaRPr>
          </a:p>
          <a:p>
            <a:pPr algn="ctr"/>
            <a:endParaRPr lang="en-US" sz="1400" b="1" dirty="0">
              <a:solidFill>
                <a:schemeClr val="bg1"/>
              </a:solidFill>
            </a:endParaRPr>
          </a:p>
          <a:p>
            <a:pPr algn="ctr"/>
            <a:r>
              <a:rPr lang="en-US" sz="1400" b="1" dirty="0" err="1">
                <a:solidFill>
                  <a:schemeClr val="bg1"/>
                </a:solidFill>
              </a:rPr>
              <a:t>સમસ્ત</a:t>
            </a:r>
            <a:r>
              <a:rPr lang="en-US" sz="1400" b="1" dirty="0">
                <a:solidFill>
                  <a:schemeClr val="bg1"/>
                </a:solidFill>
              </a:rPr>
              <a:t> </a:t>
            </a:r>
            <a:r>
              <a:rPr lang="en-US" sz="1400" b="1" dirty="0" err="1">
                <a:solidFill>
                  <a:schemeClr val="bg1"/>
                </a:solidFill>
              </a:rPr>
              <a:t>દરજી</a:t>
            </a:r>
            <a:r>
              <a:rPr lang="en-US" sz="1400" b="1" dirty="0">
                <a:solidFill>
                  <a:schemeClr val="bg1"/>
                </a:solidFill>
              </a:rPr>
              <a:t> </a:t>
            </a:r>
            <a:r>
              <a:rPr lang="en-US" sz="1400" b="1" dirty="0" err="1">
                <a:solidFill>
                  <a:schemeClr val="bg1"/>
                </a:solidFill>
              </a:rPr>
              <a:t>સમાજ</a:t>
            </a:r>
            <a:r>
              <a:rPr lang="en-US" sz="1400" b="1" dirty="0">
                <a:solidFill>
                  <a:schemeClr val="bg1"/>
                </a:solidFill>
              </a:rPr>
              <a:t> </a:t>
            </a:r>
            <a:r>
              <a:rPr lang="en-US" sz="1400" b="1" dirty="0" err="1">
                <a:solidFill>
                  <a:schemeClr val="bg1"/>
                </a:solidFill>
              </a:rPr>
              <a:t>બાબરિયાવાડ</a:t>
            </a:r>
            <a:endParaRPr lang="en-US" sz="1400" dirty="0">
              <a:solidFill>
                <a:schemeClr val="bg1"/>
              </a:solidFill>
            </a:endParaRPr>
          </a:p>
          <a:p>
            <a:pPr algn="ctr"/>
            <a:br>
              <a:rPr lang="en-US" sz="1400" dirty="0">
                <a:solidFill>
                  <a:schemeClr val="bg1"/>
                </a:solidFill>
              </a:rPr>
            </a:b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02  |  PROBLEM STATEMENT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The Challenges of Community Management</a:t>
            </a:r>
            <a:endParaRPr lang="en-US" sz="3400" dirty="0"/>
          </a:p>
        </p:txBody>
      </p:sp>
      <p:sp>
        <p:nvSpPr>
          <p:cNvPr id="4" name="Intro panel"/>
          <p:cNvSpPr/>
          <p:nvPr/>
        </p:nvSpPr>
        <p:spPr>
          <a:xfrm>
            <a:off x="548640" y="1691640"/>
            <a:ext cx="3566160" cy="452628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Intro headline"/>
          <p:cNvSpPr txBox="1"/>
          <p:nvPr/>
        </p:nvSpPr>
        <p:spPr>
          <a:xfrm>
            <a:off x="822960" y="196596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Communities still run on group chats, paper registers and phone calls.</a:t>
            </a:r>
            <a:endParaRPr lang="en-US" sz="2400" dirty="0"/>
          </a:p>
        </p:txBody>
      </p:sp>
      <p:sp>
        <p:nvSpPr>
          <p:cNvPr id="6" name="Intro body"/>
          <p:cNvSpPr txBox="1"/>
          <p:nvPr/>
        </p:nvSpPr>
        <p:spPr>
          <a:xfrm>
            <a:off x="822960" y="4343400"/>
            <a:ext cx="3017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For a Community with 250+ families spread across villages and cities, this patchwork means missed announcements, duplicated effort and outdated records.</a:t>
            </a:r>
            <a:endParaRPr lang="en-US" sz="1400" dirty="0"/>
          </a:p>
        </p:txBody>
      </p:sp>
      <p:sp>
        <p:nvSpPr>
          <p:cNvPr id="7" name="Problem card 1"/>
          <p:cNvSpPr/>
          <p:nvPr/>
        </p:nvSpPr>
        <p:spPr>
          <a:xfrm>
            <a:off x="4389120" y="1691640"/>
            <a:ext cx="347472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Icon circle"/>
          <p:cNvSpPr/>
          <p:nvPr/>
        </p:nvSpPr>
        <p:spPr>
          <a:xfrm>
            <a:off x="4663440" y="194767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con FaCommentDots" descr="FaCommentDo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6511" y="2100743"/>
            <a:ext cx="260787" cy="260787"/>
          </a:xfrm>
          <a:prstGeom prst="rect">
            <a:avLst/>
          </a:prstGeom>
        </p:spPr>
      </p:pic>
      <p:sp>
        <p:nvSpPr>
          <p:cNvPr id="10" name="Problem title 1"/>
          <p:cNvSpPr txBox="1"/>
          <p:nvPr/>
        </p:nvSpPr>
        <p:spPr>
          <a:xfrm>
            <a:off x="4663440" y="26243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Scattered communication</a:t>
            </a:r>
            <a:endParaRPr lang="en-US" sz="1800" dirty="0"/>
          </a:p>
        </p:txBody>
      </p:sp>
      <p:sp>
        <p:nvSpPr>
          <p:cNvPr id="11" name="Problem text 1"/>
          <p:cNvSpPr txBox="1"/>
          <p:nvPr/>
        </p:nvSpPr>
        <p:spPr>
          <a:xfrm>
            <a:off x="4663440" y="2971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Announcements, wishes and notices are spread over many chat groups, so members miss updates.</a:t>
            </a:r>
            <a:endParaRPr lang="en-US" sz="1400" dirty="0"/>
          </a:p>
        </p:txBody>
      </p:sp>
      <p:sp>
        <p:nvSpPr>
          <p:cNvPr id="12" name="Problem card 2"/>
          <p:cNvSpPr/>
          <p:nvPr/>
        </p:nvSpPr>
        <p:spPr>
          <a:xfrm>
            <a:off x="8165592" y="1691640"/>
            <a:ext cx="347472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Icon circle"/>
          <p:cNvSpPr/>
          <p:nvPr/>
        </p:nvSpPr>
        <p:spPr>
          <a:xfrm>
            <a:off x="8439912" y="194767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 FaClipboardList" descr="FaClipboardLis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2983" y="2100743"/>
            <a:ext cx="260787" cy="260787"/>
          </a:xfrm>
          <a:prstGeom prst="rect">
            <a:avLst/>
          </a:prstGeom>
        </p:spPr>
      </p:pic>
      <p:sp>
        <p:nvSpPr>
          <p:cNvPr id="15" name="Problem title 2"/>
          <p:cNvSpPr txBox="1"/>
          <p:nvPr/>
        </p:nvSpPr>
        <p:spPr>
          <a:xfrm>
            <a:off x="8439912" y="26243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Manual event management</a:t>
            </a:r>
            <a:endParaRPr lang="en-US" sz="1800" dirty="0"/>
          </a:p>
        </p:txBody>
      </p:sp>
      <p:sp>
        <p:nvSpPr>
          <p:cNvPr id="16" name="Problem text 2"/>
          <p:cNvSpPr txBox="1"/>
          <p:nvPr/>
        </p:nvSpPr>
        <p:spPr>
          <a:xfrm>
            <a:off x="8439912" y="2971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Events and registrations are handled by hand, with no single list of who is attending.</a:t>
            </a:r>
            <a:endParaRPr lang="en-US" sz="1400" dirty="0"/>
          </a:p>
        </p:txBody>
      </p:sp>
      <p:sp>
        <p:nvSpPr>
          <p:cNvPr id="17" name="Problem card 3"/>
          <p:cNvSpPr/>
          <p:nvPr/>
        </p:nvSpPr>
        <p:spPr>
          <a:xfrm>
            <a:off x="4389120" y="4069080"/>
            <a:ext cx="347472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Icon circle"/>
          <p:cNvSpPr/>
          <p:nvPr/>
        </p:nvSpPr>
        <p:spPr>
          <a:xfrm>
            <a:off x="4663440" y="432511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on FaAddressBook" descr="FaAddressBoo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6511" y="4478183"/>
            <a:ext cx="260787" cy="260787"/>
          </a:xfrm>
          <a:prstGeom prst="rect">
            <a:avLst/>
          </a:prstGeom>
        </p:spPr>
      </p:pic>
      <p:sp>
        <p:nvSpPr>
          <p:cNvPr id="20" name="Problem title 3"/>
          <p:cNvSpPr txBox="1"/>
          <p:nvPr/>
        </p:nvSpPr>
        <p:spPr>
          <a:xfrm>
            <a:off x="4663440" y="50017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Unorganised resident data</a:t>
            </a:r>
            <a:endParaRPr lang="en-US" sz="1800" dirty="0"/>
          </a:p>
        </p:txBody>
      </p:sp>
      <p:sp>
        <p:nvSpPr>
          <p:cNvPr id="21" name="Problem text 3"/>
          <p:cNvSpPr txBox="1"/>
          <p:nvPr/>
        </p:nvSpPr>
        <p:spPr>
          <a:xfrm>
            <a:off x="4663440" y="53492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Member details sit in notebooks and sheets that are hard to search, update or trust.</a:t>
            </a:r>
            <a:endParaRPr lang="en-US" sz="1400" dirty="0"/>
          </a:p>
        </p:txBody>
      </p:sp>
      <p:sp>
        <p:nvSpPr>
          <p:cNvPr id="22" name="Problem card 4"/>
          <p:cNvSpPr/>
          <p:nvPr/>
        </p:nvSpPr>
        <p:spPr>
          <a:xfrm>
            <a:off x="8165592" y="4069080"/>
            <a:ext cx="347472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Icon circle"/>
          <p:cNvSpPr/>
          <p:nvPr/>
        </p:nvSpPr>
        <p:spPr>
          <a:xfrm>
            <a:off x="8439912" y="432511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con FaLayerGroup" descr="FaLayerGroup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2983" y="4478183"/>
            <a:ext cx="260787" cy="260787"/>
          </a:xfrm>
          <a:prstGeom prst="rect">
            <a:avLst/>
          </a:prstGeom>
        </p:spPr>
      </p:pic>
      <p:sp>
        <p:nvSpPr>
          <p:cNvPr id="25" name="Problem title 4"/>
          <p:cNvSpPr txBox="1"/>
          <p:nvPr/>
        </p:nvSpPr>
        <p:spPr>
          <a:xfrm>
            <a:off x="8439912" y="50017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 central access to services</a:t>
            </a:r>
            <a:endParaRPr lang="en-US" sz="1800" dirty="0"/>
          </a:p>
        </p:txBody>
      </p:sp>
      <p:sp>
        <p:nvSpPr>
          <p:cNvPr id="26" name="Problem text 4"/>
          <p:cNvSpPr txBox="1"/>
          <p:nvPr/>
        </p:nvSpPr>
        <p:spPr>
          <a:xfrm>
            <a:off x="8439912" y="53492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Directory, family records, matrimony and events live in different places.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03  |  PROPOSED SOLUTION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Introducing KutumbSetu</a:t>
            </a:r>
            <a:endParaRPr lang="en-US" sz="3400" dirty="0"/>
          </a:p>
        </p:txBody>
      </p:sp>
      <p:sp>
        <p:nvSpPr>
          <p:cNvPr id="4" name="Solution tagline"/>
          <p:cNvSpPr txBox="1"/>
          <p:nvPr/>
        </p:nvSpPr>
        <p:spPr>
          <a:xfrm>
            <a:off x="548640" y="15544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One mobile platform that brings the whole community, its events and its records together.</a:t>
            </a:r>
            <a:endParaRPr lang="en-US" sz="1800" dirty="0"/>
          </a:p>
        </p:txBody>
      </p:sp>
      <p:sp>
        <p:nvSpPr>
          <p:cNvPr id="5" name="Icon circle"/>
          <p:cNvSpPr/>
          <p:nvPr/>
        </p:nvSpPr>
        <p:spPr>
          <a:xfrm>
            <a:off x="548640" y="23774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FaMobileAlt" descr="FaMobileAl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2525573"/>
            <a:ext cx="252374" cy="252374"/>
          </a:xfrm>
          <a:prstGeom prst="rect">
            <a:avLst/>
          </a:prstGeom>
        </p:spPr>
      </p:pic>
      <p:sp>
        <p:nvSpPr>
          <p:cNvPr id="7" name="Solution item 1"/>
          <p:cNvSpPr txBox="1"/>
          <p:nvPr/>
        </p:nvSpPr>
        <p:spPr>
          <a:xfrm>
            <a:off x="1298448" y="2340864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Unified mobile application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Family tree, directory, events, news and matrimony in one app</a:t>
            </a:r>
            <a:endParaRPr lang="en-US" sz="1700" dirty="0"/>
          </a:p>
        </p:txBody>
      </p:sp>
      <p:sp>
        <p:nvSpPr>
          <p:cNvPr id="8" name="Icon circle"/>
          <p:cNvSpPr/>
          <p:nvPr/>
        </p:nvSpPr>
        <p:spPr>
          <a:xfrm>
            <a:off x="548640" y="314553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con FaUserShield" descr="FaUserShiel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3" y="3293669"/>
            <a:ext cx="252374" cy="252374"/>
          </a:xfrm>
          <a:prstGeom prst="rect">
            <a:avLst/>
          </a:prstGeom>
        </p:spPr>
      </p:pic>
      <p:sp>
        <p:nvSpPr>
          <p:cNvPr id="10" name="Solution item 2"/>
          <p:cNvSpPr txBox="1"/>
          <p:nvPr/>
        </p:nvSpPr>
        <p:spPr>
          <a:xfrm>
            <a:off x="1298448" y="310896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Secure user authentication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Email OTP sign-in, plus a separate admin login</a:t>
            </a:r>
            <a:endParaRPr lang="en-US" sz="1700" dirty="0"/>
          </a:p>
        </p:txBody>
      </p:sp>
      <p:sp>
        <p:nvSpPr>
          <p:cNvPr id="11" name="Icon circle"/>
          <p:cNvSpPr/>
          <p:nvPr/>
        </p:nvSpPr>
        <p:spPr>
          <a:xfrm>
            <a:off x="548640" y="391363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 FaDatabase" descr="FaDatabas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773" y="4061765"/>
            <a:ext cx="252374" cy="252374"/>
          </a:xfrm>
          <a:prstGeom prst="rect">
            <a:avLst/>
          </a:prstGeom>
        </p:spPr>
      </p:pic>
      <p:sp>
        <p:nvSpPr>
          <p:cNvPr id="13" name="Solution item 3"/>
          <p:cNvSpPr txBox="1"/>
          <p:nvPr/>
        </p:nvSpPr>
        <p:spPr>
          <a:xfrm>
            <a:off x="1298448" y="3877056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Centralised community information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Member profiles and records stored in one database</a:t>
            </a:r>
            <a:endParaRPr lang="en-US" sz="1700" dirty="0"/>
          </a:p>
        </p:txBody>
      </p:sp>
      <p:sp>
        <p:nvSpPr>
          <p:cNvPr id="14" name="Icon circle"/>
          <p:cNvSpPr/>
          <p:nvPr/>
        </p:nvSpPr>
        <p:spPr>
          <a:xfrm>
            <a:off x="548640" y="468172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 FaCalendarCheck" descr="FaCalendarChec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773" y="4829861"/>
            <a:ext cx="252374" cy="252374"/>
          </a:xfrm>
          <a:prstGeom prst="rect">
            <a:avLst/>
          </a:prstGeom>
        </p:spPr>
      </p:pic>
      <p:sp>
        <p:nvSpPr>
          <p:cNvPr id="16" name="Solution item 4"/>
          <p:cNvSpPr txBox="1"/>
          <p:nvPr/>
        </p:nvSpPr>
        <p:spPr>
          <a:xfrm>
            <a:off x="1298448" y="464515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Organised event participation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Browse campaigns, register and get a unique ID</a:t>
            </a:r>
            <a:endParaRPr lang="en-US" sz="1700" dirty="0"/>
          </a:p>
        </p:txBody>
      </p:sp>
      <p:sp>
        <p:nvSpPr>
          <p:cNvPr id="17" name="Icon circle"/>
          <p:cNvSpPr/>
          <p:nvPr/>
        </p:nvSpPr>
        <p:spPr>
          <a:xfrm>
            <a:off x="548640" y="5449824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on FaSmile" descr="FaSmil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773" y="5597957"/>
            <a:ext cx="252374" cy="252374"/>
          </a:xfrm>
          <a:prstGeom prst="rect">
            <a:avLst/>
          </a:prstGeom>
        </p:spPr>
      </p:pic>
      <p:sp>
        <p:nvSpPr>
          <p:cNvPr id="19" name="Solution item 5"/>
          <p:cNvSpPr txBox="1"/>
          <p:nvPr/>
        </p:nvSpPr>
        <p:spPr>
          <a:xfrm>
            <a:off x="1298448" y="541324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A convenient user experience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Simple screens, English/regional language and dark mode</a:t>
            </a:r>
            <a:endParaRPr lang="en-US" sz="1700" dirty="0"/>
          </a:p>
        </p:txBody>
      </p:sp>
      <p:sp>
        <p:nvSpPr>
          <p:cNvPr id="20" name="Phone panel"/>
          <p:cNvSpPr/>
          <p:nvPr/>
        </p:nvSpPr>
        <p:spPr>
          <a:xfrm>
            <a:off x="7406640" y="1554480"/>
            <a:ext cx="4233672" cy="4754880"/>
          </a:xfrm>
          <a:prstGeom prst="roundRect">
            <a:avLst>
              <a:gd name="adj" fmla="val 25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1" name="Phone login" descr="App screenshot: logi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7808" y="1737360"/>
            <a:ext cx="1914861" cy="4069080"/>
          </a:xfrm>
          <a:prstGeom prst="rect">
            <a:avLst/>
          </a:prstGeom>
        </p:spPr>
      </p:pic>
      <p:pic>
        <p:nvPicPr>
          <p:cNvPr id="22" name="Phone home" descr="App screenshot: hom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38360" y="1737360"/>
            <a:ext cx="1914861" cy="4069080"/>
          </a:xfrm>
          <a:prstGeom prst="rect">
            <a:avLst/>
          </a:prstGeom>
        </p:spPr>
      </p:pic>
      <p:sp>
        <p:nvSpPr>
          <p:cNvPr id="23" name="Caption"/>
          <p:cNvSpPr txBox="1"/>
          <p:nvPr/>
        </p:nvSpPr>
        <p:spPr>
          <a:xfrm>
            <a:off x="7607808" y="587044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Email OTP sign-in</a:t>
            </a:r>
            <a:endParaRPr lang="en-US" sz="1200" dirty="0"/>
          </a:p>
        </p:txBody>
      </p:sp>
      <p:sp>
        <p:nvSpPr>
          <p:cNvPr id="24" name="Caption"/>
          <p:cNvSpPr txBox="1"/>
          <p:nvPr/>
        </p:nvSpPr>
        <p:spPr>
          <a:xfrm>
            <a:off x="9738360" y="587044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Home dashboard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04  |  KEY FEATURES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Core Features and Functionalities</a:t>
            </a:r>
            <a:endParaRPr lang="en-US" sz="3400" dirty="0"/>
          </a:p>
        </p:txBody>
      </p:sp>
      <p:sp>
        <p:nvSpPr>
          <p:cNvPr id="4" name="Feature card 1"/>
          <p:cNvSpPr/>
          <p:nvPr/>
        </p:nvSpPr>
        <p:spPr>
          <a:xfrm>
            <a:off x="548640" y="1600200"/>
            <a:ext cx="324612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31520" y="1920240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FaEnvelopeOpenText" descr="FaEnvelopeOpenTex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715" y="2063435"/>
            <a:ext cx="243962" cy="243962"/>
          </a:xfrm>
          <a:prstGeom prst="rect">
            <a:avLst/>
          </a:prstGeom>
        </p:spPr>
      </p:pic>
      <p:sp>
        <p:nvSpPr>
          <p:cNvPr id="7" name="Feature text 1"/>
          <p:cNvSpPr txBox="1"/>
          <p:nvPr/>
        </p:nvSpPr>
        <p:spPr>
          <a:xfrm>
            <a:off x="1389888" y="1673352"/>
            <a:ext cx="228600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Email OTP login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Passwordless sign-in verified by a one-time code</a:t>
            </a:r>
            <a:endParaRPr lang="en-US" sz="1500" dirty="0"/>
          </a:p>
        </p:txBody>
      </p:sp>
      <p:sp>
        <p:nvSpPr>
          <p:cNvPr id="8" name="Feature card 2"/>
          <p:cNvSpPr/>
          <p:nvPr/>
        </p:nvSpPr>
        <p:spPr>
          <a:xfrm>
            <a:off x="4069080" y="1600200"/>
            <a:ext cx="324612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 circle"/>
          <p:cNvSpPr/>
          <p:nvPr/>
        </p:nvSpPr>
        <p:spPr>
          <a:xfrm>
            <a:off x="4251960" y="1920240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 FaUserEdit" descr="FaUserEd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5155" y="2063435"/>
            <a:ext cx="243962" cy="243962"/>
          </a:xfrm>
          <a:prstGeom prst="rect">
            <a:avLst/>
          </a:prstGeom>
        </p:spPr>
      </p:pic>
      <p:sp>
        <p:nvSpPr>
          <p:cNvPr id="11" name="Feature text 2"/>
          <p:cNvSpPr txBox="1"/>
          <p:nvPr/>
        </p:nvSpPr>
        <p:spPr>
          <a:xfrm>
            <a:off x="4910328" y="1673352"/>
            <a:ext cx="228600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Registration &amp; profile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Photo, personal, demographic and contact details</a:t>
            </a:r>
            <a:endParaRPr lang="en-US" sz="1500" dirty="0"/>
          </a:p>
        </p:txBody>
      </p:sp>
      <p:sp>
        <p:nvSpPr>
          <p:cNvPr id="12" name="Feature card 3"/>
          <p:cNvSpPr/>
          <p:nvPr/>
        </p:nvSpPr>
        <p:spPr>
          <a:xfrm>
            <a:off x="548640" y="2880360"/>
            <a:ext cx="324612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Icon circle"/>
          <p:cNvSpPr/>
          <p:nvPr/>
        </p:nvSpPr>
        <p:spPr>
          <a:xfrm>
            <a:off x="731520" y="3200400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 FaCalendarAlt" descr="FaCalendarAl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715" y="3343595"/>
            <a:ext cx="243962" cy="243962"/>
          </a:xfrm>
          <a:prstGeom prst="rect">
            <a:avLst/>
          </a:prstGeom>
        </p:spPr>
      </p:pic>
      <p:sp>
        <p:nvSpPr>
          <p:cNvPr id="15" name="Feature text 3"/>
          <p:cNvSpPr txBox="1"/>
          <p:nvPr/>
        </p:nvSpPr>
        <p:spPr>
          <a:xfrm>
            <a:off x="1389888" y="2953512"/>
            <a:ext cx="228600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Event &amp; campaign listing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Community events with date, venue and RSVP button</a:t>
            </a:r>
            <a:endParaRPr lang="en-US" sz="1500" dirty="0"/>
          </a:p>
        </p:txBody>
      </p:sp>
      <p:sp>
        <p:nvSpPr>
          <p:cNvPr id="16" name="Feature card 4"/>
          <p:cNvSpPr/>
          <p:nvPr/>
        </p:nvSpPr>
        <p:spPr>
          <a:xfrm>
            <a:off x="4069080" y="2880360"/>
            <a:ext cx="324612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Icon circle"/>
          <p:cNvSpPr/>
          <p:nvPr/>
        </p:nvSpPr>
        <p:spPr>
          <a:xfrm>
            <a:off x="4251960" y="3200400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on FaUsers" descr="FaUser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5155" y="3343595"/>
            <a:ext cx="243962" cy="243962"/>
          </a:xfrm>
          <a:prstGeom prst="rect">
            <a:avLst/>
          </a:prstGeom>
        </p:spPr>
      </p:pic>
      <p:sp>
        <p:nvSpPr>
          <p:cNvPr id="19" name="Feature text 4"/>
          <p:cNvSpPr txBox="1"/>
          <p:nvPr/>
        </p:nvSpPr>
        <p:spPr>
          <a:xfrm>
            <a:off x="4910328" y="2953512"/>
            <a:ext cx="228600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Participant &amp; volunteer role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Choose how to join and how many people</a:t>
            </a:r>
            <a:endParaRPr lang="en-US" sz="1500" dirty="0"/>
          </a:p>
        </p:txBody>
      </p:sp>
      <p:sp>
        <p:nvSpPr>
          <p:cNvPr id="20" name="Feature card 5"/>
          <p:cNvSpPr/>
          <p:nvPr/>
        </p:nvSpPr>
        <p:spPr>
          <a:xfrm>
            <a:off x="548640" y="4160520"/>
            <a:ext cx="324612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Icon circle"/>
          <p:cNvSpPr/>
          <p:nvPr/>
        </p:nvSpPr>
        <p:spPr>
          <a:xfrm>
            <a:off x="731520" y="4480560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con FaPhoneAlt" descr="FaPhoneAl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715" y="4623755"/>
            <a:ext cx="243962" cy="243962"/>
          </a:xfrm>
          <a:prstGeom prst="rect">
            <a:avLst/>
          </a:prstGeom>
        </p:spPr>
      </p:pic>
      <p:sp>
        <p:nvSpPr>
          <p:cNvPr id="23" name="Feature text 5"/>
          <p:cNvSpPr txBox="1"/>
          <p:nvPr/>
        </p:nvSpPr>
        <p:spPr>
          <a:xfrm>
            <a:off x="1389888" y="4233672"/>
            <a:ext cx="228600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Emergency contact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Emergency person and special requests captured</a:t>
            </a:r>
            <a:endParaRPr lang="en-US" sz="1500" dirty="0"/>
          </a:p>
        </p:txBody>
      </p:sp>
      <p:sp>
        <p:nvSpPr>
          <p:cNvPr id="24" name="Feature card 6"/>
          <p:cNvSpPr/>
          <p:nvPr/>
        </p:nvSpPr>
        <p:spPr>
          <a:xfrm>
            <a:off x="4069080" y="4160520"/>
            <a:ext cx="324612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Icon circle"/>
          <p:cNvSpPr/>
          <p:nvPr/>
        </p:nvSpPr>
        <p:spPr>
          <a:xfrm>
            <a:off x="4251960" y="4480560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on FaUserCog" descr="FaUserCo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95155" y="4623755"/>
            <a:ext cx="243962" cy="243962"/>
          </a:xfrm>
          <a:prstGeom prst="rect">
            <a:avLst/>
          </a:prstGeom>
        </p:spPr>
      </p:pic>
      <p:sp>
        <p:nvSpPr>
          <p:cNvPr id="27" name="Feature text 6"/>
          <p:cNvSpPr txBox="1"/>
          <p:nvPr/>
        </p:nvSpPr>
        <p:spPr>
          <a:xfrm>
            <a:off x="4910328" y="4233672"/>
            <a:ext cx="228600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Admin management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Review registrations and update their status</a:t>
            </a:r>
            <a:endParaRPr lang="en-US" sz="1500" dirty="0"/>
          </a:p>
        </p:txBody>
      </p:sp>
      <p:sp>
        <p:nvSpPr>
          <p:cNvPr id="28" name="Also built strip"/>
          <p:cNvSpPr/>
          <p:nvPr/>
        </p:nvSpPr>
        <p:spPr>
          <a:xfrm>
            <a:off x="548640" y="5532120"/>
            <a:ext cx="6766560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Also built text"/>
          <p:cNvSpPr txBox="1"/>
          <p:nvPr/>
        </p:nvSpPr>
        <p:spPr>
          <a:xfrm>
            <a:off x="777240" y="5577840"/>
            <a:ext cx="6355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Also built:  </a:t>
            </a:r>
            <a:r>
              <a:rPr lang="en-US" sz="1400" dirty="0">
                <a:solidFill>
                  <a:schemeClr val="bg1"/>
                </a:solidFill>
              </a:rPr>
              <a:t>Family Tree  |  Directory  |  Matrimony  |  Birthday wishes  |  Multilingual  |  Dark mode</a:t>
            </a:r>
            <a:endParaRPr lang="en-US" sz="1400" dirty="0"/>
          </a:p>
        </p:txBody>
      </p:sp>
      <p:pic>
        <p:nvPicPr>
          <p:cNvPr id="30" name="Phone reg1" descr="App screenshot: reg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0960" y="1600200"/>
            <a:ext cx="1914861" cy="4069080"/>
          </a:xfrm>
          <a:prstGeom prst="rect">
            <a:avLst/>
          </a:prstGeom>
        </p:spPr>
      </p:pic>
      <p:pic>
        <p:nvPicPr>
          <p:cNvPr id="31" name="Phone hub" descr="App screenshot: hub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84080" y="1600200"/>
            <a:ext cx="1914861" cy="4069080"/>
          </a:xfrm>
          <a:prstGeom prst="rect">
            <a:avLst/>
          </a:prstGeom>
        </p:spPr>
      </p:pic>
      <p:sp>
        <p:nvSpPr>
          <p:cNvPr id="32" name="Caption"/>
          <p:cNvSpPr txBox="1"/>
          <p:nvPr/>
        </p:nvSpPr>
        <p:spPr>
          <a:xfrm>
            <a:off x="7680960" y="5760720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Registration &amp; profile</a:t>
            </a:r>
            <a:endParaRPr lang="en-US" sz="1200" dirty="0"/>
          </a:p>
        </p:txBody>
      </p:sp>
      <p:sp>
        <p:nvSpPr>
          <p:cNvPr id="33" name="Caption"/>
          <p:cNvSpPr txBox="1"/>
          <p:nvPr/>
        </p:nvSpPr>
        <p:spPr>
          <a:xfrm>
            <a:off x="9784080" y="5760720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Event listing</a:t>
            </a:r>
            <a:endParaRPr lang="en-US" sz="12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05  |  SYSTEM ARCHITECTURE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How KutumbSetu Works</a:t>
            </a:r>
            <a:endParaRPr lang="en-US" sz="3400" dirty="0"/>
          </a:p>
        </p:txBody>
      </p:sp>
      <p:sp>
        <p:nvSpPr>
          <p:cNvPr id="4" name="Arch box 1"/>
          <p:cNvSpPr/>
          <p:nvPr/>
        </p:nvSpPr>
        <p:spPr>
          <a:xfrm>
            <a:off x="548640" y="1600200"/>
            <a:ext cx="3017520" cy="1325880"/>
          </a:xfrm>
          <a:prstGeom prst="roundRect">
            <a:avLst>
              <a:gd name="adj" fmla="val 827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Arch icon 1" descr="FaMobileAl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84248"/>
            <a:ext cx="548640" cy="548640"/>
          </a:xfrm>
          <a:prstGeom prst="rect">
            <a:avLst/>
          </a:prstGeom>
        </p:spPr>
      </p:pic>
      <p:sp>
        <p:nvSpPr>
          <p:cNvPr id="6" name="Arch text 1"/>
          <p:cNvSpPr txBox="1"/>
          <p:nvPr/>
        </p:nvSpPr>
        <p:spPr>
          <a:xfrm>
            <a:off x="1508760" y="169164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Flutter App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Dart mobile interface</a:t>
            </a:r>
            <a:endParaRPr lang="en-US" sz="1800" dirty="0"/>
          </a:p>
        </p:txBody>
      </p:sp>
      <p:sp>
        <p:nvSpPr>
          <p:cNvPr id="7" name="Arch box 2"/>
          <p:cNvSpPr/>
          <p:nvPr/>
        </p:nvSpPr>
        <p:spPr>
          <a:xfrm>
            <a:off x="4585716" y="1600200"/>
            <a:ext cx="3017520" cy="1325880"/>
          </a:xfrm>
          <a:prstGeom prst="roundRect">
            <a:avLst>
              <a:gd name="adj" fmla="val 827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Arch icon 2" descr="FaServ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036" y="1984248"/>
            <a:ext cx="548640" cy="548640"/>
          </a:xfrm>
          <a:prstGeom prst="rect">
            <a:avLst/>
          </a:prstGeom>
        </p:spPr>
      </p:pic>
      <p:sp>
        <p:nvSpPr>
          <p:cNvPr id="9" name="Arch text 2"/>
          <p:cNvSpPr txBox="1"/>
          <p:nvPr/>
        </p:nvSpPr>
        <p:spPr>
          <a:xfrm>
            <a:off x="5545836" y="169164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Node.js / Express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Backend and API logic</a:t>
            </a:r>
            <a:endParaRPr lang="en-US" sz="1800" dirty="0"/>
          </a:p>
        </p:txBody>
      </p:sp>
      <p:sp>
        <p:nvSpPr>
          <p:cNvPr id="10" name="Arch box 3"/>
          <p:cNvSpPr/>
          <p:nvPr/>
        </p:nvSpPr>
        <p:spPr>
          <a:xfrm>
            <a:off x="8622792" y="1600200"/>
            <a:ext cx="3017520" cy="1325880"/>
          </a:xfrm>
          <a:prstGeom prst="roundRect">
            <a:avLst>
              <a:gd name="adj" fmla="val 827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Arch icon 3" descr="FaDatabas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7112" y="1984248"/>
            <a:ext cx="548640" cy="548640"/>
          </a:xfrm>
          <a:prstGeom prst="rect">
            <a:avLst/>
          </a:prstGeom>
        </p:spPr>
      </p:pic>
      <p:sp>
        <p:nvSpPr>
          <p:cNvPr id="12" name="Arch text 3"/>
          <p:cNvSpPr txBox="1"/>
          <p:nvPr/>
        </p:nvSpPr>
        <p:spPr>
          <a:xfrm>
            <a:off x="9582912" y="169164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MongoDB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Persistent data storage</a:t>
            </a:r>
            <a:endParaRPr lang="en-US" sz="1800" dirty="0"/>
          </a:p>
        </p:txBody>
      </p:sp>
      <p:sp>
        <p:nvSpPr>
          <p:cNvPr id="13" name="Arch arrow 1"/>
          <p:cNvSpPr/>
          <p:nvPr/>
        </p:nvSpPr>
        <p:spPr>
          <a:xfrm>
            <a:off x="3675888" y="2263140"/>
            <a:ext cx="80010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14" name="Arrow label 1"/>
          <p:cNvSpPr txBox="1"/>
          <p:nvPr/>
        </p:nvSpPr>
        <p:spPr>
          <a:xfrm>
            <a:off x="3474720" y="1696212"/>
            <a:ext cx="1202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HTTPS / REST (JSON)</a:t>
            </a:r>
            <a:endParaRPr lang="en-US" sz="1200" dirty="0"/>
          </a:p>
        </p:txBody>
      </p:sp>
      <p:sp>
        <p:nvSpPr>
          <p:cNvPr id="15" name="Arch arrow 2"/>
          <p:cNvSpPr/>
          <p:nvPr/>
        </p:nvSpPr>
        <p:spPr>
          <a:xfrm>
            <a:off x="7712964" y="2263140"/>
            <a:ext cx="80010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16" name="Arrow label 2"/>
          <p:cNvSpPr txBox="1"/>
          <p:nvPr/>
        </p:nvSpPr>
        <p:spPr>
          <a:xfrm>
            <a:off x="7511796" y="1696212"/>
            <a:ext cx="1202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Read / write queries</a:t>
            </a:r>
            <a:endParaRPr lang="en-US" sz="1200" dirty="0"/>
          </a:p>
        </p:txBody>
      </p:sp>
      <p:sp>
        <p:nvSpPr>
          <p:cNvPr id="17" name="Explain card 1"/>
          <p:cNvSpPr/>
          <p:nvPr/>
        </p:nvSpPr>
        <p:spPr>
          <a:xfrm>
            <a:off x="548640" y="3108960"/>
            <a:ext cx="30175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Explain text 1"/>
          <p:cNvSpPr txBox="1"/>
          <p:nvPr/>
        </p:nvSpPr>
        <p:spPr>
          <a:xfrm>
            <a:off x="731520" y="320040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Single Dart codebase for the user app and the admin console: forms, navigation, dark mode and language switch.</a:t>
            </a:r>
            <a:endParaRPr lang="en-US" sz="1400" dirty="0"/>
          </a:p>
        </p:txBody>
      </p:sp>
      <p:sp>
        <p:nvSpPr>
          <p:cNvPr id="19" name="Explain card 2"/>
          <p:cNvSpPr/>
          <p:nvPr/>
        </p:nvSpPr>
        <p:spPr>
          <a:xfrm>
            <a:off x="4585716" y="3108960"/>
            <a:ext cx="30175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Explain text 2"/>
          <p:cNvSpPr txBox="1"/>
          <p:nvPr/>
        </p:nvSpPr>
        <p:spPr>
          <a:xfrm>
            <a:off x="4768596" y="320040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REST endpoints for authentication, profiles, events and registrations. Validates input and applies the rules.</a:t>
            </a:r>
            <a:endParaRPr lang="en-US" sz="1400" dirty="0"/>
          </a:p>
        </p:txBody>
      </p:sp>
      <p:sp>
        <p:nvSpPr>
          <p:cNvPr id="21" name="Explain card 3"/>
          <p:cNvSpPr/>
          <p:nvPr/>
        </p:nvSpPr>
        <p:spPr>
          <a:xfrm>
            <a:off x="8622792" y="3108960"/>
            <a:ext cx="30175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Explain text 3"/>
          <p:cNvSpPr txBox="1"/>
          <p:nvPr/>
        </p:nvSpPr>
        <p:spPr>
          <a:xfrm>
            <a:off x="8805672" y="320040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Stores users, family links, events and every registration record created in the app.</a:t>
            </a:r>
            <a:endParaRPr lang="en-US" sz="1400" dirty="0"/>
          </a:p>
        </p:txBody>
      </p:sp>
      <p:sp>
        <p:nvSpPr>
          <p:cNvPr id="23" name="OTP heading"/>
          <p:cNvSpPr txBox="1"/>
          <p:nvPr/>
        </p:nvSpPr>
        <p:spPr>
          <a:xfrm>
            <a:off x="548640" y="4846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Email OTP verification workflow</a:t>
            </a:r>
            <a:endParaRPr lang="en-US" sz="1800" dirty="0"/>
          </a:p>
        </p:txBody>
      </p:sp>
      <p:sp>
        <p:nvSpPr>
          <p:cNvPr id="24" name="Step circle 1"/>
          <p:cNvSpPr/>
          <p:nvPr/>
        </p:nvSpPr>
        <p:spPr>
          <a:xfrm>
            <a:off x="548640" y="53492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Step number 1"/>
          <p:cNvSpPr txBox="1"/>
          <p:nvPr/>
        </p:nvSpPr>
        <p:spPr>
          <a:xfrm>
            <a:off x="548640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26" name="Step text 1"/>
          <p:cNvSpPr txBox="1"/>
          <p:nvPr/>
        </p:nvSpPr>
        <p:spPr>
          <a:xfrm>
            <a:off x="1097280" y="52578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User enters email address</a:t>
            </a:r>
            <a:endParaRPr lang="en-US" sz="1400" dirty="0"/>
          </a:p>
        </p:txBody>
      </p:sp>
      <p:sp>
        <p:nvSpPr>
          <p:cNvPr id="27" name="Step arrow 1"/>
          <p:cNvSpPr/>
          <p:nvPr/>
        </p:nvSpPr>
        <p:spPr>
          <a:xfrm>
            <a:off x="2633472" y="5577840"/>
            <a:ext cx="11201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8" name="Step circle 2"/>
          <p:cNvSpPr/>
          <p:nvPr/>
        </p:nvSpPr>
        <p:spPr>
          <a:xfrm>
            <a:off x="2818638" y="53492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Step number 2"/>
          <p:cNvSpPr txBox="1"/>
          <p:nvPr/>
        </p:nvSpPr>
        <p:spPr>
          <a:xfrm>
            <a:off x="2818638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30" name="Step text 2"/>
          <p:cNvSpPr txBox="1"/>
          <p:nvPr/>
        </p:nvSpPr>
        <p:spPr>
          <a:xfrm>
            <a:off x="3367278" y="52578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API generates an OTP and emails it</a:t>
            </a:r>
            <a:endParaRPr lang="en-US" sz="1400" dirty="0"/>
          </a:p>
        </p:txBody>
      </p:sp>
      <p:sp>
        <p:nvSpPr>
          <p:cNvPr id="31" name="Step arrow 2"/>
          <p:cNvSpPr/>
          <p:nvPr/>
        </p:nvSpPr>
        <p:spPr>
          <a:xfrm>
            <a:off x="4903470" y="5577840"/>
            <a:ext cx="11201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2" name="Step circle 3"/>
          <p:cNvSpPr/>
          <p:nvPr/>
        </p:nvSpPr>
        <p:spPr>
          <a:xfrm>
            <a:off x="5088636" y="53492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Step number 3"/>
          <p:cNvSpPr txBox="1"/>
          <p:nvPr/>
        </p:nvSpPr>
        <p:spPr>
          <a:xfrm>
            <a:off x="5088636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34" name="Step text 3"/>
          <p:cNvSpPr txBox="1"/>
          <p:nvPr/>
        </p:nvSpPr>
        <p:spPr>
          <a:xfrm>
            <a:off x="5637276" y="52578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User types the code in the app</a:t>
            </a:r>
            <a:endParaRPr lang="en-US" sz="1400" dirty="0"/>
          </a:p>
        </p:txBody>
      </p:sp>
      <p:sp>
        <p:nvSpPr>
          <p:cNvPr id="35" name="Step arrow 3"/>
          <p:cNvSpPr/>
          <p:nvPr/>
        </p:nvSpPr>
        <p:spPr>
          <a:xfrm>
            <a:off x="7173468" y="5577840"/>
            <a:ext cx="11201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6" name="Step circle 4"/>
          <p:cNvSpPr/>
          <p:nvPr/>
        </p:nvSpPr>
        <p:spPr>
          <a:xfrm>
            <a:off x="7358634" y="53492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Step number 4"/>
          <p:cNvSpPr txBox="1"/>
          <p:nvPr/>
        </p:nvSpPr>
        <p:spPr>
          <a:xfrm>
            <a:off x="7358634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38" name="Step text 4"/>
          <p:cNvSpPr txBox="1"/>
          <p:nvPr/>
        </p:nvSpPr>
        <p:spPr>
          <a:xfrm>
            <a:off x="7907274" y="52578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API verifies the code</a:t>
            </a:r>
            <a:endParaRPr lang="en-US" sz="1400" dirty="0"/>
          </a:p>
        </p:txBody>
      </p:sp>
      <p:sp>
        <p:nvSpPr>
          <p:cNvPr id="39" name="Step arrow 4"/>
          <p:cNvSpPr/>
          <p:nvPr/>
        </p:nvSpPr>
        <p:spPr>
          <a:xfrm>
            <a:off x="9443466" y="5577840"/>
            <a:ext cx="11201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0" name="Step circle 5"/>
          <p:cNvSpPr/>
          <p:nvPr/>
        </p:nvSpPr>
        <p:spPr>
          <a:xfrm>
            <a:off x="9628632" y="53492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1" name="Step number 5"/>
          <p:cNvSpPr txBox="1"/>
          <p:nvPr/>
        </p:nvSpPr>
        <p:spPr>
          <a:xfrm>
            <a:off x="9628632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42" name="Step text 5"/>
          <p:cNvSpPr txBox="1"/>
          <p:nvPr/>
        </p:nvSpPr>
        <p:spPr>
          <a:xfrm>
            <a:off x="10177272" y="52578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Session starts for user or admin</a:t>
            </a:r>
            <a:endParaRPr lang="en-US" sz="14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06  |  TECHNOLOGY STACK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Technologies and Tools Used</a:t>
            </a:r>
            <a:endParaRPr lang="en-US" sz="3400" dirty="0"/>
          </a:p>
        </p:txBody>
      </p:sp>
      <p:sp>
        <p:nvSpPr>
          <p:cNvPr id="4" name="Stack row 1"/>
          <p:cNvSpPr/>
          <p:nvPr/>
        </p:nvSpPr>
        <p:spPr>
          <a:xfrm>
            <a:off x="548640" y="1600200"/>
            <a:ext cx="11091672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31520" y="1728216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Icon FaMobileAlt" descr="FaMobileAl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3" y="1876349"/>
            <a:ext cx="252374" cy="252374"/>
          </a:xfrm>
          <a:prstGeom prst="rect">
            <a:avLst/>
          </a:prstGeom>
        </p:spPr>
      </p:pic>
      <p:sp>
        <p:nvSpPr>
          <p:cNvPr id="7" name="Stack label 1"/>
          <p:cNvSpPr txBox="1"/>
          <p:nvPr/>
        </p:nvSpPr>
        <p:spPr>
          <a:xfrm>
            <a:off x="1463040" y="164592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Frontend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Cross-platform mobile UI</a:t>
            </a:r>
            <a:endParaRPr lang="en-US" sz="1800" dirty="0"/>
          </a:p>
        </p:txBody>
      </p:sp>
      <p:sp>
        <p:nvSpPr>
          <p:cNvPr id="8" name="Chip Flutter"/>
          <p:cNvSpPr/>
          <p:nvPr/>
        </p:nvSpPr>
        <p:spPr>
          <a:xfrm>
            <a:off x="4297680" y="1783080"/>
            <a:ext cx="109728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9" name="Chip text Flutter"/>
          <p:cNvSpPr txBox="1"/>
          <p:nvPr/>
        </p:nvSpPr>
        <p:spPr>
          <a:xfrm>
            <a:off x="4297680" y="178308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Flutter</a:t>
            </a:r>
            <a:endParaRPr lang="en-US" sz="1400" dirty="0"/>
          </a:p>
        </p:txBody>
      </p:sp>
      <p:sp>
        <p:nvSpPr>
          <p:cNvPr id="10" name="Chip Dart"/>
          <p:cNvSpPr/>
          <p:nvPr/>
        </p:nvSpPr>
        <p:spPr>
          <a:xfrm>
            <a:off x="5559552" y="1783080"/>
            <a:ext cx="82296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1" name="Chip text Dart"/>
          <p:cNvSpPr txBox="1"/>
          <p:nvPr/>
        </p:nvSpPr>
        <p:spPr>
          <a:xfrm>
            <a:off x="5559552" y="178308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Dart</a:t>
            </a:r>
            <a:endParaRPr lang="en-US" sz="1400" dirty="0"/>
          </a:p>
        </p:txBody>
      </p:sp>
      <p:sp>
        <p:nvSpPr>
          <p:cNvPr id="12" name="Stack row 2"/>
          <p:cNvSpPr/>
          <p:nvPr/>
        </p:nvSpPr>
        <p:spPr>
          <a:xfrm>
            <a:off x="548640" y="2514600"/>
            <a:ext cx="11091672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Icon circle"/>
          <p:cNvSpPr/>
          <p:nvPr/>
        </p:nvSpPr>
        <p:spPr>
          <a:xfrm>
            <a:off x="731520" y="2642616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con FaServer" descr="FaServ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653" y="2790749"/>
            <a:ext cx="252374" cy="252374"/>
          </a:xfrm>
          <a:prstGeom prst="rect">
            <a:avLst/>
          </a:prstGeom>
        </p:spPr>
      </p:pic>
      <p:sp>
        <p:nvSpPr>
          <p:cNvPr id="15" name="Stack label 2"/>
          <p:cNvSpPr txBox="1"/>
          <p:nvPr/>
        </p:nvSpPr>
        <p:spPr>
          <a:xfrm>
            <a:off x="1463040" y="256032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Backend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API and business logic</a:t>
            </a:r>
            <a:endParaRPr lang="en-US" sz="1800" dirty="0"/>
          </a:p>
        </p:txBody>
      </p:sp>
      <p:sp>
        <p:nvSpPr>
          <p:cNvPr id="16" name="Chip Node.js"/>
          <p:cNvSpPr/>
          <p:nvPr/>
        </p:nvSpPr>
        <p:spPr>
          <a:xfrm>
            <a:off x="4297680" y="2697480"/>
            <a:ext cx="109728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7" name="Chip text Node.js"/>
          <p:cNvSpPr txBox="1"/>
          <p:nvPr/>
        </p:nvSpPr>
        <p:spPr>
          <a:xfrm>
            <a:off x="4297680" y="269748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Node.js</a:t>
            </a:r>
            <a:endParaRPr lang="en-US" sz="1400" dirty="0"/>
          </a:p>
        </p:txBody>
      </p:sp>
      <p:sp>
        <p:nvSpPr>
          <p:cNvPr id="18" name="Chip Express.js"/>
          <p:cNvSpPr/>
          <p:nvPr/>
        </p:nvSpPr>
        <p:spPr>
          <a:xfrm>
            <a:off x="5559552" y="2697480"/>
            <a:ext cx="137160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9" name="Chip text Express.js"/>
          <p:cNvSpPr txBox="1"/>
          <p:nvPr/>
        </p:nvSpPr>
        <p:spPr>
          <a:xfrm>
            <a:off x="5559552" y="26974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Express.js</a:t>
            </a:r>
            <a:endParaRPr lang="en-US" sz="1400" dirty="0"/>
          </a:p>
        </p:txBody>
      </p:sp>
      <p:sp>
        <p:nvSpPr>
          <p:cNvPr id="20" name="Chip REST API"/>
          <p:cNvSpPr/>
          <p:nvPr/>
        </p:nvSpPr>
        <p:spPr>
          <a:xfrm>
            <a:off x="7095744" y="2697480"/>
            <a:ext cx="118872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1" name="Chip text REST API"/>
          <p:cNvSpPr txBox="1"/>
          <p:nvPr/>
        </p:nvSpPr>
        <p:spPr>
          <a:xfrm>
            <a:off x="7095744" y="269748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REST API</a:t>
            </a:r>
            <a:endParaRPr lang="en-US" sz="1400" dirty="0"/>
          </a:p>
        </p:txBody>
      </p:sp>
      <p:sp>
        <p:nvSpPr>
          <p:cNvPr id="22" name="Stack row 3"/>
          <p:cNvSpPr/>
          <p:nvPr/>
        </p:nvSpPr>
        <p:spPr>
          <a:xfrm>
            <a:off x="548640" y="3429000"/>
            <a:ext cx="11091672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Icon circle"/>
          <p:cNvSpPr/>
          <p:nvPr/>
        </p:nvSpPr>
        <p:spPr>
          <a:xfrm>
            <a:off x="731520" y="3557016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4" name="Icon FaDatabase" descr="FaDatabas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653" y="3705149"/>
            <a:ext cx="252374" cy="252374"/>
          </a:xfrm>
          <a:prstGeom prst="rect">
            <a:avLst/>
          </a:prstGeom>
        </p:spPr>
      </p:pic>
      <p:sp>
        <p:nvSpPr>
          <p:cNvPr id="25" name="Stack label 3"/>
          <p:cNvSpPr txBox="1"/>
          <p:nvPr/>
        </p:nvSpPr>
        <p:spPr>
          <a:xfrm>
            <a:off x="1463040" y="347472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Database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Flexible document storage</a:t>
            </a:r>
            <a:endParaRPr lang="en-US" sz="1800" dirty="0"/>
          </a:p>
        </p:txBody>
      </p:sp>
      <p:sp>
        <p:nvSpPr>
          <p:cNvPr id="26" name="Chip MongoDB"/>
          <p:cNvSpPr/>
          <p:nvPr/>
        </p:nvSpPr>
        <p:spPr>
          <a:xfrm>
            <a:off x="4297680" y="3611880"/>
            <a:ext cx="109728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7" name="Chip text MongoDB"/>
          <p:cNvSpPr txBox="1"/>
          <p:nvPr/>
        </p:nvSpPr>
        <p:spPr>
          <a:xfrm>
            <a:off x="4297680" y="361188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MongoDB</a:t>
            </a:r>
            <a:endParaRPr lang="en-US" sz="1400" dirty="0"/>
          </a:p>
        </p:txBody>
      </p:sp>
      <p:sp>
        <p:nvSpPr>
          <p:cNvPr id="28" name="Stack row 4"/>
          <p:cNvSpPr/>
          <p:nvPr/>
        </p:nvSpPr>
        <p:spPr>
          <a:xfrm>
            <a:off x="548640" y="4343400"/>
            <a:ext cx="11091672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Icon circle"/>
          <p:cNvSpPr/>
          <p:nvPr/>
        </p:nvSpPr>
        <p:spPr>
          <a:xfrm>
            <a:off x="731520" y="4471416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0" name="Icon FaVial" descr="FaVia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653" y="4619549"/>
            <a:ext cx="252374" cy="252374"/>
          </a:xfrm>
          <a:prstGeom prst="rect">
            <a:avLst/>
          </a:prstGeom>
        </p:spPr>
      </p:pic>
      <p:sp>
        <p:nvSpPr>
          <p:cNvPr id="31" name="Stack label 4"/>
          <p:cNvSpPr txBox="1"/>
          <p:nvPr/>
        </p:nvSpPr>
        <p:spPr>
          <a:xfrm>
            <a:off x="1463040" y="438912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Testing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UI and API verification</a:t>
            </a:r>
            <a:endParaRPr lang="en-US" sz="1800" dirty="0"/>
          </a:p>
        </p:txBody>
      </p:sp>
      <p:sp>
        <p:nvSpPr>
          <p:cNvPr id="32" name="Chip Appium"/>
          <p:cNvSpPr/>
          <p:nvPr/>
        </p:nvSpPr>
        <p:spPr>
          <a:xfrm>
            <a:off x="4297680" y="4526280"/>
            <a:ext cx="100584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33" name="Chip text Appium"/>
          <p:cNvSpPr txBox="1"/>
          <p:nvPr/>
        </p:nvSpPr>
        <p:spPr>
          <a:xfrm>
            <a:off x="4297680" y="452628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Appium</a:t>
            </a:r>
            <a:endParaRPr lang="en-US" sz="1400" dirty="0"/>
          </a:p>
        </p:txBody>
      </p:sp>
      <p:sp>
        <p:nvSpPr>
          <p:cNvPr id="34" name="Chip API testing tools"/>
          <p:cNvSpPr/>
          <p:nvPr/>
        </p:nvSpPr>
        <p:spPr>
          <a:xfrm>
            <a:off x="5468112" y="4526280"/>
            <a:ext cx="201168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35" name="Chip text API testing tools"/>
          <p:cNvSpPr txBox="1"/>
          <p:nvPr/>
        </p:nvSpPr>
        <p:spPr>
          <a:xfrm>
            <a:off x="5468112" y="452628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API testing tools</a:t>
            </a:r>
            <a:endParaRPr lang="en-US" sz="1400" dirty="0"/>
          </a:p>
        </p:txBody>
      </p:sp>
      <p:sp>
        <p:nvSpPr>
          <p:cNvPr id="36" name="Stack row 5"/>
          <p:cNvSpPr/>
          <p:nvPr/>
        </p:nvSpPr>
        <p:spPr>
          <a:xfrm>
            <a:off x="548640" y="5257800"/>
            <a:ext cx="11091672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Icon circle"/>
          <p:cNvSpPr/>
          <p:nvPr/>
        </p:nvSpPr>
        <p:spPr>
          <a:xfrm>
            <a:off x="731520" y="538581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8" name="Icon FaCodeBranch" descr="FaCodeBranch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653" y="5533949"/>
            <a:ext cx="252374" cy="252374"/>
          </a:xfrm>
          <a:prstGeom prst="rect">
            <a:avLst/>
          </a:prstGeom>
        </p:spPr>
      </p:pic>
      <p:sp>
        <p:nvSpPr>
          <p:cNvPr id="39" name="Stack label 5"/>
          <p:cNvSpPr txBox="1"/>
          <p:nvPr/>
        </p:nvSpPr>
        <p:spPr>
          <a:xfrm>
            <a:off x="1463040" y="530352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DevOps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Versioning, containers, deployment</a:t>
            </a:r>
            <a:endParaRPr lang="en-US" sz="1800" dirty="0"/>
          </a:p>
        </p:txBody>
      </p:sp>
      <p:sp>
        <p:nvSpPr>
          <p:cNvPr id="40" name="Chip Git / GitHub"/>
          <p:cNvSpPr/>
          <p:nvPr/>
        </p:nvSpPr>
        <p:spPr>
          <a:xfrm>
            <a:off x="4297680" y="5440680"/>
            <a:ext cx="155448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1" name="Chip text Git / GitHub"/>
          <p:cNvSpPr txBox="1"/>
          <p:nvPr/>
        </p:nvSpPr>
        <p:spPr>
          <a:xfrm>
            <a:off x="4297680" y="544068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Git / GitHub</a:t>
            </a:r>
            <a:endParaRPr lang="en-US" sz="1400" dirty="0"/>
          </a:p>
        </p:txBody>
      </p:sp>
      <p:sp>
        <p:nvSpPr>
          <p:cNvPr id="42" name="Chip Docker"/>
          <p:cNvSpPr/>
          <p:nvPr/>
        </p:nvSpPr>
        <p:spPr>
          <a:xfrm>
            <a:off x="6016752" y="5440680"/>
            <a:ext cx="100584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3" name="Chip text Docker"/>
          <p:cNvSpPr txBox="1"/>
          <p:nvPr/>
        </p:nvSpPr>
        <p:spPr>
          <a:xfrm>
            <a:off x="6016752" y="544068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Docker</a:t>
            </a:r>
            <a:endParaRPr lang="en-US" sz="1400" dirty="0"/>
          </a:p>
        </p:txBody>
      </p:sp>
      <p:sp>
        <p:nvSpPr>
          <p:cNvPr id="44" name="Chip Docker Compose"/>
          <p:cNvSpPr/>
          <p:nvPr/>
        </p:nvSpPr>
        <p:spPr>
          <a:xfrm>
            <a:off x="7187184" y="5440680"/>
            <a:ext cx="173736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5" name="Chip text Docker Compose"/>
          <p:cNvSpPr txBox="1"/>
          <p:nvPr/>
        </p:nvSpPr>
        <p:spPr>
          <a:xfrm>
            <a:off x="7187184" y="544068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Docker Compose</a:t>
            </a:r>
            <a:endParaRPr lang="en-US" sz="1400" dirty="0"/>
          </a:p>
        </p:txBody>
      </p:sp>
      <p:sp>
        <p:nvSpPr>
          <p:cNvPr id="46" name="Chip Ansible"/>
          <p:cNvSpPr/>
          <p:nvPr/>
        </p:nvSpPr>
        <p:spPr>
          <a:xfrm>
            <a:off x="9089136" y="5440680"/>
            <a:ext cx="109728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7" name="Chip text Ansible"/>
          <p:cNvSpPr txBox="1"/>
          <p:nvPr/>
        </p:nvSpPr>
        <p:spPr>
          <a:xfrm>
            <a:off x="9089136" y="544068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Ansible</a:t>
            </a:r>
            <a:endParaRPr lang="en-US" sz="1400" dirty="0"/>
          </a:p>
        </p:txBody>
      </p:sp>
      <p:sp>
        <p:nvSpPr>
          <p:cNvPr id="48" name="Chip AWS EC2"/>
          <p:cNvSpPr/>
          <p:nvPr/>
        </p:nvSpPr>
        <p:spPr>
          <a:xfrm>
            <a:off x="10351008" y="5440680"/>
            <a:ext cx="109728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9" name="Chip text AWS EC2"/>
          <p:cNvSpPr txBox="1"/>
          <p:nvPr/>
        </p:nvSpPr>
        <p:spPr>
          <a:xfrm>
            <a:off x="10351008" y="544068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AWS EC2</a:t>
            </a:r>
            <a:endParaRPr lang="en-US" sz="140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5143A-454A-DD1D-5934-610866AE63A3}"/>
              </a:ext>
            </a:extLst>
          </p:cNvPr>
          <p:cNvSpPr>
            <a:spLocks noGrp="1"/>
          </p:cNvSpPr>
          <p:nvPr>
            <p:ph type="title" idx="101"/>
          </p:nvPr>
        </p:nvSpPr>
        <p:spPr>
          <a:xfrm>
            <a:off x="548640" y="312420"/>
            <a:ext cx="11091672" cy="777240"/>
          </a:xfrm>
        </p:spPr>
        <p:txBody>
          <a:bodyPr/>
          <a:lstStyle/>
          <a:p>
            <a:r>
              <a:rPr lang="en-US" dirty="0"/>
              <a:t>How a sample user interacts with the Application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F59D32-5728-EF90-65E1-4DD00E843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883920"/>
            <a:ext cx="6004560" cy="551688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FA9AAC-3C7B-0724-967A-6878A83DA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83920"/>
            <a:ext cx="6001512" cy="566166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80163D6-A3F1-24D5-DB6C-922BC542F7C7}"/>
                  </a:ext>
                </a:extLst>
              </p14:cNvPr>
              <p14:cNvContentPartPr/>
              <p14:nvPr/>
            </p14:nvContentPartPr>
            <p14:xfrm>
              <a:off x="4664880" y="5253447"/>
              <a:ext cx="16488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80163D6-A3F1-24D5-DB6C-922BC542F7C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56240" y="5244447"/>
                <a:ext cx="1825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0FFDDCE-45DB-6603-AB3A-5D1702600D98}"/>
                  </a:ext>
                </a:extLst>
              </p14:cNvPr>
              <p14:cNvContentPartPr/>
              <p14:nvPr/>
            </p14:nvContentPartPr>
            <p14:xfrm rot="-586760">
              <a:off x="4647696" y="5260684"/>
              <a:ext cx="138048" cy="12526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0FFDDCE-45DB-6603-AB3A-5D1702600D9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 rot="-586760">
                <a:off x="4638708" y="5251737"/>
                <a:ext cx="155664" cy="300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EC17A38-2F18-BCB5-44F2-421E657CCECC}"/>
                  </a:ext>
                </a:extLst>
              </p14:cNvPr>
              <p14:cNvContentPartPr/>
              <p14:nvPr/>
            </p14:nvContentPartPr>
            <p14:xfrm>
              <a:off x="4669200" y="5240847"/>
              <a:ext cx="161280" cy="255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EC17A38-2F18-BCB5-44F2-421E657CCEC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60200" y="5231847"/>
                <a:ext cx="17892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5D382AB-5E5D-441E-DC49-FF4D42B816E4}"/>
                  </a:ext>
                </a:extLst>
              </p14:cNvPr>
              <p14:cNvContentPartPr/>
              <p14:nvPr/>
            </p14:nvContentPartPr>
            <p14:xfrm>
              <a:off x="4701600" y="5232927"/>
              <a:ext cx="97200" cy="122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5D382AB-5E5D-441E-DC49-FF4D42B816E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692600" y="5223927"/>
                <a:ext cx="11484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43D083E-AF45-6D74-014C-EF6866760DC7}"/>
                  </a:ext>
                </a:extLst>
              </p14:cNvPr>
              <p14:cNvContentPartPr/>
              <p14:nvPr/>
            </p14:nvContentPartPr>
            <p14:xfrm>
              <a:off x="4676178" y="4767341"/>
              <a:ext cx="206964" cy="2937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43D083E-AF45-6D74-014C-EF6866760DC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670059" y="4761252"/>
                <a:ext cx="219202" cy="415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19DDC28-0533-EB83-4FB8-A94DF2DB3BA1}"/>
                  </a:ext>
                </a:extLst>
              </p14:cNvPr>
              <p14:cNvContentPartPr/>
              <p14:nvPr/>
            </p14:nvContentPartPr>
            <p14:xfrm>
              <a:off x="4655640" y="4738287"/>
              <a:ext cx="212760" cy="324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19DDC28-0533-EB83-4FB8-A94DF2DB3BA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649520" y="4732167"/>
                <a:ext cx="22500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A5126DE-AB69-AADE-D824-3D1EF14CC0C5}"/>
                  </a:ext>
                </a:extLst>
              </p14:cNvPr>
              <p14:cNvContentPartPr/>
              <p14:nvPr/>
            </p14:nvContentPartPr>
            <p14:xfrm>
              <a:off x="4656360" y="4732527"/>
              <a:ext cx="186480" cy="86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A5126DE-AB69-AADE-D824-3D1EF14CC0C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650240" y="4726407"/>
                <a:ext cx="1987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B077199D-FEF0-8562-2C8C-E2F69B2E3A93}"/>
                  </a:ext>
                </a:extLst>
              </p14:cNvPr>
              <p14:cNvContentPartPr/>
              <p14:nvPr/>
            </p14:nvContentPartPr>
            <p14:xfrm>
              <a:off x="4731600" y="4745127"/>
              <a:ext cx="111240" cy="187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B077199D-FEF0-8562-2C8C-E2F69B2E3A9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725480" y="4739007"/>
                <a:ext cx="123480" cy="3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7079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07  |  IMPLEMENTATION AND RESULTS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Working Prototype and Demonstration</a:t>
            </a:r>
            <a:endParaRPr lang="en-US" sz="3400" dirty="0"/>
          </a:p>
        </p:txBody>
      </p:sp>
      <p:pic>
        <p:nvPicPr>
          <p:cNvPr id="4" name="Phone login" descr="App screenshot: log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52" y="1554480"/>
            <a:ext cx="1592132" cy="3383280"/>
          </a:xfrm>
          <a:prstGeom prst="rect">
            <a:avLst/>
          </a:prstGeom>
        </p:spPr>
      </p:pic>
      <p:sp>
        <p:nvSpPr>
          <p:cNvPr id="5" name="Shot caption 1"/>
          <p:cNvSpPr txBox="1"/>
          <p:nvPr/>
        </p:nvSpPr>
        <p:spPr>
          <a:xfrm>
            <a:off x="496492" y="5029200"/>
            <a:ext cx="18664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1  Login with email OTP</a:t>
            </a:r>
            <a:endParaRPr lang="en-US" sz="1200" dirty="0"/>
          </a:p>
        </p:txBody>
      </p:sp>
      <p:pic>
        <p:nvPicPr>
          <p:cNvPr id="6" name="Phone reg1" descr="App screenshot: reg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0104" y="1554480"/>
            <a:ext cx="1592132" cy="3383280"/>
          </a:xfrm>
          <a:prstGeom prst="rect">
            <a:avLst/>
          </a:prstGeom>
        </p:spPr>
      </p:pic>
      <p:sp>
        <p:nvSpPr>
          <p:cNvPr id="7" name="Shot caption 2"/>
          <p:cNvSpPr txBox="1"/>
          <p:nvPr/>
        </p:nvSpPr>
        <p:spPr>
          <a:xfrm>
            <a:off x="2362944" y="5029200"/>
            <a:ext cx="18664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2  User registration</a:t>
            </a:r>
            <a:endParaRPr lang="en-US" sz="1200" dirty="0"/>
          </a:p>
        </p:txBody>
      </p:sp>
      <p:pic>
        <p:nvPicPr>
          <p:cNvPr id="8" name="Phone hub" descr="App screenshot: hub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6556" y="1554480"/>
            <a:ext cx="1592132" cy="3383280"/>
          </a:xfrm>
          <a:prstGeom prst="rect">
            <a:avLst/>
          </a:prstGeom>
        </p:spPr>
      </p:pic>
      <p:sp>
        <p:nvSpPr>
          <p:cNvPr id="9" name="Shot caption 3"/>
          <p:cNvSpPr txBox="1"/>
          <p:nvPr/>
        </p:nvSpPr>
        <p:spPr>
          <a:xfrm>
            <a:off x="4229396" y="5029200"/>
            <a:ext cx="18664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3  Campaign listing</a:t>
            </a:r>
            <a:endParaRPr lang="en-US" sz="1200" dirty="0"/>
          </a:p>
        </p:txBody>
      </p:sp>
      <p:pic>
        <p:nvPicPr>
          <p:cNvPr id="10" name="Phone eventreg" descr="App screenshot: eventr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3008" y="1554480"/>
            <a:ext cx="1592132" cy="3383280"/>
          </a:xfrm>
          <a:prstGeom prst="rect">
            <a:avLst/>
          </a:prstGeom>
        </p:spPr>
      </p:pic>
      <p:sp>
        <p:nvSpPr>
          <p:cNvPr id="11" name="Shot caption 4"/>
          <p:cNvSpPr txBox="1"/>
          <p:nvPr/>
        </p:nvSpPr>
        <p:spPr>
          <a:xfrm>
            <a:off x="6095848" y="5029200"/>
            <a:ext cx="18664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4  Event registration</a:t>
            </a:r>
            <a:endParaRPr lang="en-US" sz="1200" dirty="0"/>
          </a:p>
        </p:txBody>
      </p:sp>
      <p:pic>
        <p:nvPicPr>
          <p:cNvPr id="12" name="Phone success" descr="App screenshot: succes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9459" y="1554480"/>
            <a:ext cx="1592132" cy="3383280"/>
          </a:xfrm>
          <a:prstGeom prst="rect">
            <a:avLst/>
          </a:prstGeom>
        </p:spPr>
      </p:pic>
      <p:sp>
        <p:nvSpPr>
          <p:cNvPr id="13" name="Shot caption 5"/>
          <p:cNvSpPr txBox="1"/>
          <p:nvPr/>
        </p:nvSpPr>
        <p:spPr>
          <a:xfrm>
            <a:off x="7962299" y="5029200"/>
            <a:ext cx="18664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5  Registration ID issued</a:t>
            </a:r>
            <a:endParaRPr lang="en-US" sz="1200" dirty="0"/>
          </a:p>
        </p:txBody>
      </p:sp>
      <p:pic>
        <p:nvPicPr>
          <p:cNvPr id="14" name="Phone admin" descr="App screenshot: admi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5911" y="1554480"/>
            <a:ext cx="1592132" cy="3383280"/>
          </a:xfrm>
          <a:prstGeom prst="rect">
            <a:avLst/>
          </a:prstGeom>
        </p:spPr>
      </p:pic>
      <p:sp>
        <p:nvSpPr>
          <p:cNvPr id="15" name="Shot caption 6"/>
          <p:cNvSpPr txBox="1"/>
          <p:nvPr/>
        </p:nvSpPr>
        <p:spPr>
          <a:xfrm>
            <a:off x="9828751" y="5029200"/>
            <a:ext cx="18664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6  Admin: manage entries</a:t>
            </a:r>
            <a:endParaRPr lang="en-US" sz="1200" dirty="0"/>
          </a:p>
        </p:txBody>
      </p:sp>
      <p:sp>
        <p:nvSpPr>
          <p:cNvPr id="16" name="Verified bar"/>
          <p:cNvSpPr/>
          <p:nvPr/>
        </p:nvSpPr>
        <p:spPr>
          <a:xfrm>
            <a:off x="548640" y="5577840"/>
            <a:ext cx="11091672" cy="73152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Verified text"/>
          <p:cNvSpPr txBox="1"/>
          <p:nvPr/>
        </p:nvSpPr>
        <p:spPr>
          <a:xfrm>
            <a:off x="777240" y="5605272"/>
            <a:ext cx="10652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Verified end to end:  </a:t>
            </a:r>
            <a:r>
              <a:rPr lang="en-US" sz="1400" dirty="0">
                <a:solidFill>
                  <a:schemeClr val="bg1"/>
                </a:solidFill>
              </a:rPr>
              <a:t>registration REG-2026-29580 was created in the user app and appeared in the admin console with status 'Registered'.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01A28-CAC6-3D39-ADCD-106D42A2CA35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US" dirty="0"/>
              <a:t>Sample Video Demonstration</a:t>
            </a:r>
            <a:br>
              <a:rPr lang="en-US" dirty="0"/>
            </a:br>
            <a:endParaRPr lang="en-US" dirty="0"/>
          </a:p>
        </p:txBody>
      </p:sp>
      <p:pic>
        <p:nvPicPr>
          <p:cNvPr id="3" name="Screen_recording_20261016_084139">
            <a:hlinkClick r:id="" action="ppaction://media"/>
            <a:extLst>
              <a:ext uri="{FF2B5EF4-FFF2-40B4-BE49-F238E27FC236}">
                <a16:creationId xmlns:a16="http://schemas.microsoft.com/office/drawing/2014/main" id="{402C82F5-D446-7415-F33C-E32EBB5A7D3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002684" y="640080"/>
            <a:ext cx="4079011" cy="621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603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342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IMPACT, FUTURE SCOPE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Building Better-Connected Communities</a:t>
            </a:r>
            <a:endParaRPr lang="en-US" sz="3400" dirty="0"/>
          </a:p>
        </p:txBody>
      </p:sp>
      <p:sp>
        <p:nvSpPr>
          <p:cNvPr id="4" name="Impact heading"/>
          <p:cNvSpPr txBox="1"/>
          <p:nvPr/>
        </p:nvSpPr>
        <p:spPr>
          <a:xfrm>
            <a:off x="548640" y="1600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Expected impact</a:t>
            </a:r>
            <a:endParaRPr lang="en-US" sz="2000" dirty="0"/>
          </a:p>
        </p:txBody>
      </p:sp>
      <p:sp>
        <p:nvSpPr>
          <p:cNvPr id="5" name="Icon circle"/>
          <p:cNvSpPr/>
          <p:nvPr/>
        </p:nvSpPr>
        <p:spPr>
          <a:xfrm>
            <a:off x="548640" y="20574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FaSitemap" descr="FaSitema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28" y="2193188"/>
            <a:ext cx="231343" cy="231343"/>
          </a:xfrm>
          <a:prstGeom prst="rect">
            <a:avLst/>
          </a:prstGeom>
        </p:spPr>
      </p:pic>
      <p:sp>
        <p:nvSpPr>
          <p:cNvPr id="7" name="Impact text 1"/>
          <p:cNvSpPr txBox="1"/>
          <p:nvPr/>
        </p:nvSpPr>
        <p:spPr>
          <a:xfrm>
            <a:off x="1188720" y="1984248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Organised information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Members, families and events in one searchable place</a:t>
            </a:r>
            <a:endParaRPr lang="en-US" sz="1600" dirty="0"/>
          </a:p>
        </p:txBody>
      </p:sp>
      <p:sp>
        <p:nvSpPr>
          <p:cNvPr id="8" name="Icon circle"/>
          <p:cNvSpPr/>
          <p:nvPr/>
        </p:nvSpPr>
        <p:spPr>
          <a:xfrm>
            <a:off x="548640" y="308152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con FaHandshake" descr="FaHandshak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428" y="3217316"/>
            <a:ext cx="231343" cy="231343"/>
          </a:xfrm>
          <a:prstGeom prst="rect">
            <a:avLst/>
          </a:prstGeom>
        </p:spPr>
      </p:pic>
      <p:sp>
        <p:nvSpPr>
          <p:cNvPr id="10" name="Impact text 2"/>
          <p:cNvSpPr txBox="1"/>
          <p:nvPr/>
        </p:nvSpPr>
        <p:spPr>
          <a:xfrm>
            <a:off x="1188720" y="3008376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Easier participation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Register for events in a few taps and get a unique ID</a:t>
            </a:r>
            <a:endParaRPr lang="en-US" sz="1600" dirty="0"/>
          </a:p>
        </p:txBody>
      </p:sp>
      <p:sp>
        <p:nvSpPr>
          <p:cNvPr id="11" name="Icon circle"/>
          <p:cNvSpPr/>
          <p:nvPr/>
        </p:nvSpPr>
        <p:spPr>
          <a:xfrm>
            <a:off x="548640" y="4105656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 FaFolderOpen" descr="FaFolderOpe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428" y="4241444"/>
            <a:ext cx="231343" cy="231343"/>
          </a:xfrm>
          <a:prstGeom prst="rect">
            <a:avLst/>
          </a:prstGeom>
        </p:spPr>
      </p:pic>
      <p:sp>
        <p:nvSpPr>
          <p:cNvPr id="13" name="Impact text 3"/>
          <p:cNvSpPr txBox="1"/>
          <p:nvPr/>
        </p:nvSpPr>
        <p:spPr>
          <a:xfrm>
            <a:off x="1188720" y="4032504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Better record management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Accurate, up-to-date records the admin can review</a:t>
            </a:r>
            <a:endParaRPr lang="en-US" sz="1600" dirty="0"/>
          </a:p>
        </p:txBody>
      </p:sp>
      <p:sp>
        <p:nvSpPr>
          <p:cNvPr id="14" name="Future heading"/>
          <p:cNvSpPr txBox="1"/>
          <p:nvPr/>
        </p:nvSpPr>
        <p:spPr>
          <a:xfrm>
            <a:off x="475488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Future scope (planned)</a:t>
            </a:r>
            <a:endParaRPr lang="en-US" sz="2000" dirty="0"/>
          </a:p>
        </p:txBody>
      </p:sp>
      <p:sp>
        <p:nvSpPr>
          <p:cNvPr id="15" name="Icon circle"/>
          <p:cNvSpPr/>
          <p:nvPr/>
        </p:nvSpPr>
        <p:spPr>
          <a:xfrm>
            <a:off x="4754880" y="205740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6" name="Icon FaBell" descr="FaBel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8324" y="2180844"/>
            <a:ext cx="210312" cy="210312"/>
          </a:xfrm>
          <a:prstGeom prst="rect">
            <a:avLst/>
          </a:prstGeom>
        </p:spPr>
      </p:pic>
      <p:sp>
        <p:nvSpPr>
          <p:cNvPr id="17" name="Future text 1"/>
          <p:cNvSpPr txBox="1"/>
          <p:nvPr/>
        </p:nvSpPr>
        <p:spPr>
          <a:xfrm>
            <a:off x="5394960" y="194767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Push notifications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Instant alerts for events, news and wishes</a:t>
            </a:r>
            <a:endParaRPr lang="en-US" sz="1600" dirty="0"/>
          </a:p>
        </p:txBody>
      </p:sp>
      <p:sp>
        <p:nvSpPr>
          <p:cNvPr id="18" name="Icon circle"/>
          <p:cNvSpPr/>
          <p:nvPr/>
        </p:nvSpPr>
        <p:spPr>
          <a:xfrm>
            <a:off x="4754880" y="2843784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9" name="Icon FaRupeeSign" descr="FaRupeeSig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8324" y="2967228"/>
            <a:ext cx="210312" cy="210312"/>
          </a:xfrm>
          <a:prstGeom prst="rect">
            <a:avLst/>
          </a:prstGeom>
        </p:spPr>
      </p:pic>
      <p:sp>
        <p:nvSpPr>
          <p:cNvPr id="20" name="Future text 2"/>
          <p:cNvSpPr txBox="1"/>
          <p:nvPr/>
        </p:nvSpPr>
        <p:spPr>
          <a:xfrm>
            <a:off x="5394960" y="2734056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Online maintenance payments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Pay dues and donations inside the app</a:t>
            </a:r>
            <a:endParaRPr lang="en-US" sz="1600" dirty="0"/>
          </a:p>
        </p:txBody>
      </p:sp>
      <p:sp>
        <p:nvSpPr>
          <p:cNvPr id="21" name="Icon circle"/>
          <p:cNvSpPr/>
          <p:nvPr/>
        </p:nvSpPr>
        <p:spPr>
          <a:xfrm>
            <a:off x="4754880" y="3630168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2" name="Icon FaExclamationCircle" descr="FaExclamationCirc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8324" y="3753612"/>
            <a:ext cx="210312" cy="210312"/>
          </a:xfrm>
          <a:prstGeom prst="rect">
            <a:avLst/>
          </a:prstGeom>
        </p:spPr>
      </p:pic>
      <p:sp>
        <p:nvSpPr>
          <p:cNvPr id="23" name="Future text 3"/>
          <p:cNvSpPr txBox="1"/>
          <p:nvPr/>
        </p:nvSpPr>
        <p:spPr>
          <a:xfrm>
            <a:off x="5394960" y="35204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Complaint tracking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Raise issues and follow them to resolution</a:t>
            </a:r>
            <a:endParaRPr lang="en-US" sz="1600" dirty="0"/>
          </a:p>
        </p:txBody>
      </p:sp>
      <p:sp>
        <p:nvSpPr>
          <p:cNvPr id="24" name="Icon circle"/>
          <p:cNvSpPr/>
          <p:nvPr/>
        </p:nvSpPr>
        <p:spPr>
          <a:xfrm>
            <a:off x="4754880" y="4416552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5" name="Icon FaChartLine" descr="FaChartLin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8324" y="4539996"/>
            <a:ext cx="210312" cy="210312"/>
          </a:xfrm>
          <a:prstGeom prst="rect">
            <a:avLst/>
          </a:prstGeom>
        </p:spPr>
      </p:pic>
      <p:sp>
        <p:nvSpPr>
          <p:cNvPr id="26" name="Future text 4"/>
          <p:cNvSpPr txBox="1"/>
          <p:nvPr/>
        </p:nvSpPr>
        <p:spPr>
          <a:xfrm>
            <a:off x="5394960" y="4306824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Admin analytics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Dashboards on members, events and turnout</a:t>
            </a:r>
            <a:endParaRPr lang="en-US" sz="1600" dirty="0"/>
          </a:p>
        </p:txBody>
      </p:sp>
      <p:pic>
        <p:nvPicPr>
          <p:cNvPr id="27" name="Phone directory" descr="App screenshot: directory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58200" y="1600200"/>
            <a:ext cx="1592132" cy="3383280"/>
          </a:xfrm>
          <a:prstGeom prst="rect">
            <a:avLst/>
          </a:prstGeom>
        </p:spPr>
      </p:pic>
      <p:pic>
        <p:nvPicPr>
          <p:cNvPr id="28" name="Phone tree" descr="App screenshot: tre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04120" y="1600200"/>
            <a:ext cx="1592132" cy="3383280"/>
          </a:xfrm>
          <a:prstGeom prst="rect">
            <a:avLst/>
          </a:prstGeom>
        </p:spPr>
      </p:pic>
      <p:sp>
        <p:nvSpPr>
          <p:cNvPr id="29" name="Caption"/>
          <p:cNvSpPr txBox="1"/>
          <p:nvPr/>
        </p:nvSpPr>
        <p:spPr>
          <a:xfrm>
            <a:off x="8458200" y="502920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Member directory</a:t>
            </a:r>
            <a:endParaRPr lang="en-US" sz="1200" dirty="0"/>
          </a:p>
        </p:txBody>
      </p:sp>
      <p:sp>
        <p:nvSpPr>
          <p:cNvPr id="30" name="Caption"/>
          <p:cNvSpPr txBox="1"/>
          <p:nvPr/>
        </p:nvSpPr>
        <p:spPr>
          <a:xfrm>
            <a:off x="10104120" y="502920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Family tree</a:t>
            </a:r>
            <a:endParaRPr lang="en-US" sz="1200" dirty="0"/>
          </a:p>
        </p:txBody>
      </p:sp>
      <p:sp>
        <p:nvSpPr>
          <p:cNvPr id="31" name="Thank you banner"/>
          <p:cNvSpPr/>
          <p:nvPr/>
        </p:nvSpPr>
        <p:spPr>
          <a:xfrm>
            <a:off x="548640" y="5440680"/>
            <a:ext cx="7863840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hank you text"/>
          <p:cNvSpPr txBox="1"/>
          <p:nvPr/>
        </p:nvSpPr>
        <p:spPr>
          <a:xfrm>
            <a:off x="548640" y="544068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|  Questions?</a:t>
            </a:r>
            <a:endParaRPr lang="en-US" sz="32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utumbSetu">
  <a:themeElements>
    <a:clrScheme name="KutumbSetu">
      <a:dk1>
        <a:srgbClr val="1F2A37"/>
      </a:dk1>
      <a:lt1>
        <a:srgbClr val="FFFFFF"/>
      </a:lt1>
      <a:dk2>
        <a:srgbClr val="154360"/>
      </a:dk2>
      <a:lt2>
        <a:srgbClr val="F1F4F7"/>
      </a:lt2>
      <a:accent1>
        <a:srgbClr val="E67E22"/>
      </a:accent1>
      <a:accent2>
        <a:srgbClr val="154360"/>
      </a:accent2>
      <a:accent3>
        <a:srgbClr val="2E8B57"/>
      </a:accent3>
      <a:accent4>
        <a:srgbClr val="C0392B"/>
      </a:accent4>
      <a:accent5>
        <a:srgbClr val="2980B9"/>
      </a:accent5>
      <a:accent6>
        <a:srgbClr val="7D5A7C"/>
      </a:accent6>
      <a:hlink>
        <a:srgbClr val="2980B9"/>
      </a:hlink>
      <a:folHlink>
        <a:srgbClr val="7D5A7C"/>
      </a:folHlink>
    </a:clrScheme>
    <a:fontScheme name="KutumbSetu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720</Words>
  <Application>Microsoft Office PowerPoint</Application>
  <PresentationFormat>Widescreen</PresentationFormat>
  <Paragraphs>156</Paragraphs>
  <Slides>10</Slides>
  <Notes>8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KutumbSetu</vt:lpstr>
      <vt:lpstr>PowerPoint Presentation</vt:lpstr>
      <vt:lpstr>The Challenges of Community Management</vt:lpstr>
      <vt:lpstr>Introducing KutumbSetu</vt:lpstr>
      <vt:lpstr>Core Features and Functionalities</vt:lpstr>
      <vt:lpstr>How KutumbSetu Works</vt:lpstr>
      <vt:lpstr>Technologies and Tools Used</vt:lpstr>
      <vt:lpstr>How a sample user interacts with the Application</vt:lpstr>
      <vt:lpstr>Working Prototype and Demonstration</vt:lpstr>
      <vt:lpstr>Sample Video Demonstration </vt:lpstr>
      <vt:lpstr>Building Better-Connected Communities</vt:lpstr>
    </vt:vector>
  </TitlesOfParts>
  <Company>SVKM's Shri Bhagubhai Mafatlal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KutumbSetu - A Smart Community Management System</dc:title>
  <dc:subject>PptxGenJS Presentation</dc:subject>
  <dc:creator>KutumbSetu Project Team</dc:creator>
  <cp:lastModifiedBy>Rishik Jariwala</cp:lastModifiedBy>
  <cp:revision>4</cp:revision>
  <dcterms:created xsi:type="dcterms:W3CDTF">2026-10-15T11:49:38Z</dcterms:created>
  <dcterms:modified xsi:type="dcterms:W3CDTF">2026-10-16T15:57:20Z</dcterms:modified>
</cp:coreProperties>
</file>